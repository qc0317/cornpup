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3"/>
    <p:sldId id="276" r:id="rId4"/>
    <p:sldId id="290" r:id="rId5"/>
    <p:sldId id="291" r:id="rId6"/>
    <p:sldId id="292" r:id="rId7"/>
    <p:sldId id="275" r:id="rId8"/>
    <p:sldId id="277" r:id="rId9"/>
    <p:sldId id="282" r:id="rId10"/>
    <p:sldId id="268" r:id="rId11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6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78105"/>
            <a:ext cx="9422765" cy="53003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454912" y="235572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竖式计算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设置域宽</a:t>
            </a:r>
            <a:r>
              <a:rPr lang="en-US" altLang="zh-CN" sz="40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setw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3204" y="654112"/>
            <a:ext cx="8229600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竖式计算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设置域宽</a:t>
            </a:r>
            <a:r>
              <a:rPr lang="en-US" altLang="zh-CN" sz="2400" dirty="0" err="1">
                <a:solidFill>
                  <a:srgbClr val="00B0F0"/>
                </a:solidFill>
              </a:rPr>
              <a:t>setw</a:t>
            </a:r>
            <a:r>
              <a:rPr lang="en-US" altLang="zh-CN" sz="2400" dirty="0">
                <a:solidFill>
                  <a:srgbClr val="00B0F0"/>
                </a:solidFill>
              </a:rPr>
              <a:t>()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13" name="矩形: 圆角 4"/>
          <p:cNvSpPr>
            <a:spLocks noChangeArrowheads="1"/>
          </p:cNvSpPr>
          <p:nvPr/>
        </p:nvSpPr>
        <p:spPr bwMode="auto">
          <a:xfrm>
            <a:off x="2524392" y="1995686"/>
            <a:ext cx="4392488" cy="2022326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数学老师请你帮忙，在屏幕上</a:t>
            </a:r>
            <a:r>
              <a:rPr lang="zh-CN" altLang="en-US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输出</a:t>
            </a:r>
            <a:r>
              <a:rPr lang="en-US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18+870</a:t>
            </a: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的竖式，试编一程序，实现这个功能。</a:t>
            </a:r>
            <a:endParaRPr lang="zh-CN" sz="2800" kern="10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 algn="just">
              <a:spcAft>
                <a:spcPts val="0"/>
              </a:spcAft>
            </a:pPr>
            <a:r>
              <a:rPr lang="en-US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 </a:t>
            </a:r>
            <a:endParaRPr lang="zh-CN" sz="2800" kern="10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云形标注 4"/>
          <p:cNvSpPr/>
          <p:nvPr/>
        </p:nvSpPr>
        <p:spPr>
          <a:xfrm>
            <a:off x="7101520" y="1645512"/>
            <a:ext cx="504056" cy="504056"/>
          </a:xfrm>
          <a:prstGeom prst="cloudCallout">
            <a:avLst>
              <a:gd name="adj1" fmla="val 87340"/>
              <a:gd name="adj2" fmla="val 174201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?</a:t>
            </a:r>
            <a:endParaRPr lang="zh-CN" altLang="en-US" dirty="0"/>
          </a:p>
        </p:txBody>
      </p:sp>
      <p:pic>
        <p:nvPicPr>
          <p:cNvPr id="3" name="图片 2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385" y="2573655"/>
            <a:ext cx="1806575" cy="1814195"/>
          </a:xfrm>
          <a:prstGeom prst="rect">
            <a:avLst/>
          </a:prstGeom>
        </p:spPr>
      </p:pic>
      <p:pic>
        <p:nvPicPr>
          <p:cNvPr id="6" name="图片 5" descr="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155" y="2647950"/>
            <a:ext cx="1513840" cy="2141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矩形 2"/>
          <p:cNvSpPr/>
          <p:nvPr/>
        </p:nvSpPr>
        <p:spPr>
          <a:xfrm>
            <a:off x="467544" y="887890"/>
            <a:ext cx="4572000" cy="38472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 dirty="0"/>
              <a:t>#include&lt;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</a:t>
            </a:r>
            <a:endParaRPr lang="en-US" altLang="zh-CN" sz="1600" dirty="0"/>
          </a:p>
          <a:p>
            <a:r>
              <a:rPr lang="en-US" altLang="zh-CN" sz="1600" dirty="0"/>
              <a:t>#include&lt;</a:t>
            </a:r>
            <a:r>
              <a:rPr lang="en-US" altLang="zh-CN" sz="1600" dirty="0" err="1"/>
              <a:t>iomanip</a:t>
            </a:r>
            <a:r>
              <a:rPr lang="en-US" altLang="zh-CN" sz="1600" dirty="0"/>
              <a:t>&gt;  //</a:t>
            </a:r>
            <a:r>
              <a:rPr lang="zh-CN" altLang="en-US" sz="1600" dirty="0"/>
              <a:t>为了使用</a:t>
            </a:r>
            <a:r>
              <a:rPr lang="en-US" altLang="zh-CN" sz="1600" dirty="0" err="1"/>
              <a:t>setw</a:t>
            </a:r>
            <a:r>
              <a:rPr lang="en-US" altLang="zh-CN" sz="1600" dirty="0"/>
              <a:t>()</a:t>
            </a:r>
            <a:r>
              <a:rPr lang="zh-CN" altLang="en-US" sz="1600" dirty="0"/>
              <a:t>来设置域宽</a:t>
            </a:r>
            <a:endParaRPr lang="zh-CN" altLang="en-US" sz="1600" dirty="0"/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 main()</a:t>
            </a:r>
            <a:endParaRPr lang="en-US" altLang="zh-CN" sz="1600" dirty="0"/>
          </a:p>
          <a:p>
            <a:r>
              <a:rPr lang="en-US" altLang="zh-CN" sz="1600" dirty="0"/>
              <a:t>{</a:t>
            </a:r>
            <a:endParaRPr lang="en-US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 </a:t>
            </a:r>
            <a:r>
              <a:rPr lang="en-US" altLang="zh-CN" sz="1600" dirty="0" err="1"/>
              <a:t>a,b,s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a=18;</a:t>
            </a:r>
            <a:endParaRPr lang="en-US" altLang="zh-CN" sz="1600" dirty="0"/>
          </a:p>
          <a:p>
            <a:r>
              <a:rPr lang="en-US" altLang="zh-CN" sz="1600" dirty="0"/>
              <a:t>  b=870;</a:t>
            </a:r>
            <a:endParaRPr lang="en-US" altLang="zh-CN" sz="1600" dirty="0"/>
          </a:p>
          <a:p>
            <a:r>
              <a:rPr lang="en-US" altLang="zh-CN" sz="1600" dirty="0"/>
              <a:t>  s=</a:t>
            </a:r>
            <a:r>
              <a:rPr lang="en-US" altLang="zh-CN" sz="1600" dirty="0" err="1"/>
              <a:t>a+b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</a:t>
            </a:r>
            <a:r>
              <a:rPr lang="en-US" altLang="zh-CN" sz="1600" dirty="0" err="1"/>
              <a:t>setw</a:t>
            </a:r>
            <a:r>
              <a:rPr lang="en-US" altLang="zh-CN" sz="1600" dirty="0"/>
              <a:t>(10)&lt;&lt;a&lt;&lt;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  </a:t>
            </a:r>
            <a:endParaRPr lang="en-US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</a:t>
            </a:r>
            <a:r>
              <a:rPr lang="en-US" altLang="zh-CN" sz="1600" dirty="0" err="1"/>
              <a:t>setw</a:t>
            </a:r>
            <a:r>
              <a:rPr lang="en-US" altLang="zh-CN" sz="1600" dirty="0"/>
              <a:t>(4)&lt;&lt;'+'&lt;&lt;</a:t>
            </a:r>
            <a:r>
              <a:rPr lang="en-US" altLang="zh-CN" sz="1600" dirty="0" err="1"/>
              <a:t>setw</a:t>
            </a:r>
            <a:r>
              <a:rPr lang="en-US" altLang="zh-CN" sz="1600" dirty="0"/>
              <a:t>(6)&lt;&lt;b&lt;&lt;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 </a:t>
            </a:r>
            <a:endParaRPr lang="en-US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 -----------"&lt;&lt;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</a:t>
            </a:r>
            <a:r>
              <a:rPr lang="en-US" altLang="zh-CN" sz="1600" dirty="0" err="1"/>
              <a:t>setw</a:t>
            </a:r>
            <a:r>
              <a:rPr lang="en-US" altLang="zh-CN" sz="1600" dirty="0"/>
              <a:t>(10)&lt;&lt;s&lt;&lt;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 </a:t>
            </a:r>
            <a:endParaRPr lang="en-US" altLang="zh-CN" sz="1600" dirty="0"/>
          </a:p>
          <a:p>
            <a:r>
              <a:rPr lang="en-US" altLang="zh-CN" sz="1600" dirty="0"/>
              <a:t>  return 0;</a:t>
            </a:r>
            <a:endParaRPr lang="en-US" altLang="zh-CN" sz="1600" dirty="0"/>
          </a:p>
          <a:p>
            <a:r>
              <a:rPr lang="en-US" altLang="zh-CN" sz="1600" dirty="0"/>
              <a:t> } </a:t>
            </a:r>
            <a:endParaRPr lang="en-US" altLang="zh-CN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4788024" y="2137897"/>
            <a:ext cx="133882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运行结果：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    18</a:t>
            </a:r>
            <a:endParaRPr lang="en-US" altLang="zh-CN" dirty="0"/>
          </a:p>
          <a:p>
            <a:r>
              <a:rPr lang="en-US" altLang="zh-CN" dirty="0"/>
              <a:t>   +     870</a:t>
            </a:r>
            <a:endParaRPr lang="en-US" altLang="zh-CN" dirty="0"/>
          </a:p>
          <a:p>
            <a:r>
              <a:rPr lang="en-US" altLang="zh-CN" dirty="0"/>
              <a:t>---------------</a:t>
            </a:r>
            <a:endParaRPr lang="en-US" altLang="zh-CN" dirty="0"/>
          </a:p>
          <a:p>
            <a:r>
              <a:rPr lang="en-US" altLang="zh-CN" dirty="0"/>
              <a:t>           880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3780" y="2040513"/>
            <a:ext cx="2491956" cy="26062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矩形 2"/>
          <p:cNvSpPr/>
          <p:nvPr/>
        </p:nvSpPr>
        <p:spPr>
          <a:xfrm>
            <a:off x="466391" y="1072264"/>
            <a:ext cx="399854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 </a:t>
            </a:r>
            <a:r>
              <a:rPr lang="en-US" altLang="zh-CN" sz="1600" dirty="0" err="1"/>
              <a:t>a,b,s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a=18;</a:t>
            </a:r>
            <a:endParaRPr lang="en-US" altLang="zh-CN" sz="1600" dirty="0"/>
          </a:p>
          <a:p>
            <a:r>
              <a:rPr lang="en-US" altLang="zh-CN" sz="1600" dirty="0"/>
              <a:t>  b=870;</a:t>
            </a:r>
            <a:endParaRPr lang="en-US" altLang="zh-CN" sz="1600" dirty="0"/>
          </a:p>
          <a:p>
            <a:r>
              <a:rPr lang="en-US" altLang="zh-CN" sz="1600" dirty="0"/>
              <a:t>  s=</a:t>
            </a:r>
            <a:r>
              <a:rPr lang="en-US" altLang="zh-CN" sz="1600" dirty="0" err="1"/>
              <a:t>a+b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</a:t>
            </a:r>
            <a:r>
              <a:rPr lang="en-US" altLang="zh-CN" sz="1600" dirty="0" err="1"/>
              <a:t>setw</a:t>
            </a:r>
            <a:r>
              <a:rPr lang="en-US" altLang="zh-CN" sz="1600" dirty="0"/>
              <a:t>(10)&lt;&lt;a&lt;&lt;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  </a:t>
            </a:r>
            <a:endParaRPr lang="en-US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</a:t>
            </a:r>
            <a:r>
              <a:rPr lang="en-US" altLang="zh-CN" sz="1600" dirty="0" err="1"/>
              <a:t>setw</a:t>
            </a:r>
            <a:r>
              <a:rPr lang="en-US" altLang="zh-CN" sz="1600" dirty="0"/>
              <a:t>(4)&lt;&lt;'+'&lt;&lt;</a:t>
            </a:r>
            <a:r>
              <a:rPr lang="en-US" altLang="zh-CN" sz="1600" dirty="0" err="1"/>
              <a:t>setw</a:t>
            </a:r>
            <a:r>
              <a:rPr lang="en-US" altLang="zh-CN" sz="1600" dirty="0"/>
              <a:t>(6)&lt;&lt;b&lt;&lt;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 </a:t>
            </a:r>
            <a:endParaRPr lang="en-US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 -----------"&lt;&lt;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</a:t>
            </a:r>
            <a:r>
              <a:rPr lang="en-US" altLang="zh-CN" sz="1600" dirty="0" err="1"/>
              <a:t>setw</a:t>
            </a:r>
            <a:r>
              <a:rPr lang="en-US" altLang="zh-CN" sz="1600" dirty="0"/>
              <a:t>(10)&lt;&lt;s&lt;&lt;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 </a:t>
            </a:r>
            <a:endParaRPr lang="en-US" altLang="zh-CN" sz="1600" dirty="0"/>
          </a:p>
        </p:txBody>
      </p:sp>
      <p:grpSp>
        <p:nvGrpSpPr>
          <p:cNvPr id="4" name="组合 3"/>
          <p:cNvGrpSpPr/>
          <p:nvPr/>
        </p:nvGrpSpPr>
        <p:grpSpPr>
          <a:xfrm>
            <a:off x="4992765" y="1709029"/>
            <a:ext cx="3473646" cy="2684181"/>
            <a:chOff x="1052736" y="2411760"/>
            <a:chExt cx="4752528" cy="3672408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4907714" y="4214202"/>
              <a:ext cx="403875" cy="3579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—</a:t>
              </a:r>
              <a:endParaRPr kumimoji="0" lang="en-US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4177882" y="2411760"/>
              <a:ext cx="0" cy="367240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4566725" y="2411760"/>
              <a:ext cx="0" cy="367240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4955568" y="2411760"/>
              <a:ext cx="0" cy="367240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344411" y="2411760"/>
              <a:ext cx="0" cy="367240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3"/>
            <p:cNvSpPr>
              <a:spLocks noChangeArrowheads="1"/>
            </p:cNvSpPr>
            <p:nvPr/>
          </p:nvSpPr>
          <p:spPr bwMode="auto">
            <a:xfrm>
              <a:off x="1052736" y="5709251"/>
              <a:ext cx="332655" cy="347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05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1</a:t>
              </a:r>
              <a:endParaRPr kumimoji="0" lang="en-US" altLang="zh-CN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5733256" y="2411760"/>
              <a:ext cx="0" cy="367240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3789039" y="2411760"/>
              <a:ext cx="0" cy="367240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3400196" y="2411760"/>
              <a:ext cx="0" cy="367240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3011353" y="2411760"/>
              <a:ext cx="0" cy="367240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2622510" y="2411760"/>
              <a:ext cx="0" cy="367240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2233667" y="2411760"/>
              <a:ext cx="0" cy="367240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1844824" y="2411760"/>
              <a:ext cx="0" cy="367240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3"/>
            <p:cNvSpPr>
              <a:spLocks noChangeArrowheads="1"/>
            </p:cNvSpPr>
            <p:nvPr/>
          </p:nvSpPr>
          <p:spPr bwMode="auto">
            <a:xfrm>
              <a:off x="1441579" y="5709251"/>
              <a:ext cx="332655" cy="347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05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2</a:t>
              </a:r>
              <a:endParaRPr kumimoji="0" lang="en-US" altLang="zh-CN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0" name="Rectangle 3"/>
            <p:cNvSpPr>
              <a:spLocks noChangeArrowheads="1"/>
            </p:cNvSpPr>
            <p:nvPr/>
          </p:nvSpPr>
          <p:spPr bwMode="auto">
            <a:xfrm>
              <a:off x="1823221" y="5709251"/>
              <a:ext cx="332655" cy="347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05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3</a:t>
              </a:r>
              <a:endParaRPr kumimoji="0" lang="en-US" altLang="zh-CN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1" name="Rectangle 3"/>
            <p:cNvSpPr>
              <a:spLocks noChangeArrowheads="1"/>
            </p:cNvSpPr>
            <p:nvPr/>
          </p:nvSpPr>
          <p:spPr bwMode="auto">
            <a:xfrm>
              <a:off x="2262322" y="5709251"/>
              <a:ext cx="332655" cy="347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05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4</a:t>
              </a:r>
              <a:endParaRPr kumimoji="0" lang="en-US" altLang="zh-CN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2" name="Rectangle 3"/>
            <p:cNvSpPr>
              <a:spLocks noChangeArrowheads="1"/>
            </p:cNvSpPr>
            <p:nvPr/>
          </p:nvSpPr>
          <p:spPr bwMode="auto">
            <a:xfrm>
              <a:off x="2666555" y="5709251"/>
              <a:ext cx="332655" cy="347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05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5</a:t>
              </a:r>
              <a:endParaRPr kumimoji="0" lang="en-US" altLang="zh-CN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3" name="Rectangle 3"/>
            <p:cNvSpPr>
              <a:spLocks noChangeArrowheads="1"/>
            </p:cNvSpPr>
            <p:nvPr/>
          </p:nvSpPr>
          <p:spPr bwMode="auto">
            <a:xfrm>
              <a:off x="3069361" y="5709251"/>
              <a:ext cx="332655" cy="347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05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6</a:t>
              </a:r>
              <a:endParaRPr kumimoji="0" lang="en-US" altLang="zh-CN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4" name="Rectangle 3"/>
            <p:cNvSpPr>
              <a:spLocks noChangeArrowheads="1"/>
            </p:cNvSpPr>
            <p:nvPr/>
          </p:nvSpPr>
          <p:spPr bwMode="auto">
            <a:xfrm>
              <a:off x="3369575" y="5709251"/>
              <a:ext cx="332655" cy="347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05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7</a:t>
              </a:r>
              <a:endParaRPr kumimoji="0" lang="en-US" altLang="zh-CN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5" name="Rectangle 3"/>
            <p:cNvSpPr>
              <a:spLocks noChangeArrowheads="1"/>
            </p:cNvSpPr>
            <p:nvPr/>
          </p:nvSpPr>
          <p:spPr bwMode="auto">
            <a:xfrm>
              <a:off x="3816864" y="5709251"/>
              <a:ext cx="332655" cy="347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05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8</a:t>
              </a:r>
              <a:endParaRPr kumimoji="0" lang="en-US" altLang="zh-CN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6" name="Rectangle 3"/>
            <p:cNvSpPr>
              <a:spLocks noChangeArrowheads="1"/>
            </p:cNvSpPr>
            <p:nvPr/>
          </p:nvSpPr>
          <p:spPr bwMode="auto">
            <a:xfrm>
              <a:off x="4200596" y="5709251"/>
              <a:ext cx="332655" cy="347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05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9</a:t>
              </a:r>
              <a:endParaRPr kumimoji="0" lang="en-US" altLang="zh-CN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27" name="Rectangle 3"/>
            <p:cNvSpPr>
              <a:spLocks noChangeArrowheads="1"/>
            </p:cNvSpPr>
            <p:nvPr/>
          </p:nvSpPr>
          <p:spPr bwMode="auto">
            <a:xfrm>
              <a:off x="4610771" y="5709249"/>
              <a:ext cx="433158" cy="3473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05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10</a:t>
              </a:r>
              <a:endParaRPr kumimoji="0" lang="en-US" altLang="zh-CN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1455981" y="2411760"/>
              <a:ext cx="0" cy="367240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3"/>
            <p:cNvSpPr>
              <a:spLocks noChangeArrowheads="1"/>
            </p:cNvSpPr>
            <p:nvPr/>
          </p:nvSpPr>
          <p:spPr bwMode="auto">
            <a:xfrm>
              <a:off x="4978281" y="5709249"/>
              <a:ext cx="433158" cy="3473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05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11</a:t>
              </a:r>
              <a:endParaRPr kumimoji="0" lang="en-US" altLang="zh-CN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4564323" y="2951210"/>
              <a:ext cx="463198" cy="6316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8</a:t>
              </a:r>
              <a:endParaRPr lang="zh-CN" altLang="en-US" sz="2400"/>
            </a:p>
          </p:txBody>
        </p:sp>
        <p:sp>
          <p:nvSpPr>
            <p:cNvPr id="31" name="矩形 30"/>
            <p:cNvSpPr/>
            <p:nvPr/>
          </p:nvSpPr>
          <p:spPr>
            <a:xfrm>
              <a:off x="4175477" y="2951210"/>
              <a:ext cx="463198" cy="6316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1</a:t>
              </a:r>
              <a:endParaRPr lang="zh-CN" altLang="en-US" sz="2400"/>
            </a:p>
          </p:txBody>
        </p:sp>
        <p:sp>
          <p:nvSpPr>
            <p:cNvPr id="32" name="矩形 31"/>
            <p:cNvSpPr/>
            <p:nvPr/>
          </p:nvSpPr>
          <p:spPr>
            <a:xfrm>
              <a:off x="4515693" y="3685779"/>
              <a:ext cx="463198" cy="6316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0</a:t>
              </a:r>
              <a:endParaRPr lang="zh-CN" altLang="en-US" sz="2400"/>
            </a:p>
          </p:txBody>
        </p:sp>
        <p:sp>
          <p:nvSpPr>
            <p:cNvPr id="33" name="矩形 32"/>
            <p:cNvSpPr/>
            <p:nvPr/>
          </p:nvSpPr>
          <p:spPr>
            <a:xfrm>
              <a:off x="4183826" y="3685779"/>
              <a:ext cx="463198" cy="6316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7</a:t>
              </a:r>
              <a:endParaRPr lang="zh-CN" altLang="en-US" sz="2400"/>
            </a:p>
          </p:txBody>
        </p:sp>
        <p:sp>
          <p:nvSpPr>
            <p:cNvPr id="34" name="矩形 33"/>
            <p:cNvSpPr/>
            <p:nvPr/>
          </p:nvSpPr>
          <p:spPr>
            <a:xfrm>
              <a:off x="3717032" y="3685779"/>
              <a:ext cx="463198" cy="6316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8</a:t>
              </a:r>
              <a:endParaRPr lang="zh-CN" altLang="en-US" sz="2400"/>
            </a:p>
          </p:txBody>
        </p:sp>
        <p:sp>
          <p:nvSpPr>
            <p:cNvPr id="35" name="矩形 34"/>
            <p:cNvSpPr/>
            <p:nvPr/>
          </p:nvSpPr>
          <p:spPr>
            <a:xfrm>
              <a:off x="4544498" y="4378623"/>
              <a:ext cx="463198" cy="6316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8</a:t>
              </a:r>
              <a:endParaRPr lang="zh-CN" altLang="en-US" sz="2400"/>
            </a:p>
          </p:txBody>
        </p:sp>
        <p:sp>
          <p:nvSpPr>
            <p:cNvPr id="36" name="矩形 35"/>
            <p:cNvSpPr/>
            <p:nvPr/>
          </p:nvSpPr>
          <p:spPr>
            <a:xfrm>
              <a:off x="4212631" y="4378623"/>
              <a:ext cx="463198" cy="6316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8</a:t>
              </a:r>
              <a:endParaRPr lang="zh-CN" altLang="en-US" sz="2400"/>
            </a:p>
          </p:txBody>
        </p:sp>
        <p:sp>
          <p:nvSpPr>
            <p:cNvPr id="37" name="矩形 36"/>
            <p:cNvSpPr/>
            <p:nvPr/>
          </p:nvSpPr>
          <p:spPr>
            <a:xfrm>
              <a:off x="3745837" y="4378623"/>
              <a:ext cx="463198" cy="6316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8</a:t>
              </a:r>
              <a:endParaRPr lang="zh-CN" altLang="en-US" sz="2400"/>
            </a:p>
          </p:txBody>
        </p:sp>
        <p:sp>
          <p:nvSpPr>
            <p:cNvPr id="38" name="矩形 37"/>
            <p:cNvSpPr/>
            <p:nvPr/>
          </p:nvSpPr>
          <p:spPr>
            <a:xfrm>
              <a:off x="2170118" y="3685778"/>
              <a:ext cx="463198" cy="6316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+</a:t>
              </a:r>
              <a:endParaRPr lang="zh-CN" altLang="en-US" sz="2400"/>
            </a:p>
          </p:txBody>
        </p:sp>
        <p:sp>
          <p:nvSpPr>
            <p:cNvPr id="39" name="Rectangle 3"/>
            <p:cNvSpPr>
              <a:spLocks noChangeArrowheads="1"/>
            </p:cNvSpPr>
            <p:nvPr/>
          </p:nvSpPr>
          <p:spPr bwMode="auto">
            <a:xfrm>
              <a:off x="5296555" y="4214202"/>
              <a:ext cx="403875" cy="3579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—</a:t>
              </a:r>
              <a:endParaRPr kumimoji="0" lang="en-US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0" name="Rectangle 3"/>
            <p:cNvSpPr>
              <a:spLocks noChangeArrowheads="1"/>
            </p:cNvSpPr>
            <p:nvPr/>
          </p:nvSpPr>
          <p:spPr bwMode="auto">
            <a:xfrm>
              <a:off x="4539211" y="4214202"/>
              <a:ext cx="403875" cy="3579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—</a:t>
              </a:r>
              <a:endParaRPr kumimoji="0" lang="en-US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1" name="Rectangle 3"/>
            <p:cNvSpPr>
              <a:spLocks noChangeArrowheads="1"/>
            </p:cNvSpPr>
            <p:nvPr/>
          </p:nvSpPr>
          <p:spPr bwMode="auto">
            <a:xfrm>
              <a:off x="3725493" y="4217489"/>
              <a:ext cx="403875" cy="3579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—</a:t>
              </a:r>
              <a:endParaRPr kumimoji="0" lang="en-US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" name="Rectangle 3"/>
            <p:cNvSpPr>
              <a:spLocks noChangeArrowheads="1"/>
            </p:cNvSpPr>
            <p:nvPr/>
          </p:nvSpPr>
          <p:spPr bwMode="auto">
            <a:xfrm>
              <a:off x="4114335" y="4217489"/>
              <a:ext cx="403875" cy="3579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—</a:t>
              </a:r>
              <a:endParaRPr kumimoji="0" lang="en-US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3" name="Rectangle 3"/>
            <p:cNvSpPr>
              <a:spLocks noChangeArrowheads="1"/>
            </p:cNvSpPr>
            <p:nvPr/>
          </p:nvSpPr>
          <p:spPr bwMode="auto">
            <a:xfrm>
              <a:off x="3356992" y="4217489"/>
              <a:ext cx="403875" cy="3579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—</a:t>
              </a:r>
              <a:endParaRPr kumimoji="0" lang="en-US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4" name="Rectangle 3"/>
            <p:cNvSpPr>
              <a:spLocks noChangeArrowheads="1"/>
            </p:cNvSpPr>
            <p:nvPr/>
          </p:nvSpPr>
          <p:spPr bwMode="auto">
            <a:xfrm>
              <a:off x="2564275" y="4210059"/>
              <a:ext cx="403875" cy="3579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—</a:t>
              </a:r>
              <a:endParaRPr kumimoji="0" lang="en-US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" name="Rectangle 3"/>
            <p:cNvSpPr>
              <a:spLocks noChangeArrowheads="1"/>
            </p:cNvSpPr>
            <p:nvPr/>
          </p:nvSpPr>
          <p:spPr bwMode="auto">
            <a:xfrm>
              <a:off x="2953117" y="4210059"/>
              <a:ext cx="403875" cy="3579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—</a:t>
              </a:r>
              <a:endParaRPr kumimoji="0" lang="en-US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6" name="Rectangle 3"/>
            <p:cNvSpPr>
              <a:spLocks noChangeArrowheads="1"/>
            </p:cNvSpPr>
            <p:nvPr/>
          </p:nvSpPr>
          <p:spPr bwMode="auto">
            <a:xfrm>
              <a:off x="2195774" y="4210059"/>
              <a:ext cx="403875" cy="3579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—</a:t>
              </a:r>
              <a:endParaRPr kumimoji="0" lang="en-US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7" name="Rectangle 3"/>
            <p:cNvSpPr>
              <a:spLocks noChangeArrowheads="1"/>
            </p:cNvSpPr>
            <p:nvPr/>
          </p:nvSpPr>
          <p:spPr bwMode="auto">
            <a:xfrm>
              <a:off x="1421237" y="4212227"/>
              <a:ext cx="403875" cy="3579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—</a:t>
              </a:r>
              <a:endParaRPr kumimoji="0" lang="en-US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8" name="Rectangle 3"/>
            <p:cNvSpPr>
              <a:spLocks noChangeArrowheads="1"/>
            </p:cNvSpPr>
            <p:nvPr/>
          </p:nvSpPr>
          <p:spPr bwMode="auto">
            <a:xfrm>
              <a:off x="1810079" y="4212227"/>
              <a:ext cx="403875" cy="3579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—</a:t>
              </a:r>
              <a:endParaRPr kumimoji="0" lang="en-US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>
            <a:xfrm>
              <a:off x="1064611" y="2411760"/>
              <a:ext cx="0" cy="367240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 3"/>
            <p:cNvSpPr>
              <a:spLocks noChangeArrowheads="1"/>
            </p:cNvSpPr>
            <p:nvPr/>
          </p:nvSpPr>
          <p:spPr bwMode="auto">
            <a:xfrm>
              <a:off x="5372106" y="5709249"/>
              <a:ext cx="433158" cy="3473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05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Calibri" panose="020F0502020204030204" pitchFamily="34" charset="0"/>
                </a:rPr>
                <a:t>12</a:t>
              </a:r>
              <a:endParaRPr kumimoji="0" lang="en-US" altLang="zh-CN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endParaRPr>
            </a:p>
          </p:txBody>
        </p:sp>
      </p:grpSp>
      <p:pic>
        <p:nvPicPr>
          <p:cNvPr id="51" name="图片 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91" y="3102152"/>
            <a:ext cx="1594367" cy="15943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组合 5"/>
          <p:cNvGrpSpPr/>
          <p:nvPr/>
        </p:nvGrpSpPr>
        <p:grpSpPr>
          <a:xfrm>
            <a:off x="611560" y="1270960"/>
            <a:ext cx="2087431" cy="2601580"/>
            <a:chOff x="4788024" y="1203598"/>
            <a:chExt cx="2087431" cy="2601580"/>
          </a:xfrm>
        </p:grpSpPr>
        <p:sp>
          <p:nvSpPr>
            <p:cNvPr id="51" name="矩形 50"/>
            <p:cNvSpPr/>
            <p:nvPr/>
          </p:nvSpPr>
          <p:spPr>
            <a:xfrm>
              <a:off x="4788024" y="1203598"/>
              <a:ext cx="131318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sz="4400" kern="100" dirty="0">
                  <a:latin typeface="Calibri" panose="020F0502020204030204" pitchFamily="34" charset="0"/>
                  <a:ea typeface="楷体" panose="02010609060101010101" pitchFamily="49" charset="-122"/>
                  <a:cs typeface="Calibri" panose="020F0502020204030204" pitchFamily="34" charset="0"/>
                </a:rPr>
                <a:t>域宽</a:t>
              </a:r>
              <a:endParaRPr lang="zh-CN" altLang="en-US" sz="4400" dirty="0"/>
            </a:p>
          </p:txBody>
        </p:sp>
        <p:sp>
          <p:nvSpPr>
            <p:cNvPr id="52" name="矩形 51"/>
            <p:cNvSpPr/>
            <p:nvPr/>
          </p:nvSpPr>
          <p:spPr>
            <a:xfrm>
              <a:off x="4788024" y="2412055"/>
              <a:ext cx="1644425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200" kern="100" dirty="0" err="1">
                  <a:latin typeface="Calibri" panose="020F0502020204030204" pitchFamily="34" charset="0"/>
                  <a:ea typeface="楷体" panose="02010609060101010101" pitchFamily="49" charset="-122"/>
                </a:rPr>
                <a:t>setw</a:t>
              </a:r>
              <a:r>
                <a:rPr lang="en-US" altLang="zh-CN" sz="3200" kern="100" dirty="0">
                  <a:latin typeface="Calibri" panose="020F0502020204030204" pitchFamily="34" charset="0"/>
                  <a:ea typeface="楷体" panose="02010609060101010101" pitchFamily="49" charset="-122"/>
                </a:rPr>
                <a:t>(10)</a:t>
              </a:r>
              <a:endParaRPr lang="zh-CN" altLang="en-US" sz="3200" dirty="0"/>
            </a:p>
          </p:txBody>
        </p:sp>
        <p:sp>
          <p:nvSpPr>
            <p:cNvPr id="53" name="矩形 52"/>
            <p:cNvSpPr/>
            <p:nvPr/>
          </p:nvSpPr>
          <p:spPr>
            <a:xfrm>
              <a:off x="4788024" y="3435846"/>
              <a:ext cx="20874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#include &lt;</a:t>
              </a:r>
              <a:r>
                <a:rPr lang="en-US" altLang="zh-CN" kern="100" dirty="0" err="1">
                  <a:latin typeface="Calibri" panose="020F0502020204030204" pitchFamily="34" charset="0"/>
                  <a:cs typeface="Times New Roman" panose="02020603050405020304" pitchFamily="18" charset="0"/>
                </a:rPr>
                <a:t>iomanip</a:t>
              </a:r>
              <a:r>
                <a:rPr lang="en-US" altLang="zh-CN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&gt; </a:t>
              </a:r>
              <a:endParaRPr lang="zh-CN" altLang="en-US" dirty="0"/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2760041" y="1131590"/>
            <a:ext cx="49631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 err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setw</a:t>
            </a:r>
            <a:r>
              <a:rPr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()</a:t>
            </a:r>
            <a:r>
              <a:rPr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的使用</a:t>
            </a:r>
            <a:endParaRPr lang="en-US" altLang="zh-CN" sz="28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默认右对齐</a:t>
            </a:r>
            <a:r>
              <a:rPr lang="en-US" altLang="zh-CN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setw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只对直接跟在后面的输出数据起作用；</a:t>
            </a: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如果输出数据较小，则按设置域宽输出，前面补空格；</a:t>
            </a: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如果输出数据较大，则按实际位数输出。</a:t>
            </a:r>
            <a:endParaRPr lang="zh-CN" altLang="en-US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199" y="3503151"/>
            <a:ext cx="1080899" cy="10841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5168" y="764902"/>
            <a:ext cx="8229600" cy="857250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1419622"/>
            <a:ext cx="7416824" cy="2958976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400" dirty="0" err="1"/>
              <a:t>iomanip</a:t>
            </a:r>
            <a:r>
              <a:rPr lang="en-US" altLang="zh-CN" sz="2400" dirty="0"/>
              <a:t>  </a:t>
            </a:r>
            <a:r>
              <a:rPr lang="en-US" altLang="zh-CN" sz="2400" dirty="0" err="1"/>
              <a:t>io</a:t>
            </a:r>
            <a:r>
              <a:rPr lang="zh-CN" altLang="en-US" sz="2400" dirty="0"/>
              <a:t>是输入输出的缩写，</a:t>
            </a:r>
            <a:r>
              <a:rPr lang="en-US" altLang="zh-CN" sz="2400" dirty="0" err="1"/>
              <a:t>manip</a:t>
            </a:r>
            <a:r>
              <a:rPr lang="zh-CN" altLang="en-US" sz="2400" dirty="0"/>
              <a:t>是</a:t>
            </a:r>
            <a:r>
              <a:rPr lang="en-US" altLang="zh-CN" sz="2400" dirty="0"/>
              <a:t>manipulator(</a:t>
            </a:r>
            <a:r>
              <a:rPr lang="zh-CN" altLang="en-US" sz="2400" dirty="0"/>
              <a:t>操纵器</a:t>
            </a:r>
            <a:r>
              <a:rPr lang="en-US" altLang="zh-CN" sz="2400" dirty="0"/>
              <a:t>)</a:t>
            </a:r>
            <a:r>
              <a:rPr lang="zh-CN" altLang="en-US" sz="2400" dirty="0"/>
              <a:t>的缩写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en-US" altLang="zh-CN" sz="2400" dirty="0" err="1"/>
              <a:t>setw</a:t>
            </a:r>
            <a:r>
              <a:rPr lang="en-US" altLang="zh-CN" sz="2400" dirty="0"/>
              <a:t> set width</a:t>
            </a:r>
            <a:r>
              <a:rPr lang="zh-CN" altLang="en-US" sz="2400" dirty="0"/>
              <a:t>的缩写，设置域宽</a:t>
            </a:r>
            <a:endParaRPr lang="zh-CN" altLang="en-US" sz="16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8056" y="3132341"/>
            <a:ext cx="1368927" cy="14549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432556" y="744420"/>
            <a:ext cx="41764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52122" y="771550"/>
            <a:ext cx="4936302" cy="273630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</a:t>
            </a:r>
            <a:endParaRPr lang="en-US" altLang="zh-CN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517999" y="1491630"/>
            <a:ext cx="2592288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仿宋" panose="02010609060101010101" pitchFamily="49" charset="-122"/>
                <a:ea typeface="仿宋" panose="02010609060101010101" pitchFamily="49" charset="-122"/>
              </a:rPr>
              <a:t>为了让计算机完成一个完整的任务而编写的一串指令序列称为（ ）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命令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口令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程序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软件</a:t>
            </a:r>
            <a:endParaRPr lang="zh-CN" altLang="en-US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8555" y="1804401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a          b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378466" y="1252617"/>
            <a:ext cx="568863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#include 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</a:t>
            </a:r>
            <a:endParaRPr lang="en-US" altLang="zh-CN" sz="1600" dirty="0"/>
          </a:p>
          <a:p>
            <a:r>
              <a:rPr lang="en-US" altLang="zh-CN" sz="1600" dirty="0"/>
              <a:t>#include&lt;</a:t>
            </a:r>
            <a:r>
              <a:rPr lang="en-US" altLang="zh-CN" sz="1600" dirty="0" err="1"/>
              <a:t>iomanip</a:t>
            </a:r>
            <a:r>
              <a:rPr lang="en-US" altLang="zh-CN" sz="1600" dirty="0"/>
              <a:t>&gt;</a:t>
            </a:r>
            <a:endParaRPr lang="en-US" altLang="zh-CN" sz="1600" dirty="0"/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  <a:endParaRPr lang="en-US" altLang="zh-CN" sz="1600" dirty="0"/>
          </a:p>
          <a:p>
            <a:r>
              <a:rPr lang="en-US" altLang="zh-CN" sz="1600" dirty="0"/>
              <a:t>{</a:t>
            </a:r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a,b,c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a=3;</a:t>
            </a:r>
            <a:endParaRPr lang="en-US" altLang="zh-CN" sz="1600" dirty="0"/>
          </a:p>
          <a:p>
            <a:r>
              <a:rPr lang="en-US" altLang="zh-CN" sz="1600" dirty="0"/>
              <a:t>    b=4;          </a:t>
            </a:r>
            <a:endParaRPr lang="en-US" altLang="zh-CN" sz="1600" dirty="0"/>
          </a:p>
          <a:p>
            <a:r>
              <a:rPr lang="en-US" altLang="zh-CN" sz="1600" dirty="0"/>
              <a:t>    c=a*</a:t>
            </a:r>
            <a:r>
              <a:rPr lang="en-US" altLang="zh-CN" sz="1600" dirty="0" err="1"/>
              <a:t>a+b</a:t>
            </a:r>
            <a:r>
              <a:rPr lang="en-US" altLang="zh-CN" sz="1600" dirty="0"/>
              <a:t>*b; </a:t>
            </a:r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&lt;&lt;a&lt;&lt;"*"&lt;&lt;a&lt;&lt;"+"&lt;&lt;b&lt;&lt;"*"&lt;&lt;b&lt;&lt;"="&lt;&lt;</a:t>
            </a:r>
            <a:r>
              <a:rPr lang="en-US" altLang="zh-CN" sz="1600" dirty="0" err="1"/>
              <a:t>setw</a:t>
            </a:r>
            <a:r>
              <a:rPr lang="en-US" altLang="zh-CN" sz="1600" dirty="0"/>
              <a:t>(2)&lt;&lt;c&lt;&lt;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return 0;</a:t>
            </a:r>
            <a:endParaRPr lang="en-US" altLang="zh-CN" sz="1600" dirty="0"/>
          </a:p>
          <a:p>
            <a:r>
              <a:rPr lang="en-US" altLang="zh-CN" sz="1600" dirty="0"/>
              <a:t>}</a:t>
            </a:r>
            <a:endParaRPr lang="zh-CN" altLang="en-US" sz="16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6336" y="3834643"/>
            <a:ext cx="1086814" cy="97451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923928" y="4408788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10" grpId="0" animBg="1"/>
      <p:bldP spid="5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540568" y="739144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1043882" y="1923678"/>
            <a:ext cx="2952328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sz="1800" dirty="0"/>
              <a:t>3</a:t>
            </a:r>
            <a:r>
              <a:rPr lang="zh-CN" altLang="en-US" sz="1800" dirty="0"/>
              <a:t>、完善程序。</a:t>
            </a:r>
            <a:endParaRPr lang="en-US" altLang="zh-CN" sz="1600" dirty="0"/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1600" dirty="0"/>
              <a:t>已知</a:t>
            </a:r>
            <a:r>
              <a:rPr lang="en-US" altLang="zh-CN" sz="1600" dirty="0"/>
              <a:t>a</a:t>
            </a:r>
            <a:r>
              <a:rPr lang="zh-CN" altLang="en-US" sz="1600" dirty="0"/>
              <a:t>为</a:t>
            </a:r>
            <a:r>
              <a:rPr lang="en-US" altLang="zh-CN" sz="1600" dirty="0"/>
              <a:t>15</a:t>
            </a:r>
            <a:r>
              <a:rPr lang="zh-CN" altLang="en-US" sz="1600" dirty="0"/>
              <a:t>，</a:t>
            </a:r>
            <a:r>
              <a:rPr lang="en-US" altLang="zh-CN" sz="1600" dirty="0"/>
              <a:t>b</a:t>
            </a:r>
            <a:r>
              <a:rPr lang="zh-CN" altLang="en-US" sz="1600" dirty="0"/>
              <a:t>为</a:t>
            </a:r>
            <a:r>
              <a:rPr lang="en-US" altLang="zh-CN" sz="1600" dirty="0"/>
              <a:t>3</a:t>
            </a:r>
            <a:r>
              <a:rPr lang="zh-CN" altLang="en-US" sz="1600" dirty="0"/>
              <a:t>，输出</a:t>
            </a:r>
            <a:r>
              <a:rPr lang="en-US" altLang="zh-CN" sz="1600" dirty="0"/>
              <a:t>a-b</a:t>
            </a:r>
            <a:r>
              <a:rPr lang="zh-CN" altLang="en-US" sz="1600" dirty="0"/>
              <a:t>的竖式计算。</a:t>
            </a:r>
            <a:endParaRPr lang="en-US" altLang="zh-CN" sz="1800" dirty="0"/>
          </a:p>
        </p:txBody>
      </p:sp>
      <p:sp>
        <p:nvSpPr>
          <p:cNvPr id="7" name="矩形 6"/>
          <p:cNvSpPr/>
          <p:nvPr/>
        </p:nvSpPr>
        <p:spPr>
          <a:xfrm>
            <a:off x="4237370" y="769674"/>
            <a:ext cx="4511094" cy="35394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/>
              <a:t>#include 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</a:t>
            </a:r>
            <a:endParaRPr lang="en-US" altLang="zh-CN" sz="1600" dirty="0"/>
          </a:p>
          <a:p>
            <a:r>
              <a:rPr lang="en-US" altLang="zh-CN" sz="1600" dirty="0"/>
              <a:t>#include&lt;</a:t>
            </a:r>
            <a:r>
              <a:rPr lang="en-US" altLang="zh-CN" sz="1600" dirty="0" err="1"/>
              <a:t>iomanip</a:t>
            </a:r>
            <a:r>
              <a:rPr lang="en-US" altLang="zh-CN" sz="1600" dirty="0"/>
              <a:t>&gt;</a:t>
            </a:r>
            <a:endParaRPr lang="en-US" altLang="zh-CN" sz="1600" dirty="0"/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  <a:endParaRPr lang="en-US" altLang="zh-CN" sz="1600" dirty="0"/>
          </a:p>
          <a:p>
            <a:r>
              <a:rPr lang="en-US" altLang="zh-CN" sz="1600" dirty="0"/>
              <a:t>{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 </a:t>
            </a:r>
            <a:r>
              <a:rPr lang="en-US" altLang="zh-CN" sz="1600" dirty="0" err="1"/>
              <a:t>a,b,c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  a=15;  b=3;</a:t>
            </a:r>
            <a:endParaRPr lang="en-US" altLang="zh-CN" sz="1600" dirty="0"/>
          </a:p>
          <a:p>
            <a:r>
              <a:rPr lang="en-US" altLang="zh-CN" sz="1600" dirty="0"/>
              <a:t>      c=a-b;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</a:t>
            </a:r>
            <a:r>
              <a:rPr lang="en-US" altLang="zh-CN" sz="1600" dirty="0" err="1"/>
              <a:t>setw</a:t>
            </a:r>
            <a:r>
              <a:rPr lang="en-US" altLang="zh-CN" sz="1600" dirty="0"/>
              <a:t>(5)&lt;&lt;a&lt;&lt;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</a:t>
            </a:r>
            <a:r>
              <a:rPr lang="en-US" altLang="zh-CN" sz="1600" dirty="0" err="1"/>
              <a:t>setw</a:t>
            </a:r>
            <a:r>
              <a:rPr lang="en-US" altLang="zh-CN" sz="1600" dirty="0"/>
              <a:t>(2)&lt;&lt;'-'&lt;&lt;</a:t>
            </a:r>
            <a:r>
              <a:rPr lang="en-US" altLang="zh-CN" sz="1600" dirty="0" err="1"/>
              <a:t>setw</a:t>
            </a:r>
            <a:r>
              <a:rPr lang="en-US" altLang="zh-CN" sz="1600" dirty="0"/>
              <a:t>(3)&lt;&lt;____&lt;&lt;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&lt;&lt;"----------"&lt;&lt;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&lt;&lt;________&lt;&lt;c&lt;&lt; 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 //</a:t>
            </a:r>
            <a:r>
              <a:rPr lang="zh-CN" altLang="en-US" sz="1600" dirty="0"/>
              <a:t>占</a:t>
            </a:r>
            <a:r>
              <a:rPr lang="en-US" altLang="zh-CN" sz="1600" dirty="0"/>
              <a:t>5</a:t>
            </a:r>
            <a:r>
              <a:rPr lang="zh-CN" altLang="en-US" sz="1600" dirty="0"/>
              <a:t>个字符宽度</a:t>
            </a:r>
            <a:endParaRPr lang="en-US" altLang="zh-CN" sz="1600" dirty="0"/>
          </a:p>
          <a:p>
            <a:r>
              <a:rPr lang="en-US" altLang="zh-CN" sz="1600" dirty="0"/>
              <a:t>      return 0;</a:t>
            </a:r>
            <a:endParaRPr lang="en-US" altLang="zh-CN" sz="1600" dirty="0"/>
          </a:p>
          <a:p>
            <a:r>
              <a:rPr lang="en-US" altLang="zh-CN" sz="1600" dirty="0"/>
              <a:t>}</a:t>
            </a:r>
            <a:endParaRPr lang="zh-CN" alt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1302177" y="4308986"/>
            <a:ext cx="5955476" cy="369332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>
                <a:latin typeface="+mj-ea"/>
                <a:ea typeface="+mj-ea"/>
              </a:rPr>
              <a:t>注：所有程序作业，必须上机完成，不能只写在教材上！</a:t>
            </a:r>
            <a:endParaRPr lang="zh-CN" altLang="en-US" b="1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1421</Words>
  <Application>WPS 演示</Application>
  <PresentationFormat>全屏显示(16:9)</PresentationFormat>
  <Paragraphs>189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Calibri</vt:lpstr>
      <vt:lpstr>Arial Unicode MS</vt:lpstr>
      <vt:lpstr>Office 主题</vt:lpstr>
      <vt:lpstr>PowerPoint 演示文稿</vt:lpstr>
      <vt:lpstr>竖式计算——设置域宽setw()</vt:lpstr>
      <vt:lpstr>PowerPoint 演示文稿</vt:lpstr>
      <vt:lpstr>PowerPoint 演示文稿</vt:lpstr>
      <vt:lpstr>PowerPoint 演示文稿</vt:lpstr>
      <vt:lpstr>编程小词典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78</cp:revision>
  <dcterms:created xsi:type="dcterms:W3CDTF">2018-07-03T13:24:00Z</dcterms:created>
  <dcterms:modified xsi:type="dcterms:W3CDTF">2021-04-08T12:30:18Z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