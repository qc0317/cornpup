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3"/>
    <p:sldId id="269" r:id="rId4"/>
    <p:sldId id="284" r:id="rId5"/>
    <p:sldId id="285" r:id="rId6"/>
    <p:sldId id="275" r:id="rId7"/>
    <p:sldId id="267" r:id="rId8"/>
    <p:sldId id="280" r:id="rId9"/>
    <p:sldId id="288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棋盘上的学问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超长整型与数据溢出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0985" y="6995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棋盘上的学问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超长整型和数据溢出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3589" y="1458116"/>
            <a:ext cx="5147563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第一格放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粒小麦，第二格放</a:t>
            </a:r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粒，第三格放</a:t>
            </a:r>
            <a:r>
              <a:rPr lang="en-US" altLang="zh-CN" dirty="0">
                <a:latin typeface="+mj-ea"/>
                <a:ea typeface="+mj-ea"/>
              </a:rPr>
              <a:t>8</a:t>
            </a:r>
            <a:r>
              <a:rPr lang="zh-CN" altLang="en-US" dirty="0">
                <a:latin typeface="+mj-ea"/>
                <a:ea typeface="+mj-ea"/>
              </a:rPr>
              <a:t>粒</a:t>
            </a:r>
            <a:r>
              <a:rPr lang="en-US" altLang="zh-CN" dirty="0">
                <a:latin typeface="+mj-ea"/>
                <a:ea typeface="+mj-ea"/>
              </a:rPr>
              <a:t>…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每个格子的小麦是前一个格子的两倍。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将</a:t>
            </a:r>
            <a:r>
              <a:rPr lang="en-US" altLang="zh-CN" dirty="0">
                <a:latin typeface="+mj-ea"/>
                <a:ea typeface="+mj-ea"/>
              </a:rPr>
              <a:t>64</a:t>
            </a:r>
            <a:r>
              <a:rPr lang="zh-CN" altLang="en-US" dirty="0">
                <a:latin typeface="+mj-ea"/>
                <a:ea typeface="+mj-ea"/>
              </a:rPr>
              <a:t>个格子放满。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" name="AutoShape 988"/>
          <p:cNvSpPr>
            <a:spLocks noChangeArrowheads="1"/>
          </p:cNvSpPr>
          <p:nvPr/>
        </p:nvSpPr>
        <p:spPr bwMode="auto">
          <a:xfrm>
            <a:off x="2502414" y="2643758"/>
            <a:ext cx="3963512" cy="1800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试编一程序，算一算，第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格中应放多少粒小麦？国王输给阿凡提的小麦总粒数是多少？</a:t>
            </a:r>
            <a:endParaRPr 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63" y="274475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8213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9502"/>
            <a:ext cx="4519612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395" y="724920"/>
            <a:ext cx="1660693" cy="39141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80502" y="465363"/>
            <a:ext cx="4572000" cy="443198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long </a:t>
            </a:r>
            <a:r>
              <a:rPr lang="en-US" altLang="zh-CN" sz="1600" dirty="0" err="1"/>
              <a:t>long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sum,n</a:t>
            </a:r>
            <a:r>
              <a:rPr lang="en-US" altLang="zh-CN" sz="1600" dirty="0"/>
              <a:t>;   // long </a:t>
            </a:r>
            <a:r>
              <a:rPr lang="en-US" altLang="zh-CN" sz="1600" dirty="0" err="1"/>
              <a:t>long</a:t>
            </a:r>
            <a:r>
              <a:rPr lang="zh-CN" altLang="en-US" sz="1600" dirty="0"/>
              <a:t>为长整型</a:t>
            </a:r>
            <a:endParaRPr lang="zh-CN" altLang="en-US" sz="1600" dirty="0"/>
          </a:p>
          <a:p>
            <a:r>
              <a:rPr lang="zh-CN" altLang="en-US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i;</a:t>
            </a:r>
            <a:endParaRPr lang="en-US" altLang="zh-CN" sz="1600" dirty="0"/>
          </a:p>
          <a:p>
            <a:r>
              <a:rPr lang="en-US" altLang="zh-CN" sz="1600" dirty="0"/>
              <a:t>  sum=0;</a:t>
            </a:r>
            <a:endParaRPr lang="en-US" altLang="zh-CN" sz="1600" dirty="0"/>
          </a:p>
          <a:p>
            <a:r>
              <a:rPr lang="en-US" altLang="zh-CN" sz="1600" dirty="0"/>
              <a:t>  n=1;</a:t>
            </a:r>
            <a:endParaRPr lang="en-US" altLang="zh-CN" sz="1600" dirty="0"/>
          </a:p>
          <a:p>
            <a:r>
              <a:rPr lang="en-US" altLang="zh-CN" sz="1600" dirty="0"/>
              <a:t>  for(i=1;i&lt;=64;i++)</a:t>
            </a:r>
            <a:endParaRPr lang="en-US" altLang="zh-CN" sz="1600" dirty="0"/>
          </a:p>
          <a:p>
            <a:r>
              <a:rPr lang="en-US" altLang="zh-CN" sz="1600" dirty="0"/>
              <a:t>  {</a:t>
            </a:r>
            <a:endParaRPr lang="en-US" altLang="zh-CN" sz="1600" dirty="0"/>
          </a:p>
          <a:p>
            <a:r>
              <a:rPr lang="en-US" altLang="zh-CN" sz="1600" dirty="0"/>
              <a:t>      n*=2;</a:t>
            </a:r>
            <a:endParaRPr lang="en-US" altLang="zh-CN" sz="1600" dirty="0"/>
          </a:p>
          <a:p>
            <a:r>
              <a:rPr lang="en-US" altLang="zh-CN" sz="1600" dirty="0"/>
              <a:t>      sum+=n;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&lt;&lt;i&lt;&lt;"   "&lt;&lt;n&lt;&lt;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}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总数：</a:t>
            </a:r>
            <a:r>
              <a:rPr lang="en-US" altLang="zh-CN" sz="1600" dirty="0"/>
              <a:t>"&lt;&lt;sum&lt;&lt;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861" y="3579862"/>
            <a:ext cx="1478565" cy="1138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650190" y="2796651"/>
            <a:ext cx="62646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-9223372036854775808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     </a:t>
            </a:r>
            <a:r>
              <a:rPr lang="zh-CN" altLang="zh-CN" sz="36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到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 9223372036854775807</a:t>
            </a:r>
            <a:endParaRPr lang="zh-CN" altLang="en-US" sz="36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83968" y="1998807"/>
            <a:ext cx="2997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long </a:t>
            </a:r>
            <a:r>
              <a:rPr lang="en-US" altLang="zh-CN" sz="3600" kern="100" dirty="0" err="1">
                <a:latin typeface="Consolas" panose="020B0609020204030204" pitchFamily="49" charset="0"/>
                <a:ea typeface="楷体" panose="02010609060101010101" pitchFamily="49" charset="-122"/>
              </a:rPr>
              <a:t>long</a:t>
            </a:r>
            <a:endParaRPr lang="zh-CN" altLang="en-US" sz="36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0" y="111845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超长整型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0" y="2715932"/>
            <a:ext cx="1857084" cy="1930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3558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416824" cy="2958976"/>
          </a:xfrm>
        </p:spPr>
        <p:txBody>
          <a:bodyPr/>
          <a:lstStyle/>
          <a:p>
            <a:pPr lvl="1"/>
            <a:r>
              <a:rPr lang="en-US" altLang="zh-CN" sz="3200" dirty="0"/>
              <a:t>long </a:t>
            </a:r>
            <a:r>
              <a:rPr lang="en-US" altLang="zh-CN" sz="3200" dirty="0" err="1"/>
              <a:t>long</a:t>
            </a:r>
            <a:r>
              <a:rPr lang="en-US" altLang="zh-CN" sz="3200" dirty="0"/>
              <a:t> </a:t>
            </a:r>
            <a:r>
              <a:rPr lang="zh-CN" altLang="en-US" sz="3200" dirty="0"/>
              <a:t>超长整型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622821"/>
            <a:ext cx="1898876" cy="2016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62753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276112"/>
            <a:ext cx="2576122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显示器所显示的五彩斑斓的色彩，是红色、蓝色和（  ）混合而成的。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紫色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橙色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黑色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绿色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39471" y="747549"/>
            <a:ext cx="4936302" cy="3891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#include&lt;</a:t>
            </a:r>
            <a:r>
              <a:rPr lang="en-US" altLang="zh-CN" sz="1400" b="0" dirty="0" err="1">
                <a:latin typeface="+mn-lt"/>
              </a:rPr>
              <a:t>iostream</a:t>
            </a:r>
            <a:r>
              <a:rPr lang="en-US" altLang="zh-CN" sz="1400" b="0" dirty="0">
                <a:latin typeface="+mn-lt"/>
              </a:rPr>
              <a:t>&gt;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using namespace </a:t>
            </a:r>
            <a:r>
              <a:rPr lang="en-US" altLang="zh-CN" sz="1400" b="0" dirty="0" err="1">
                <a:latin typeface="+mn-lt"/>
              </a:rPr>
              <a:t>std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main()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{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fr-FR" altLang="zh-CN" sz="1400" b="0" dirty="0">
                <a:latin typeface="+mn-lt"/>
              </a:rPr>
              <a:t>int m,n,i;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long long ans=0;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 cin&gt;&gt;m&gt;&gt;n;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for(i=m;i&lt;=n;i=i+2)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       ans+=i;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cout&lt;&lt;ans&lt;&lt;" ";</a:t>
            </a:r>
            <a:endParaRPr lang="fr-FR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400" b="0" dirty="0">
                <a:latin typeface="+mn-lt"/>
              </a:rPr>
              <a:t>      cout&lt;&lt;i</a:t>
            </a:r>
            <a:r>
              <a:rPr lang="nn-NO" altLang="zh-CN" sz="1400" b="0" dirty="0">
                <a:latin typeface="+mn-lt"/>
              </a:rPr>
              <a:t>;</a:t>
            </a:r>
            <a:r>
              <a:rPr lang="en-US" altLang="zh-CN" sz="1400" b="0" dirty="0">
                <a:latin typeface="+mn-lt"/>
              </a:rPr>
              <a:t>      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return 0;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}</a:t>
            </a: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m   n      i     sum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340144" y="3939902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1  10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7810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08112" y="1394812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假设年收益率为</a:t>
            </a:r>
            <a:r>
              <a:rPr lang="en-US" altLang="zh-CN" sz="1800" b="0" dirty="0">
                <a:solidFill>
                  <a:prstClr val="black"/>
                </a:solidFill>
              </a:rPr>
              <a:t>20%</a:t>
            </a:r>
            <a:r>
              <a:rPr lang="zh-CN" altLang="en-US" sz="1800" b="0" dirty="0">
                <a:solidFill>
                  <a:prstClr val="black"/>
                </a:solidFill>
              </a:rPr>
              <a:t>，</a:t>
            </a:r>
            <a:r>
              <a:rPr lang="en-US" altLang="zh-CN" sz="1800" b="0" dirty="0">
                <a:solidFill>
                  <a:prstClr val="black"/>
                </a:solidFill>
              </a:rPr>
              <a:t>10</a:t>
            </a:r>
            <a:r>
              <a:rPr lang="zh-CN" altLang="en-US" sz="1800" b="0" dirty="0">
                <a:solidFill>
                  <a:prstClr val="black"/>
                </a:solidFill>
              </a:rPr>
              <a:t>万元的投资一年后是</a:t>
            </a:r>
            <a:r>
              <a:rPr lang="en-US" altLang="zh-CN" sz="1800" b="0" dirty="0">
                <a:solidFill>
                  <a:prstClr val="black"/>
                </a:solidFill>
              </a:rPr>
              <a:t>12</a:t>
            </a:r>
            <a:r>
              <a:rPr lang="zh-CN" altLang="en-US" sz="1800" b="0" dirty="0">
                <a:solidFill>
                  <a:prstClr val="black"/>
                </a:solidFill>
              </a:rPr>
              <a:t>万元，两年后是</a:t>
            </a:r>
            <a:r>
              <a:rPr lang="en-US" altLang="zh-CN" sz="1800" b="0" dirty="0">
                <a:solidFill>
                  <a:prstClr val="black"/>
                </a:solidFill>
              </a:rPr>
              <a:t>14.4</a:t>
            </a:r>
            <a:r>
              <a:rPr lang="zh-CN" altLang="en-US" sz="1800" b="0" dirty="0">
                <a:solidFill>
                  <a:prstClr val="black"/>
                </a:solidFill>
              </a:rPr>
              <a:t>万元，试问</a:t>
            </a:r>
            <a:r>
              <a:rPr lang="en-US" altLang="zh-CN" sz="1800" b="0" dirty="0">
                <a:solidFill>
                  <a:prstClr val="black"/>
                </a:solidFill>
              </a:rPr>
              <a:t>20</a:t>
            </a:r>
            <a:r>
              <a:rPr lang="zh-CN" altLang="en-US" sz="1800" b="0" dirty="0">
                <a:solidFill>
                  <a:prstClr val="black"/>
                </a:solidFill>
              </a:rPr>
              <a:t>年后是多少万元？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843558"/>
            <a:ext cx="451109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float s=10.0;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for(i=1;i&lt;=20;______)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____________;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&lt;&lt;i&lt;&lt;"  "&lt;&lt;s&lt;&lt;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1222" y="4282574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WPS 演示</Application>
  <PresentationFormat>全屏显示(16:9)</PresentationFormat>
  <Paragraphs>103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Consolas</vt:lpstr>
      <vt:lpstr>Calibri</vt:lpstr>
      <vt:lpstr>Arial Unicode MS</vt:lpstr>
      <vt:lpstr>Office 主题</vt:lpstr>
      <vt:lpstr>PowerPoint 演示文稿</vt:lpstr>
      <vt:lpstr>棋盘上的学问——超长整型和数据溢出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69</cp:revision>
  <dcterms:created xsi:type="dcterms:W3CDTF">2018-07-03T13:24:00Z</dcterms:created>
  <dcterms:modified xsi:type="dcterms:W3CDTF">2021-06-17T03:34:45Z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1ED0AABF5C8B41338D23C4DC8538E05F</vt:lpwstr>
  </property>
  <property fmtid="{D5CDD505-2E9C-101B-9397-08002B2CF9AE}" pid="3" name="KSOProductBuildVer">
    <vt:lpwstr>2052-11.1.0.10577</vt:lpwstr>
  </property>
</Properties>
</file>