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76" r:id="rId3"/>
    <p:sldId id="293" r:id="rId4"/>
    <p:sldId id="294" r:id="rId5"/>
    <p:sldId id="295" r:id="rId6"/>
    <p:sldId id="275" r:id="rId7"/>
    <p:sldId id="277" r:id="rId8"/>
    <p:sldId id="282" r:id="rId9"/>
    <p:sldId id="268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508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植树造林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4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cin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81247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植树造林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en-US" altLang="zh-CN" sz="2400" dirty="0" err="1">
                <a:solidFill>
                  <a:srgbClr val="00B0F0"/>
                </a:solidFill>
              </a:rPr>
              <a:t>cin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</a:p>
        </p:txBody>
      </p:sp>
      <p:sp>
        <p:nvSpPr>
          <p:cNvPr id="15" name="矩形 14"/>
          <p:cNvSpPr/>
          <p:nvPr/>
        </p:nvSpPr>
        <p:spPr>
          <a:xfrm>
            <a:off x="5436096" y="1749240"/>
            <a:ext cx="2961432" cy="2221083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4"/>
          <p:cNvSpPr>
            <a:spLocks noChangeArrowheads="1"/>
          </p:cNvSpPr>
          <p:nvPr/>
        </p:nvSpPr>
        <p:spPr bwMode="auto">
          <a:xfrm>
            <a:off x="1442369" y="2931790"/>
            <a:ext cx="3458823" cy="144016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分别计算出各班总的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棵</a:t>
            </a:r>
            <a:r>
              <a:rPr lang="zh-CN" altLang="en-US" sz="28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746472" y="1293750"/>
          <a:ext cx="417646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班级名称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每人种植棵数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草莓班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向日葵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3066415"/>
            <a:ext cx="1438910" cy="1444625"/>
          </a:xfrm>
          <a:prstGeom prst="rect">
            <a:avLst/>
          </a:prstGeom>
        </p:spPr>
      </p:pic>
      <p:pic>
        <p:nvPicPr>
          <p:cNvPr id="5" name="图片 4" descr="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75" y="1811020"/>
            <a:ext cx="1483360" cy="2097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4355976" y="1131590"/>
            <a:ext cx="4176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a,b,sum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请人数和平均每人种的棵树</a:t>
            </a:r>
            <a:r>
              <a:rPr lang="en-US" altLang="zh-CN" dirty="0"/>
              <a:t>:";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&gt;&gt;a;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&gt;&gt;b; </a:t>
            </a:r>
          </a:p>
          <a:p>
            <a:r>
              <a:rPr lang="en-US" altLang="zh-CN" dirty="0"/>
              <a:t>  sum=a*b;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一共的棵树</a:t>
            </a:r>
            <a:r>
              <a:rPr lang="en-US" altLang="zh-CN" dirty="0"/>
              <a:t>:"&lt;&lt;sum&lt;&lt;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5669" y="1779662"/>
            <a:ext cx="3518912" cy="18668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由我们自己输入每个班的人数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和平均每人种的棵树。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程序根据输入的值，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计算出总的棵树。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4355976" y="1131590"/>
            <a:ext cx="4176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 </a:t>
            </a:r>
            <a:r>
              <a:rPr lang="en-US" altLang="zh-CN" dirty="0" err="1"/>
              <a:t>a,b,sum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请人数和平均每人种的棵树</a:t>
            </a:r>
            <a:r>
              <a:rPr lang="en-US" altLang="zh-CN" dirty="0"/>
              <a:t>:";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&gt;&gt;a;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&gt;&gt;b; </a:t>
            </a:r>
          </a:p>
          <a:p>
            <a:r>
              <a:rPr lang="en-US" altLang="zh-CN" dirty="0"/>
              <a:t>  sum=a*b;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一共的棵树</a:t>
            </a:r>
            <a:r>
              <a:rPr lang="en-US" altLang="zh-CN" dirty="0"/>
              <a:t>:"&lt;&lt;sum&lt;&lt;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987574"/>
            <a:ext cx="21602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altLang="zh-CN" sz="32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cin&gt;&gt;a</a:t>
            </a:r>
          </a:p>
          <a:p>
            <a:pPr>
              <a:lnSpc>
                <a:spcPct val="150000"/>
              </a:lnSpc>
            </a:pPr>
            <a:r>
              <a:rPr lang="pt-BR" altLang="zh-CN" sz="32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cin&gt;&gt;b; </a:t>
            </a:r>
          </a:p>
          <a:p>
            <a:pPr>
              <a:lnSpc>
                <a:spcPct val="150000"/>
              </a:lnSpc>
            </a:pPr>
            <a:r>
              <a:rPr lang="pt-BR" altLang="zh-CN" sz="32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s=a*b;</a:t>
            </a:r>
            <a:endParaRPr lang="nn-NO" altLang="zh-CN" sz="32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302" y="3366950"/>
            <a:ext cx="3647152" cy="12738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程序运行时，需要从键盘输入两个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数字，用空格或者回车符隔开，分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别赋给变量</a:t>
            </a:r>
            <a:r>
              <a:rPr lang="en-US" altLang="zh-CN" dirty="0">
                <a:latin typeface="+mj-ea"/>
                <a:ea typeface="+mj-ea"/>
              </a:rPr>
              <a:t>a</a:t>
            </a:r>
            <a:r>
              <a:rPr lang="zh-CN" altLang="en-US" dirty="0">
                <a:latin typeface="+mj-ea"/>
                <a:ea typeface="+mj-ea"/>
              </a:rPr>
              <a:t>和</a:t>
            </a:r>
            <a:r>
              <a:rPr lang="en-US" altLang="zh-CN" dirty="0">
                <a:latin typeface="+mj-ea"/>
                <a:ea typeface="+mj-ea"/>
              </a:rPr>
              <a:t>b</a:t>
            </a:r>
            <a:r>
              <a:rPr lang="zh-CN" altLang="en-US" dirty="0">
                <a:latin typeface="+mj-ea"/>
                <a:ea typeface="+mj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87819" y="41837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1601" y="1275606"/>
            <a:ext cx="7272808" cy="21698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将</a:t>
            </a:r>
            <a:r>
              <a:rPr lang="en-US" altLang="zh-CN" dirty="0" err="1">
                <a:latin typeface="+mj-ea"/>
                <a:ea typeface="+mj-ea"/>
              </a:rPr>
              <a:t>cin</a:t>
            </a:r>
            <a:r>
              <a:rPr lang="zh-CN" altLang="en-US" dirty="0">
                <a:latin typeface="+mj-ea"/>
                <a:ea typeface="+mj-ea"/>
              </a:rPr>
              <a:t>和流提取运算符“</a:t>
            </a:r>
            <a:r>
              <a:rPr lang="en-US" altLang="zh-CN" dirty="0">
                <a:latin typeface="+mj-ea"/>
                <a:ea typeface="+mj-ea"/>
              </a:rPr>
              <a:t>&gt;&gt;</a:t>
            </a:r>
            <a:r>
              <a:rPr lang="zh-CN" altLang="en-US" dirty="0">
                <a:latin typeface="+mj-ea"/>
                <a:ea typeface="+mj-ea"/>
              </a:rPr>
              <a:t>”实现的输入语句称为</a:t>
            </a:r>
            <a:r>
              <a:rPr lang="en-US" altLang="zh-CN" dirty="0" err="1">
                <a:latin typeface="+mj-ea"/>
                <a:ea typeface="+mj-ea"/>
              </a:rPr>
              <a:t>cin</a:t>
            </a:r>
            <a:r>
              <a:rPr lang="zh-CN" altLang="en-US" dirty="0">
                <a:latin typeface="+mj-ea"/>
                <a:ea typeface="+mj-ea"/>
              </a:rPr>
              <a:t>语句。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与</a:t>
            </a:r>
            <a:r>
              <a:rPr lang="en-US" altLang="zh-CN" dirty="0" err="1">
                <a:latin typeface="+mj-ea"/>
                <a:ea typeface="+mj-ea"/>
              </a:rPr>
              <a:t>cout</a:t>
            </a:r>
            <a:r>
              <a:rPr lang="zh-CN" altLang="en-US" dirty="0">
                <a:latin typeface="+mj-ea"/>
                <a:ea typeface="+mj-ea"/>
              </a:rPr>
              <a:t>语句一样，也是用“流”的方式实现的。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从输入设备</a:t>
            </a:r>
            <a:r>
              <a:rPr lang="en-US" altLang="zh-CN" dirty="0">
                <a:latin typeface="+mj-ea"/>
                <a:ea typeface="+mj-ea"/>
              </a:rPr>
              <a:t>(</a:t>
            </a:r>
            <a:r>
              <a:rPr lang="zh-CN" altLang="en-US" dirty="0">
                <a:latin typeface="+mj-ea"/>
                <a:ea typeface="+mj-ea"/>
              </a:rPr>
              <a:t>一般是键盘</a:t>
            </a:r>
            <a:r>
              <a:rPr lang="en-US" altLang="zh-CN" dirty="0"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读入数据到输入流中，</a:t>
            </a:r>
            <a:r>
              <a:rPr lang="en-US" altLang="zh-CN" dirty="0">
                <a:latin typeface="+mj-ea"/>
                <a:ea typeface="+mj-ea"/>
              </a:rPr>
              <a:t>C++</a:t>
            </a:r>
            <a:r>
              <a:rPr lang="zh-CN" altLang="en-US" dirty="0">
                <a:latin typeface="+mj-ea"/>
                <a:ea typeface="+mj-ea"/>
              </a:rPr>
              <a:t>系统提取输入流中的数据赋给指定额变量。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+mj-ea"/>
                <a:ea typeface="+mj-ea"/>
              </a:rPr>
              <a:t>cin</a:t>
            </a:r>
            <a:r>
              <a:rPr lang="en-US" altLang="zh-CN" dirty="0">
                <a:latin typeface="+mj-ea"/>
                <a:ea typeface="+mj-ea"/>
              </a:rPr>
              <a:t>&gt;&gt;</a:t>
            </a:r>
            <a:r>
              <a:rPr lang="zh-CN" altLang="en-US" dirty="0">
                <a:latin typeface="+mj-ea"/>
                <a:ea typeface="+mj-ea"/>
              </a:rPr>
              <a:t>变量</a:t>
            </a:r>
            <a:r>
              <a:rPr lang="en-US" altLang="zh-CN" dirty="0">
                <a:latin typeface="+mj-ea"/>
                <a:ea typeface="+mj-ea"/>
              </a:rPr>
              <a:t>1&gt;&gt;</a:t>
            </a:r>
            <a:r>
              <a:rPr lang="zh-CN" altLang="en-US" dirty="0">
                <a:latin typeface="+mj-ea"/>
                <a:ea typeface="+mj-ea"/>
              </a:rPr>
              <a:t>变量</a:t>
            </a:r>
            <a:r>
              <a:rPr lang="en-US" altLang="zh-CN" dirty="0">
                <a:latin typeface="+mj-ea"/>
                <a:ea typeface="+mj-ea"/>
              </a:rPr>
              <a:t>2&gt;&gt;…&gt;&gt;</a:t>
            </a:r>
            <a:r>
              <a:rPr lang="zh-CN" altLang="en-US" dirty="0">
                <a:latin typeface="+mj-ea"/>
                <a:ea typeface="+mj-ea"/>
              </a:rPr>
              <a:t>变量</a:t>
            </a:r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1721" y="3939901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请用</a:t>
            </a:r>
            <a:r>
              <a:rPr lang="en-US" altLang="zh-CN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cin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语句改写“阿布拉卡达布拉”程序：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从键盘输入两个数字，交换它们的值并输出。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8268" y="658359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419622"/>
            <a:ext cx="7416824" cy="2958976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400" dirty="0" err="1"/>
              <a:t>cin</a:t>
            </a:r>
            <a:r>
              <a:rPr lang="en-US" altLang="zh-CN" sz="2400" dirty="0"/>
              <a:t>  c</a:t>
            </a:r>
            <a:r>
              <a:rPr lang="zh-CN" altLang="en-US" sz="2400" dirty="0"/>
              <a:t>和</a:t>
            </a:r>
            <a:r>
              <a:rPr lang="en-US" altLang="zh-CN" sz="2400" dirty="0"/>
              <a:t>in</a:t>
            </a:r>
            <a:r>
              <a:rPr lang="zh-CN" altLang="en-US" sz="2400" dirty="0"/>
              <a:t>两个单词组成，输入流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167352"/>
            <a:ext cx="3330854" cy="2420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24544" y="557085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628039"/>
            <a:ext cx="4936302" cy="4543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输入：</a:t>
            </a:r>
            <a:r>
              <a:rPr lang="en-US" altLang="zh-CN" sz="2000" dirty="0"/>
              <a:t>200 10 20 30 50</a:t>
            </a:r>
            <a:r>
              <a:rPr lang="zh-CN" altLang="en-US" sz="2000" dirty="0"/>
              <a:t>      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输出</a:t>
            </a:r>
            <a:r>
              <a:rPr lang="en-US" altLang="zh-CN" sz="2000" dirty="0"/>
              <a:t>:____________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544" y="1203598"/>
            <a:ext cx="2592288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下面的设备中，（ ）属于计算机的输入设备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显示器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绘图仪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打印机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鼠标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a          b</a:t>
            </a:r>
          </a:p>
          <a:p>
            <a:r>
              <a:rPr lang="en-US" altLang="zh-CN" dirty="0"/>
              <a:t>----------------------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927610" y="1108271"/>
            <a:ext cx="568863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 </a:t>
            </a:r>
            <a:r>
              <a:rPr lang="en-US" altLang="zh-CN" sz="1600" dirty="0" err="1"/>
              <a:t>s,a,b,c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&gt;&gt;s&gt;&gt;a&gt;&gt;b&gt;&gt;c;</a:t>
            </a:r>
          </a:p>
          <a:p>
            <a:r>
              <a:rPr lang="en-US" altLang="zh-CN" sz="1600" dirty="0"/>
              <a:t>    s-=a;</a:t>
            </a:r>
          </a:p>
          <a:p>
            <a:r>
              <a:rPr lang="en-US" altLang="zh-CN" sz="1600" dirty="0"/>
              <a:t>    s-=b;</a:t>
            </a:r>
          </a:p>
          <a:p>
            <a:r>
              <a:rPr lang="en-US" altLang="zh-CN" sz="1600" dirty="0"/>
              <a:t>     s-=c;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en-US" altLang="zh-CN" sz="1600" dirty="0" err="1"/>
              <a:t>ans</a:t>
            </a:r>
            <a:r>
              <a:rPr lang="en-US" altLang="zh-CN" sz="1600" dirty="0"/>
              <a:t>="&lt;&lt;s&lt;&lt;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return 0;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427" y="3370059"/>
            <a:ext cx="1328985" cy="1294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10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2250" y="880353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1068310" y="1621170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、完善程序。</a:t>
            </a:r>
            <a:endParaRPr lang="en-US" altLang="zh-CN" sz="1600" dirty="0"/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从键盘输入长方形的长和宽，计算该长方形的周长。</a:t>
            </a:r>
            <a:endParaRPr lang="en-US" altLang="zh-CN" sz="1800" dirty="0"/>
          </a:p>
        </p:txBody>
      </p:sp>
      <p:sp>
        <p:nvSpPr>
          <p:cNvPr id="7" name="矩形 6"/>
          <p:cNvSpPr/>
          <p:nvPr/>
        </p:nvSpPr>
        <p:spPr>
          <a:xfrm>
            <a:off x="4255598" y="873579"/>
            <a:ext cx="4511094" cy="28007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iomanip</a:t>
            </a:r>
            <a:r>
              <a:rPr lang="en-US" altLang="zh-CN" sz="1600" dirty="0"/>
              <a:t>&gt;</a:t>
            </a:r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a,b,c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     </a:t>
            </a:r>
            <a:r>
              <a:rPr lang="en-US" altLang="zh-CN" sz="1600" u="sng" dirty="0"/>
              <a:t>                                ;</a:t>
            </a:r>
          </a:p>
          <a:p>
            <a:r>
              <a:rPr lang="en-US" altLang="zh-CN" sz="1600" dirty="0"/>
              <a:t>      c=(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)*2</a:t>
            </a:r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&lt;&lt;“</a:t>
            </a:r>
            <a:r>
              <a:rPr lang="zh-CN" altLang="en-US" sz="1600" dirty="0"/>
              <a:t>周长：</a:t>
            </a:r>
            <a:r>
              <a:rPr lang="en-US" altLang="zh-CN" sz="1600" dirty="0"/>
              <a:t>”&lt;&lt; </a:t>
            </a:r>
            <a:r>
              <a:rPr lang="en-US" altLang="zh-CN" sz="1600" u="sng" dirty="0"/>
              <a:t>           </a:t>
            </a:r>
            <a:r>
              <a:rPr lang="en-US" altLang="zh-CN" sz="1600" dirty="0"/>
              <a:t> 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return 0;</a:t>
            </a:r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290609" y="4246121"/>
            <a:ext cx="5955476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+mj-ea"/>
                <a:ea typeface="+mj-ea"/>
              </a:rPr>
              <a:t>注：所有程序作业，必须上机完成，不能只写在教材上！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548</Words>
  <Application>Microsoft Office PowerPoint</Application>
  <PresentationFormat>全屏显示(16:9)</PresentationFormat>
  <Paragraphs>107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Consolas</vt:lpstr>
      <vt:lpstr>Wingdings</vt:lpstr>
      <vt:lpstr>Office 主题</vt:lpstr>
      <vt:lpstr>PowerPoint 演示文稿</vt:lpstr>
      <vt:lpstr>植树造林——cin语句</vt:lpstr>
      <vt:lpstr>PowerPoint 演示文稿</vt:lpstr>
      <vt:lpstr>PowerPoint 演示文稿</vt:lpstr>
      <vt:lpstr>PowerPoint 演示文稿</vt:lpstr>
      <vt:lpstr>编程小词典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 亚涛</cp:lastModifiedBy>
  <cp:revision>99</cp:revision>
  <dcterms:created xsi:type="dcterms:W3CDTF">2018-07-03T13:24:00Z</dcterms:created>
  <dcterms:modified xsi:type="dcterms:W3CDTF">2021-04-22T01:31:43Z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