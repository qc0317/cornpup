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3"/>
    <p:sldId id="269" r:id="rId4"/>
    <p:sldId id="281" r:id="rId5"/>
    <p:sldId id="282" r:id="rId6"/>
    <p:sldId id="267" r:id="rId7"/>
    <p:sldId id="280" r:id="rId8"/>
    <p:sldId id="285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37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天连碧水碧连天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回文数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91170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天连碧水碧连天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回文数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3608" y="1648420"/>
            <a:ext cx="6186309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“地满红花红满地，天连碧水碧连天”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回文数：一个数字正序和倒序是一样的，称为“回文数”。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如：</a:t>
            </a:r>
            <a:r>
              <a:rPr lang="en-US" altLang="zh-CN" dirty="0">
                <a:latin typeface="+mj-ea"/>
                <a:ea typeface="+mj-ea"/>
              </a:rPr>
              <a:t>1234321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4" name="AutoShape 596"/>
          <p:cNvSpPr>
            <a:spLocks noChangeArrowheads="1"/>
          </p:cNvSpPr>
          <p:nvPr/>
        </p:nvSpPr>
        <p:spPr bwMode="auto">
          <a:xfrm>
            <a:off x="2363478" y="2734259"/>
            <a:ext cx="4267200" cy="1169117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</a:t>
            </a:r>
            <a:r>
              <a:rPr lang="zh-CN" altLang="en-US" sz="2800" kern="100" dirty="0"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判断一个自然</a:t>
            </a: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数是不是回文数。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8265" y="2973270"/>
            <a:ext cx="1647860" cy="1603851"/>
          </a:xfrm>
          <a:prstGeom prst="rect">
            <a:avLst/>
          </a:prstGeom>
        </p:spPr>
      </p:pic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3075305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0749" y="1491630"/>
            <a:ext cx="4703299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如何将数字</a:t>
            </a:r>
            <a:r>
              <a:rPr lang="en-US" altLang="zh-CN" dirty="0">
                <a:latin typeface="+mj-ea"/>
                <a:ea typeface="+mj-ea"/>
              </a:rPr>
              <a:t>n</a:t>
            </a:r>
            <a:r>
              <a:rPr lang="zh-CN" altLang="en-US" dirty="0">
                <a:latin typeface="+mj-ea"/>
                <a:ea typeface="+mj-ea"/>
              </a:rPr>
              <a:t>的各个数位上的数字反向排列，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组成新的数字</a:t>
            </a:r>
            <a:r>
              <a:rPr lang="en-US" altLang="zh-CN" dirty="0">
                <a:latin typeface="+mj-ea"/>
                <a:ea typeface="+mj-ea"/>
              </a:rPr>
              <a:t>m</a:t>
            </a:r>
            <a:r>
              <a:rPr lang="zh-CN" altLang="en-US" dirty="0">
                <a:latin typeface="+mj-ea"/>
                <a:ea typeface="+mj-ea"/>
              </a:rPr>
              <a:t>？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重复</a:t>
            </a:r>
            <a:r>
              <a:rPr lang="en-US" altLang="zh-CN" dirty="0">
                <a:latin typeface="+mj-ea"/>
                <a:ea typeface="+mj-ea"/>
              </a:rPr>
              <a:t>n%10</a:t>
            </a:r>
            <a:r>
              <a:rPr lang="zh-CN" altLang="en-US" dirty="0">
                <a:latin typeface="+mj-ea"/>
                <a:ea typeface="+mj-ea"/>
              </a:rPr>
              <a:t>分离出个位数</a:t>
            </a:r>
            <a:r>
              <a:rPr lang="en-US" altLang="zh-CN" dirty="0">
                <a:latin typeface="+mj-ea"/>
                <a:ea typeface="+mj-ea"/>
              </a:rPr>
              <a:t>x</a:t>
            </a:r>
            <a:r>
              <a:rPr lang="zh-CN" altLang="en-US" dirty="0">
                <a:latin typeface="+mj-ea"/>
                <a:ea typeface="+mj-ea"/>
              </a:rPr>
              <a:t>，组成新的数</a:t>
            </a:r>
            <a:r>
              <a:rPr lang="en-US" altLang="zh-CN" dirty="0">
                <a:latin typeface="+mj-ea"/>
                <a:ea typeface="+mj-ea"/>
              </a:rPr>
              <a:t>m</a:t>
            </a:r>
            <a:r>
              <a:rPr lang="zh-CN" altLang="en-US" dirty="0">
                <a:latin typeface="+mj-ea"/>
                <a:ea typeface="+mj-ea"/>
              </a:rPr>
              <a:t>*</a:t>
            </a:r>
            <a:r>
              <a:rPr lang="en-US" altLang="zh-CN" dirty="0">
                <a:latin typeface="+mj-ea"/>
                <a:ea typeface="+mj-ea"/>
              </a:rPr>
              <a:t>10+x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再</a:t>
            </a:r>
            <a:r>
              <a:rPr lang="en-US" altLang="zh-CN" dirty="0">
                <a:latin typeface="+mj-ea"/>
                <a:ea typeface="+mj-ea"/>
              </a:rPr>
              <a:t>n/10</a:t>
            </a:r>
            <a:r>
              <a:rPr lang="zh-CN" altLang="en-US" dirty="0">
                <a:latin typeface="+mj-ea"/>
                <a:ea typeface="+mj-ea"/>
              </a:rPr>
              <a:t>，直到</a:t>
            </a:r>
            <a:r>
              <a:rPr lang="en-US" altLang="zh-CN" dirty="0">
                <a:latin typeface="+mj-ea"/>
                <a:ea typeface="+mj-ea"/>
              </a:rPr>
              <a:t>n</a:t>
            </a:r>
            <a:r>
              <a:rPr lang="zh-CN" altLang="en-US" dirty="0">
                <a:latin typeface="+mj-ea"/>
                <a:ea typeface="+mj-ea"/>
              </a:rPr>
              <a:t>等于</a:t>
            </a:r>
            <a:r>
              <a:rPr lang="en-US" altLang="zh-CN" dirty="0">
                <a:latin typeface="+mj-ea"/>
                <a:ea typeface="+mj-ea"/>
              </a:rPr>
              <a:t>0</a:t>
            </a:r>
            <a:r>
              <a:rPr lang="zh-CN" altLang="en-US" dirty="0">
                <a:latin typeface="+mj-ea"/>
                <a:ea typeface="+mj-ea"/>
              </a:rPr>
              <a:t>为止。</a:t>
            </a:r>
            <a:endParaRPr lang="en-US" altLang="zh-CN" dirty="0">
              <a:latin typeface="+mj-ea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6056" y="556285"/>
            <a:ext cx="3565817" cy="41559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5576" y="2850019"/>
            <a:ext cx="2723823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     n      m      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</a:rPr>
              <a:t>----------------------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</a:rPr>
              <a:t>    123     0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</a:rPr>
              <a:t>    12      3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</a:rPr>
              <a:t>    1       32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</a:rPr>
              <a:t>    0       321</a:t>
            </a:r>
            <a:endParaRPr lang="en-US" altLang="zh-CN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589864" y="520120"/>
            <a:ext cx="4572000" cy="427809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    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i,num,n,m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cin</a:t>
            </a:r>
            <a:r>
              <a:rPr lang="en-US" altLang="zh-CN" sz="1600" dirty="0"/>
              <a:t>&gt;&gt;</a:t>
            </a:r>
            <a:r>
              <a:rPr lang="en-US" altLang="zh-CN" sz="1600" dirty="0" err="1"/>
              <a:t>num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m=0;</a:t>
            </a:r>
            <a:endParaRPr lang="en-US" altLang="zh-CN" sz="1600" dirty="0"/>
          </a:p>
          <a:p>
            <a:r>
              <a:rPr lang="en-US" altLang="zh-CN" sz="1600" dirty="0"/>
              <a:t>  n=</a:t>
            </a:r>
            <a:r>
              <a:rPr lang="en-US" altLang="zh-CN" sz="1600" dirty="0" err="1"/>
              <a:t>num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for(;n&gt;0;)</a:t>
            </a:r>
            <a:endParaRPr lang="en-US" altLang="zh-CN" sz="1600" dirty="0"/>
          </a:p>
          <a:p>
            <a:r>
              <a:rPr lang="en-US" altLang="zh-CN" sz="1600" dirty="0"/>
              <a:t>  {</a:t>
            </a:r>
            <a:endParaRPr lang="en-US" altLang="zh-CN" sz="1600" dirty="0"/>
          </a:p>
          <a:p>
            <a:r>
              <a:rPr lang="en-US" altLang="zh-CN" sz="1600" dirty="0"/>
              <a:t>    m=m*10+n%10;</a:t>
            </a:r>
            <a:endParaRPr lang="en-US" altLang="zh-CN" sz="1600" dirty="0"/>
          </a:p>
          <a:p>
            <a:r>
              <a:rPr lang="en-US" altLang="zh-CN" sz="1600" dirty="0"/>
              <a:t>    n=n/10;</a:t>
            </a:r>
            <a:endParaRPr lang="en-US" altLang="zh-CN" sz="1600" dirty="0"/>
          </a:p>
          <a:p>
            <a:r>
              <a:rPr lang="en-US" altLang="zh-CN" sz="1600" dirty="0"/>
              <a:t>  }</a:t>
            </a:r>
            <a:endParaRPr lang="en-US" altLang="zh-CN" sz="1600" dirty="0"/>
          </a:p>
          <a:p>
            <a:r>
              <a:rPr lang="en-US" altLang="zh-CN" sz="1600" dirty="0"/>
              <a:t>  if(m==</a:t>
            </a:r>
            <a:r>
              <a:rPr lang="en-US" altLang="zh-CN" sz="1600" dirty="0" err="1"/>
              <a:t>num</a:t>
            </a:r>
            <a:r>
              <a:rPr lang="en-US" altLang="zh-CN" sz="1600" dirty="0"/>
              <a:t>)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是回文数</a:t>
            </a:r>
            <a:r>
              <a:rPr lang="en-US" altLang="zh-CN" sz="1600" dirty="0"/>
              <a:t>"&lt;&lt;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else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不是回文数</a:t>
            </a:r>
            <a:r>
              <a:rPr lang="en-US" altLang="zh-CN" sz="1600" dirty="0"/>
              <a:t>"&lt;&lt;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en-US" altLang="zh-CN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3707904" y="916072"/>
            <a:ext cx="4703299" cy="12738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</a:rPr>
              <a:t>for</a:t>
            </a:r>
            <a:r>
              <a:rPr lang="zh-CN" altLang="en-US" dirty="0">
                <a:latin typeface="+mj-ea"/>
                <a:ea typeface="+mj-ea"/>
              </a:rPr>
              <a:t>循环语句使用很灵活，不仅可以用于循环次数已经确定的情况，也适用于循环次数不确定而循环结束条件确定的情况。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29691" y="2356232"/>
            <a:ext cx="4703299" cy="4428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</a:rPr>
              <a:t>for</a:t>
            </a:r>
            <a:r>
              <a:rPr lang="zh-CN" altLang="en-US" dirty="0">
                <a:latin typeface="+mj-ea"/>
                <a:ea typeface="+mj-ea"/>
              </a:rPr>
              <a:t>语句的几种变异写法？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83968" y="2916620"/>
            <a:ext cx="3240360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一个循环语句有三个关键点：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初始值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结束条件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改变条件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868" y="3655193"/>
            <a:ext cx="890244" cy="9452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bldLvl="0" animBg="1"/>
      <p:bldP spid="9" grpId="0" bldLvl="0" animBg="1"/>
      <p:bldP spid="10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8391" y="638841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下列文件的扩展名为声音文件格式的是（  ）。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doc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wav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exe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txt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75233" y="700048"/>
            <a:ext cx="4936302" cy="313119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388249" y="1290078"/>
            <a:ext cx="2288207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i      </a:t>
            </a:r>
            <a:r>
              <a:rPr lang="en-US" altLang="zh-CN" dirty="0" err="1"/>
              <a:t>ge</a:t>
            </a:r>
            <a:r>
              <a:rPr lang="en-US" altLang="zh-CN" dirty="0"/>
              <a:t>     </a:t>
            </a:r>
            <a:r>
              <a:rPr lang="en-US" altLang="zh-CN" dirty="0" err="1"/>
              <a:t>bai</a:t>
            </a:r>
            <a:r>
              <a:rPr lang="en-US" altLang="zh-CN" dirty="0"/>
              <a:t>   </a:t>
            </a:r>
            <a:r>
              <a:rPr lang="en-US" altLang="zh-CN" dirty="0" err="1"/>
              <a:t>ans</a:t>
            </a:r>
            <a:endParaRPr lang="en-US" altLang="zh-CN" dirty="0"/>
          </a:p>
          <a:p>
            <a:r>
              <a:rPr lang="en-US" altLang="zh-CN" dirty="0"/>
              <a:t>------------------------------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480" y="1150902"/>
            <a:ext cx="2685043" cy="3448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5569355" y="4265320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91" y="3634554"/>
            <a:ext cx="1204396" cy="974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55779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55576" y="1193305"/>
            <a:ext cx="3024336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prstClr val="black"/>
                </a:solidFill>
              </a:rPr>
              <a:t>完全数是指此数的所有真因子</a:t>
            </a:r>
            <a:r>
              <a:rPr lang="en-US" altLang="zh-CN" sz="2000" dirty="0">
                <a:solidFill>
                  <a:prstClr val="black"/>
                </a:solidFill>
              </a:rPr>
              <a:t>(</a:t>
            </a:r>
            <a:r>
              <a:rPr lang="zh-CN" altLang="en-US" sz="2000" dirty="0">
                <a:solidFill>
                  <a:prstClr val="black"/>
                </a:solidFill>
              </a:rPr>
              <a:t>即除了自身以外的约数</a:t>
            </a:r>
            <a:r>
              <a:rPr lang="en-US" altLang="zh-CN" sz="2000" dirty="0">
                <a:solidFill>
                  <a:prstClr val="black"/>
                </a:solidFill>
              </a:rPr>
              <a:t>)</a:t>
            </a:r>
            <a:r>
              <a:rPr lang="zh-CN" altLang="en-US" sz="2000" dirty="0">
                <a:solidFill>
                  <a:prstClr val="black"/>
                </a:solidFill>
              </a:rPr>
              <a:t>之和等于自己。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prstClr val="black"/>
                </a:solidFill>
              </a:rPr>
              <a:t>如</a:t>
            </a:r>
            <a:r>
              <a:rPr lang="en-US" altLang="zh-CN" sz="2000" dirty="0">
                <a:solidFill>
                  <a:prstClr val="black"/>
                </a:solidFill>
              </a:rPr>
              <a:t>6=1+2+3</a:t>
            </a:r>
            <a:r>
              <a:rPr lang="zh-CN" altLang="en-US" sz="2000" dirty="0">
                <a:solidFill>
                  <a:prstClr val="black"/>
                </a:solidFill>
              </a:rPr>
              <a:t>，就是完全数。</a:t>
            </a:r>
            <a:endParaRPr lang="en-US" altLang="zh-CN" sz="1800" dirty="0">
              <a:solidFill>
                <a:prstClr val="black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556285"/>
            <a:ext cx="4032448" cy="4077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848042"/>
            <a:ext cx="1059474" cy="8572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WPS 演示</Application>
  <PresentationFormat>全屏显示(16:9)</PresentationFormat>
  <Paragraphs>82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天连碧水碧连天——回文数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90</cp:revision>
  <dcterms:created xsi:type="dcterms:W3CDTF">2018-07-03T13:24:00Z</dcterms:created>
  <dcterms:modified xsi:type="dcterms:W3CDTF">2021-06-17T09:11:38Z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3474392CCE2448E3B7B4924C0F294107</vt:lpwstr>
  </property>
  <property fmtid="{D5CDD505-2E9C-101B-9397-08002B2CF9AE}" pid="3" name="KSOProductBuildVer">
    <vt:lpwstr>2052-11.1.0.10577</vt:lpwstr>
  </property>
</Properties>
</file>