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6" r:id="rId3"/>
    <p:sldId id="25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67" r:id="rId12"/>
    <p:sldId id="277" r:id="rId1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755576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454912" y="235572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47664" y="325582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编程是一门技术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2"/>
          <p:cNvSpPr/>
          <p:nvPr/>
        </p:nvSpPr>
        <p:spPr>
          <a:xfrm>
            <a:off x="28132" y="340514"/>
            <a:ext cx="9080372" cy="4428004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3"/>
          <p:cNvSpPr/>
          <p:nvPr/>
        </p:nvSpPr>
        <p:spPr>
          <a:xfrm>
            <a:off x="107504" y="466810"/>
            <a:ext cx="8824928" cy="4225360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89226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顺序结构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232" y="1409526"/>
            <a:ext cx="8229600" cy="3394472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美美特别喜欢吃蒸饺，不但味美而且营养丰富。饺子的制作步骤是：先揉面、擀皮，再调馅，然后包饺子，最后蒸饺子。</a:t>
            </a:r>
            <a:endParaRPr lang="zh-CN" altLang="en-US" sz="2000" dirty="0"/>
          </a:p>
        </p:txBody>
      </p:sp>
      <p:grpSp>
        <p:nvGrpSpPr>
          <p:cNvPr id="14" name="组合 13"/>
          <p:cNvGrpSpPr/>
          <p:nvPr/>
        </p:nvGrpSpPr>
        <p:grpSpPr>
          <a:xfrm>
            <a:off x="1094152" y="2277828"/>
            <a:ext cx="1224136" cy="2304256"/>
            <a:chOff x="1043608" y="2355726"/>
            <a:chExt cx="1224136" cy="2304256"/>
          </a:xfrm>
        </p:grpSpPr>
        <p:sp>
          <p:nvSpPr>
            <p:cNvPr id="5" name="矩形 4"/>
            <p:cNvSpPr/>
            <p:nvPr/>
          </p:nvSpPr>
          <p:spPr>
            <a:xfrm>
              <a:off x="1043608" y="2355726"/>
              <a:ext cx="1224136" cy="36004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揉面擀皮</a:t>
              </a:r>
              <a:endParaRPr lang="zh-CN" alt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1043608" y="3003798"/>
              <a:ext cx="1224136" cy="36004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调馅</a:t>
              </a:r>
              <a:endParaRPr lang="zh-CN" alt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1043608" y="3651870"/>
              <a:ext cx="1224136" cy="36004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包饺子</a:t>
              </a:r>
              <a:endParaRPr lang="zh-CN" alt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1043608" y="4299942"/>
              <a:ext cx="1224136" cy="36004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蒸饺子</a:t>
              </a:r>
              <a:endParaRPr lang="zh-CN" altLang="en-US" dirty="0"/>
            </a:p>
          </p:txBody>
        </p:sp>
        <p:cxnSp>
          <p:nvCxnSpPr>
            <p:cNvPr id="10" name="直接箭头连接符 9"/>
            <p:cNvCxnSpPr/>
            <p:nvPr/>
          </p:nvCxnSpPr>
          <p:spPr>
            <a:xfrm>
              <a:off x="1655676" y="2715766"/>
              <a:ext cx="0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1655676" y="3363838"/>
              <a:ext cx="0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>
              <a:off x="1655676" y="3867894"/>
              <a:ext cx="0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3327888" y="2277069"/>
            <a:ext cx="47099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       人们做事情常有一定的顺序，先做什么，</a:t>
            </a:r>
            <a:endParaRPr lang="en-US" altLang="zh-CN" dirty="0"/>
          </a:p>
          <a:p>
            <a:r>
              <a:rPr lang="zh-CN" altLang="en-US" dirty="0"/>
              <a:t>在做什么，然后做什么，最后做什么，这样</a:t>
            </a:r>
            <a:endParaRPr lang="en-US" altLang="zh-CN" dirty="0"/>
          </a:p>
          <a:p>
            <a:r>
              <a:rPr lang="zh-CN" altLang="en-US" dirty="0"/>
              <a:t>可以做的又好又快，井井有条。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907960" y="3609661"/>
            <a:ext cx="3416320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按照程序代码的先后顺序，</a:t>
            </a:r>
            <a:endParaRPr lang="en-US" altLang="zh-CN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依次执行，不遗漏，也不重复，</a:t>
            </a:r>
            <a:endParaRPr lang="en-US" altLang="zh-CN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b="1" dirty="0">
                <a:solidFill>
                  <a:srgbClr val="C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就叫做顺序结构</a:t>
            </a:r>
            <a:endParaRPr lang="zh-CN" altLang="en-US" b="1" dirty="0">
              <a:solidFill>
                <a:srgbClr val="C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3246755"/>
            <a:ext cx="1438910" cy="1444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5" grpId="0"/>
      <p:bldP spid="16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2"/>
          <p:cNvSpPr/>
          <p:nvPr/>
        </p:nvSpPr>
        <p:spPr>
          <a:xfrm>
            <a:off x="28132" y="412522"/>
            <a:ext cx="9080372" cy="4443957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"/>
          <p:cNvSpPr/>
          <p:nvPr/>
        </p:nvSpPr>
        <p:spPr>
          <a:xfrm>
            <a:off x="107504" y="451587"/>
            <a:ext cx="8824928" cy="4240583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168" y="801960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认识</a:t>
            </a:r>
            <a:r>
              <a:rPr lang="en-US" altLang="zh-CN" sz="2400" dirty="0" err="1">
                <a:solidFill>
                  <a:srgbClr val="00B0F0"/>
                </a:solidFill>
              </a:rPr>
              <a:t>Dev</a:t>
            </a:r>
            <a:r>
              <a:rPr lang="en-US" altLang="zh-CN" sz="2400" dirty="0">
                <a:solidFill>
                  <a:srgbClr val="00B0F0"/>
                </a:solidFill>
              </a:rPr>
              <a:t>-C++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63150" y="1563638"/>
            <a:ext cx="6985270" cy="1071563"/>
            <a:chOff x="1187624" y="2066004"/>
            <a:chExt cx="6985270" cy="1071563"/>
          </a:xfrm>
        </p:grpSpPr>
        <p:grpSp>
          <p:nvGrpSpPr>
            <p:cNvPr id="18" name="组合 33"/>
            <p:cNvGrpSpPr/>
            <p:nvPr/>
          </p:nvGrpSpPr>
          <p:grpSpPr bwMode="auto">
            <a:xfrm>
              <a:off x="1187624" y="2066004"/>
              <a:ext cx="1225376" cy="1071563"/>
              <a:chOff x="0" y="0"/>
              <a:chExt cx="1800200" cy="1512252"/>
            </a:xfrm>
          </p:grpSpPr>
          <p:pic>
            <p:nvPicPr>
              <p:cNvPr id="19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" name="矩形 35"/>
              <p:cNvSpPr/>
              <p:nvPr/>
            </p:nvSpPr>
            <p:spPr>
              <a:xfrm>
                <a:off x="611179" y="441140"/>
                <a:ext cx="723448" cy="651528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计</a:t>
                </a:r>
                <a:endPara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21" name="组合 33"/>
            <p:cNvGrpSpPr/>
            <p:nvPr/>
          </p:nvGrpSpPr>
          <p:grpSpPr bwMode="auto">
            <a:xfrm>
              <a:off x="2627598" y="2066005"/>
              <a:ext cx="1225376" cy="1071562"/>
              <a:chOff x="0" y="0"/>
              <a:chExt cx="1800200" cy="1512252"/>
            </a:xfrm>
          </p:grpSpPr>
          <p:pic>
            <p:nvPicPr>
              <p:cNvPr id="22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" name="矩形 35"/>
              <p:cNvSpPr/>
              <p:nvPr/>
            </p:nvSpPr>
            <p:spPr>
              <a:xfrm>
                <a:off x="601654" y="403056"/>
                <a:ext cx="723448" cy="651529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算</a:t>
                </a:r>
                <a:endPara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24" name="组合 33"/>
            <p:cNvGrpSpPr/>
            <p:nvPr/>
          </p:nvGrpSpPr>
          <p:grpSpPr bwMode="auto">
            <a:xfrm>
              <a:off x="4067572" y="2066004"/>
              <a:ext cx="1225376" cy="1071563"/>
              <a:chOff x="491068" y="-795369"/>
              <a:chExt cx="1800200" cy="1512252"/>
            </a:xfrm>
          </p:grpSpPr>
          <p:pic>
            <p:nvPicPr>
              <p:cNvPr id="25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1068" y="-795369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" name="矩形 35"/>
              <p:cNvSpPr/>
              <p:nvPr/>
            </p:nvSpPr>
            <p:spPr>
              <a:xfrm>
                <a:off x="1167334" y="-373272"/>
                <a:ext cx="723448" cy="651528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机</a:t>
                </a:r>
                <a:endPara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27" name="组合 33"/>
            <p:cNvGrpSpPr/>
            <p:nvPr/>
          </p:nvGrpSpPr>
          <p:grpSpPr bwMode="auto">
            <a:xfrm>
              <a:off x="5507546" y="2066005"/>
              <a:ext cx="1225376" cy="1071562"/>
              <a:chOff x="0" y="0"/>
              <a:chExt cx="1800200" cy="1512252"/>
            </a:xfrm>
          </p:grpSpPr>
          <p:pic>
            <p:nvPicPr>
              <p:cNvPr id="28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" name="矩形 35"/>
              <p:cNvSpPr/>
              <p:nvPr/>
            </p:nvSpPr>
            <p:spPr>
              <a:xfrm>
                <a:off x="573080" y="403056"/>
                <a:ext cx="723448" cy="651529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语</a:t>
                </a:r>
                <a:endPara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30" name="组合 33"/>
            <p:cNvGrpSpPr/>
            <p:nvPr/>
          </p:nvGrpSpPr>
          <p:grpSpPr bwMode="auto">
            <a:xfrm>
              <a:off x="6947518" y="2066004"/>
              <a:ext cx="1225376" cy="1071563"/>
              <a:chOff x="0" y="0"/>
              <a:chExt cx="1800200" cy="1512252"/>
            </a:xfrm>
          </p:grpSpPr>
          <p:pic>
            <p:nvPicPr>
              <p:cNvPr id="31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" name="矩形 35"/>
              <p:cNvSpPr/>
              <p:nvPr/>
            </p:nvSpPr>
            <p:spPr>
              <a:xfrm>
                <a:off x="600067" y="410989"/>
                <a:ext cx="723448" cy="651528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言</a:t>
                </a:r>
                <a:endPara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</p:grp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3743098" y="2859782"/>
            <a:ext cx="1569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机器语言 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4" name="Rectangle 15"/>
          <p:cNvSpPr>
            <a:spLocks noChangeArrowheads="1"/>
          </p:cNvSpPr>
          <p:nvPr/>
        </p:nvSpPr>
        <p:spPr bwMode="auto">
          <a:xfrm>
            <a:off x="3743098" y="3579465"/>
            <a:ext cx="1569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汇编语言 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5" name="Rectangle 16"/>
          <p:cNvSpPr>
            <a:spLocks noChangeArrowheads="1"/>
          </p:cNvSpPr>
          <p:nvPr/>
        </p:nvSpPr>
        <p:spPr bwMode="auto">
          <a:xfrm>
            <a:off x="3743098" y="4299148"/>
            <a:ext cx="1569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高级语言 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064" y="3232965"/>
            <a:ext cx="1341454" cy="13414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3" grpId="0"/>
      <p:bldP spid="34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28132" y="296122"/>
            <a:ext cx="9080372" cy="4560357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340514"/>
            <a:ext cx="8824928" cy="4351656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3130868" y="1707654"/>
            <a:ext cx="437632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9600" dirty="0" err="1">
                <a:solidFill>
                  <a:srgbClr val="00B0F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Dev</a:t>
            </a:r>
            <a:r>
              <a:rPr lang="en-US" altLang="zh-CN" sz="9600" dirty="0">
                <a:solidFill>
                  <a:srgbClr val="00B0F0"/>
                </a:solidFill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</a:rPr>
              <a:t>-C++</a:t>
            </a:r>
            <a:endParaRPr lang="en-US" altLang="zh-CN" sz="9600" dirty="0">
              <a:solidFill>
                <a:srgbClr val="00B0F0"/>
              </a:solidFill>
              <a:latin typeface="Calibri" panose="020F0502020204030204" pitchFamily="34" charset="0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08" y="1491630"/>
            <a:ext cx="2319940" cy="2319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28132" y="447045"/>
            <a:ext cx="9080372" cy="4409434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556285"/>
            <a:ext cx="8824928" cy="4207640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059582"/>
            <a:ext cx="8229600" cy="2958976"/>
          </a:xfrm>
        </p:spPr>
        <p:txBody>
          <a:bodyPr/>
          <a:lstStyle/>
          <a:p>
            <a:r>
              <a:rPr lang="zh-CN" altLang="en-US" dirty="0"/>
              <a:t>启动</a:t>
            </a:r>
            <a:r>
              <a:rPr lang="en-US" altLang="zh-CN" dirty="0" err="1"/>
              <a:t>Dev</a:t>
            </a:r>
            <a:r>
              <a:rPr lang="en-US" altLang="zh-CN" dirty="0"/>
              <a:t>-C++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sz="1800" b="0" dirty="0"/>
              <a:t>在桌面上找到</a:t>
            </a:r>
            <a:r>
              <a:rPr lang="en-US" altLang="zh-CN" sz="1800" b="0" dirty="0" err="1"/>
              <a:t>Dev</a:t>
            </a:r>
            <a:r>
              <a:rPr lang="en-US" altLang="zh-CN" sz="1800" b="0" dirty="0"/>
              <a:t>-C++</a:t>
            </a:r>
            <a:r>
              <a:rPr lang="zh-CN" altLang="en-US" sz="1800" b="0" dirty="0"/>
              <a:t>的图标，鼠标双击；</a:t>
            </a:r>
            <a:endParaRPr lang="en-US" altLang="zh-CN" sz="1800" b="0" dirty="0"/>
          </a:p>
          <a:p>
            <a:pPr lvl="1"/>
            <a:r>
              <a:rPr lang="zh-CN" altLang="en-US" sz="1800" b="0" dirty="0"/>
              <a:t>在“开始”菜单中，找到</a:t>
            </a:r>
            <a:r>
              <a:rPr lang="en-US" altLang="zh-CN" sz="1800" b="0" dirty="0" err="1"/>
              <a:t>Dev</a:t>
            </a:r>
            <a:r>
              <a:rPr lang="en-US" altLang="zh-CN" sz="1800" b="0" dirty="0"/>
              <a:t>-C++</a:t>
            </a:r>
            <a:r>
              <a:rPr lang="zh-CN" altLang="en-US" sz="1800" b="0" dirty="0"/>
              <a:t>，点击。</a:t>
            </a:r>
            <a:endParaRPr lang="en-US" altLang="zh-CN" sz="1800" b="0" dirty="0"/>
          </a:p>
          <a:p>
            <a:r>
              <a:rPr lang="zh-CN" altLang="en-US" dirty="0"/>
              <a:t>新建源程序</a:t>
            </a:r>
            <a:endParaRPr lang="en-US" altLang="zh-CN" dirty="0"/>
          </a:p>
          <a:p>
            <a:pPr lvl="1"/>
            <a:r>
              <a:rPr lang="zh-CN" altLang="en-US" sz="1800" b="0" dirty="0"/>
              <a:t>选择“文件”</a:t>
            </a:r>
            <a:r>
              <a:rPr lang="en-US" altLang="zh-CN" sz="1800" b="0" dirty="0">
                <a:sym typeface="Wingdings" panose="05000000000000000000" pitchFamily="2" charset="2"/>
              </a:rPr>
              <a:t> </a:t>
            </a:r>
            <a:r>
              <a:rPr lang="zh-CN" altLang="en-US" sz="1800" b="0" dirty="0">
                <a:sym typeface="Wingdings" panose="05000000000000000000" pitchFamily="2" charset="2"/>
              </a:rPr>
              <a:t>“新建”</a:t>
            </a:r>
            <a:r>
              <a:rPr lang="en-US" altLang="zh-CN" sz="1800" b="0" dirty="0">
                <a:sym typeface="Wingdings" panose="05000000000000000000" pitchFamily="2" charset="2"/>
              </a:rPr>
              <a:t></a:t>
            </a:r>
            <a:r>
              <a:rPr lang="zh-CN" altLang="en-US" sz="1800" b="0" dirty="0">
                <a:sym typeface="Wingdings" panose="05000000000000000000" pitchFamily="2" charset="2"/>
              </a:rPr>
              <a:t>“源代码”，新建一个源程序文件。</a:t>
            </a:r>
            <a:endParaRPr lang="en-US" altLang="zh-CN" sz="1800" b="0" dirty="0">
              <a:sym typeface="Wingdings" panose="05000000000000000000" pitchFamily="2" charset="2"/>
            </a:endParaRPr>
          </a:p>
          <a:p>
            <a:pPr lvl="1"/>
            <a:r>
              <a:rPr lang="zh-CN" altLang="en-US" sz="1800" b="0" dirty="0">
                <a:sym typeface="Wingdings" panose="05000000000000000000" pitchFamily="2" charset="2"/>
              </a:rPr>
              <a:t>选择“工具”</a:t>
            </a:r>
            <a:r>
              <a:rPr lang="en-US" altLang="zh-CN" sz="1800" b="0" dirty="0">
                <a:sym typeface="Wingdings" panose="05000000000000000000" pitchFamily="2" charset="2"/>
              </a:rPr>
              <a:t></a:t>
            </a:r>
            <a:r>
              <a:rPr lang="zh-CN" altLang="en-US" sz="1800" b="0" dirty="0">
                <a:sym typeface="Wingdings" panose="05000000000000000000" pitchFamily="2" charset="2"/>
              </a:rPr>
              <a:t>“编辑器选项”，在“显示” 选项卡中，调整字号为合适的大小。</a:t>
            </a:r>
            <a:endParaRPr lang="zh-CN" altLang="en-US" sz="1800" b="0" dirty="0"/>
          </a:p>
        </p:txBody>
      </p:sp>
      <p:sp>
        <p:nvSpPr>
          <p:cNvPr id="2" name="文本框 1"/>
          <p:cNvSpPr txBox="1"/>
          <p:nvPr/>
        </p:nvSpPr>
        <p:spPr>
          <a:xfrm>
            <a:off x="328724" y="3747116"/>
            <a:ext cx="54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如果你遇到了问题</a:t>
            </a:r>
            <a:r>
              <a:rPr lang="en-US" altLang="zh-CN" sz="2400" dirty="0">
                <a:solidFill>
                  <a:srgbClr val="00B0F0"/>
                </a:solidFill>
              </a:rPr>
              <a:t>……</a:t>
            </a:r>
            <a:r>
              <a:rPr lang="zh-CN" altLang="en-US" sz="2400" dirty="0">
                <a:solidFill>
                  <a:srgbClr val="00B0F0"/>
                </a:solidFill>
              </a:rPr>
              <a:t>请求助老师</a:t>
            </a:r>
            <a:endParaRPr lang="en-US" altLang="zh-CN" sz="2400" dirty="0">
              <a:solidFill>
                <a:srgbClr val="00B0F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0072" y="3350239"/>
            <a:ext cx="1540086" cy="12554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8724" y="4193922"/>
            <a:ext cx="54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就像这样</a:t>
            </a:r>
            <a:r>
              <a:rPr lang="en-US" altLang="zh-CN" sz="2400" dirty="0">
                <a:solidFill>
                  <a:srgbClr val="00B0F0"/>
                </a:solidFill>
              </a:rPr>
              <a:t>……</a:t>
            </a:r>
            <a:endParaRPr lang="en-US" altLang="zh-CN" sz="24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28132" y="412522"/>
            <a:ext cx="9080372" cy="4443957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51587"/>
            <a:ext cx="8824928" cy="4240583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379410"/>
            <a:ext cx="3898776" cy="295897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编写第一个程序</a:t>
            </a:r>
            <a:endParaRPr lang="en-US" altLang="zh-CN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b="0" dirty="0"/>
              <a:t>在编辑界面输入如下代码：</a:t>
            </a:r>
            <a:endParaRPr lang="zh-CN" altLang="en-US" b="0" dirty="0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341984" y="2792274"/>
            <a:ext cx="1257908" cy="13234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 err="1">
                <a:latin typeface="+mn-lt"/>
                <a:ea typeface="Cambria Math" panose="02040503050406030204" pitchFamily="18" charset="0"/>
                <a:cs typeface="Calibri" panose="020F0502020204030204" pitchFamily="34" charset="0"/>
              </a:rPr>
              <a:t>int</a:t>
            </a:r>
            <a:r>
              <a:rPr lang="en-US" altLang="zh-CN" sz="2000" dirty="0">
                <a:latin typeface="+mn-lt"/>
                <a:ea typeface="Cambria Math" panose="02040503050406030204" pitchFamily="18" charset="0"/>
                <a:cs typeface="Calibri" panose="020F0502020204030204" pitchFamily="34" charset="0"/>
              </a:rPr>
              <a:t> main( )</a:t>
            </a:r>
            <a:endParaRPr lang="en-US" altLang="zh-CN" sz="2000" dirty="0">
              <a:latin typeface="+mn-lt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sz="2000" dirty="0">
                <a:latin typeface="+mn-lt"/>
                <a:ea typeface="Cambria Math" panose="02040503050406030204" pitchFamily="18" charset="0"/>
                <a:cs typeface="Calibri" panose="020F0502020204030204" pitchFamily="34" charset="0"/>
              </a:rPr>
              <a:t>{</a:t>
            </a:r>
            <a:endParaRPr lang="en-US" altLang="zh-CN" sz="2000" dirty="0">
              <a:latin typeface="+mn-lt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sz="2000" dirty="0">
                <a:latin typeface="+mn-lt"/>
                <a:ea typeface="Cambria Math" panose="02040503050406030204" pitchFamily="18" charset="0"/>
                <a:cs typeface="Calibri" panose="020F0502020204030204" pitchFamily="34" charset="0"/>
              </a:rPr>
              <a:t>  return 0;</a:t>
            </a:r>
            <a:endParaRPr lang="en-US" altLang="zh-CN" sz="2000" dirty="0">
              <a:latin typeface="+mn-lt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sz="2000" dirty="0">
                <a:latin typeface="+mn-lt"/>
                <a:ea typeface="Cambria Math" panose="02040503050406030204" pitchFamily="18" charset="0"/>
                <a:cs typeface="Calibri" panose="020F0502020204030204" pitchFamily="34" charset="0"/>
              </a:rPr>
              <a:t>}</a:t>
            </a:r>
            <a:endParaRPr lang="en-US" altLang="zh-CN" sz="2000" dirty="0">
              <a:latin typeface="+mn-lt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7" name="内容占位符 2"/>
          <p:cNvSpPr txBox="1"/>
          <p:nvPr/>
        </p:nvSpPr>
        <p:spPr>
          <a:xfrm>
            <a:off x="4510336" y="1379409"/>
            <a:ext cx="3898776" cy="2958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/>
              <a:t>保存程序</a:t>
            </a:r>
            <a:endParaRPr lang="en-US" altLang="zh-CN" dirty="0"/>
          </a:p>
          <a:p>
            <a:pPr marL="5715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b="0" dirty="0"/>
              <a:t>C++</a:t>
            </a:r>
            <a:r>
              <a:rPr lang="zh-CN" altLang="en-US" sz="2000" b="0" dirty="0"/>
              <a:t>的源程序以</a:t>
            </a:r>
            <a:r>
              <a:rPr lang="en-US" altLang="zh-CN" sz="2000" b="0" dirty="0"/>
              <a:t>.</a:t>
            </a:r>
            <a:r>
              <a:rPr lang="en-US" altLang="zh-CN" sz="2000" b="0" dirty="0" err="1"/>
              <a:t>cpp</a:t>
            </a:r>
            <a:r>
              <a:rPr lang="zh-CN" altLang="en-US" sz="2000" b="0" dirty="0"/>
              <a:t>作为后缀。</a:t>
            </a:r>
            <a:endParaRPr lang="en-US" altLang="zh-CN" sz="2000" b="0" dirty="0"/>
          </a:p>
          <a:p>
            <a:pPr marL="5715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0" dirty="0"/>
              <a:t>选择“文件”</a:t>
            </a:r>
            <a:r>
              <a:rPr lang="en-US" altLang="zh-CN" sz="2000" b="0" dirty="0">
                <a:sym typeface="Wingdings" panose="05000000000000000000" pitchFamily="2" charset="2"/>
              </a:rPr>
              <a:t></a:t>
            </a:r>
            <a:r>
              <a:rPr lang="zh-CN" altLang="en-US" sz="2000" b="0" dirty="0">
                <a:sym typeface="Wingdings" panose="05000000000000000000" pitchFamily="2" charset="2"/>
              </a:rPr>
              <a:t>“保存”，填入合适的名字，保存到指定的文件中。</a:t>
            </a:r>
            <a:endParaRPr lang="en-US" altLang="zh-CN" sz="2000" b="0" dirty="0">
              <a:sym typeface="Wingdings" panose="05000000000000000000" pitchFamily="2" charset="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471" y="3531623"/>
            <a:ext cx="929971" cy="9785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28132" y="292862"/>
            <a:ext cx="9080372" cy="4491862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05874"/>
            <a:ext cx="8824928" cy="4286296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1568" y="1092262"/>
            <a:ext cx="8003232" cy="295897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编译程序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sz="1800" b="0" dirty="0"/>
              <a:t>必须把用高级语言写的源程序翻译成可执行的目标文件，叫做编译。</a:t>
            </a:r>
            <a:endParaRPr lang="en-US" altLang="zh-CN" sz="1800" b="0" dirty="0"/>
          </a:p>
          <a:p>
            <a:pPr lvl="1">
              <a:lnSpc>
                <a:spcPct val="150000"/>
              </a:lnSpc>
            </a:pPr>
            <a:r>
              <a:rPr lang="zh-CN" altLang="en-US" sz="1800" b="0" dirty="0"/>
              <a:t>完成这个任务的软件，叫做编译程序、编译器。</a:t>
            </a:r>
            <a:endParaRPr lang="en-US" altLang="zh-CN" sz="1800" b="0" dirty="0"/>
          </a:p>
          <a:p>
            <a:pPr lvl="1">
              <a:lnSpc>
                <a:spcPct val="150000"/>
              </a:lnSpc>
            </a:pPr>
            <a:r>
              <a:rPr lang="zh-CN" altLang="en-US" sz="1800" b="0" dirty="0"/>
              <a:t>选择“运行”</a:t>
            </a:r>
            <a:r>
              <a:rPr lang="en-US" altLang="zh-CN" sz="1800" b="0" dirty="0">
                <a:sym typeface="Wingdings" panose="05000000000000000000" pitchFamily="2" charset="2"/>
              </a:rPr>
              <a:t>"</a:t>
            </a:r>
            <a:r>
              <a:rPr lang="zh-CN" altLang="en-US" sz="1800" b="0" dirty="0">
                <a:sym typeface="Wingdings" panose="05000000000000000000" pitchFamily="2" charset="2"/>
              </a:rPr>
              <a:t>编译</a:t>
            </a:r>
            <a:r>
              <a:rPr lang="en-US" altLang="zh-CN" sz="1800" b="0" dirty="0">
                <a:sym typeface="Wingdings" panose="05000000000000000000" pitchFamily="2" charset="2"/>
              </a:rPr>
              <a:t>",</a:t>
            </a:r>
            <a:r>
              <a:rPr lang="zh-CN" altLang="en-US" sz="1800" b="0" dirty="0">
                <a:sym typeface="Wingdings" panose="05000000000000000000" pitchFamily="2" charset="2"/>
              </a:rPr>
              <a:t>对代码进行编译操作。</a:t>
            </a:r>
            <a:r>
              <a:rPr lang="en-US" altLang="zh-CN" sz="1800" b="0" dirty="0">
                <a:sym typeface="Wingdings" panose="05000000000000000000" pitchFamily="2" charset="2"/>
              </a:rPr>
              <a:t>(</a:t>
            </a:r>
            <a:r>
              <a:rPr lang="zh-CN" altLang="en-US" sz="1800" dirty="0">
                <a:solidFill>
                  <a:srgbClr val="C00000"/>
                </a:solidFill>
                <a:sym typeface="Wingdings" panose="05000000000000000000" pitchFamily="2" charset="2"/>
              </a:rPr>
              <a:t>快捷键是</a:t>
            </a:r>
            <a:r>
              <a:rPr lang="en-US" altLang="zh-CN" sz="1800" dirty="0">
                <a:solidFill>
                  <a:srgbClr val="C00000"/>
                </a:solidFill>
                <a:sym typeface="Wingdings" panose="05000000000000000000" pitchFamily="2" charset="2"/>
              </a:rPr>
              <a:t>F9)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b="0" dirty="0"/>
              <a:t>如果程序没有保存，或者有新的改动，会提示先进行保存操作。</a:t>
            </a:r>
            <a:endParaRPr lang="en-US" altLang="zh-CN" sz="1800" b="0" dirty="0"/>
          </a:p>
          <a:p>
            <a:pPr lvl="1">
              <a:lnSpc>
                <a:spcPct val="150000"/>
              </a:lnSpc>
            </a:pPr>
            <a:r>
              <a:rPr lang="zh-CN" altLang="en-US" sz="1800" b="0" dirty="0"/>
              <a:t>如果有语法错误，会显示错误信息，请检查程序输入是否有误。</a:t>
            </a:r>
            <a:endParaRPr lang="en-US" altLang="zh-CN" sz="1800" b="0" dirty="0"/>
          </a:p>
          <a:p>
            <a:pPr lvl="1">
              <a:lnSpc>
                <a:spcPct val="150000"/>
              </a:lnSpc>
            </a:pPr>
            <a:r>
              <a:rPr lang="zh-CN" altLang="en-US" sz="1800" b="0" dirty="0"/>
              <a:t>如果正确，编译完成，得到一个可执行的</a:t>
            </a:r>
            <a:r>
              <a:rPr lang="en-US" altLang="zh-CN" sz="1800" b="0" dirty="0"/>
              <a:t>.exe</a:t>
            </a:r>
            <a:r>
              <a:rPr lang="zh-CN" altLang="en-US" sz="1800" b="0" dirty="0"/>
              <a:t>文件。</a:t>
            </a:r>
            <a:endParaRPr lang="en-US" altLang="zh-CN" sz="1800" b="0" dirty="0"/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001" y="3527076"/>
            <a:ext cx="1444011" cy="108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28132" y="196751"/>
            <a:ext cx="9080372" cy="458797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314161"/>
            <a:ext cx="8824928" cy="4378009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843558"/>
            <a:ext cx="8003232" cy="2958976"/>
          </a:xfrm>
        </p:spPr>
        <p:txBody>
          <a:bodyPr/>
          <a:lstStyle/>
          <a:p>
            <a:r>
              <a:rPr lang="zh-CN" altLang="en-US" dirty="0"/>
              <a:t>运行程序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sz="1800" b="0" dirty="0"/>
              <a:t>程序必须先编译通过，没有语法错误，才可以运行。</a:t>
            </a:r>
            <a:endParaRPr lang="en-US" altLang="zh-CN" sz="1800" b="0" dirty="0"/>
          </a:p>
          <a:p>
            <a:pPr lvl="1">
              <a:lnSpc>
                <a:spcPct val="150000"/>
              </a:lnSpc>
            </a:pPr>
            <a:r>
              <a:rPr lang="zh-CN" altLang="en-US" sz="1800" b="0" dirty="0"/>
              <a:t>选择</a:t>
            </a:r>
            <a:r>
              <a:rPr lang="en-US" altLang="zh-CN" sz="1800" b="0" dirty="0"/>
              <a:t>"</a:t>
            </a:r>
            <a:r>
              <a:rPr lang="zh-CN" altLang="en-US" sz="1800" b="0" dirty="0"/>
              <a:t>运行</a:t>
            </a:r>
            <a:r>
              <a:rPr lang="en-US" altLang="zh-CN" sz="1800" b="0" dirty="0"/>
              <a:t>"</a:t>
            </a:r>
            <a:r>
              <a:rPr lang="en-US" altLang="zh-CN" sz="1800" b="0" dirty="0">
                <a:sym typeface="Wingdings" panose="05000000000000000000" pitchFamily="2" charset="2"/>
              </a:rPr>
              <a:t>"</a:t>
            </a:r>
            <a:r>
              <a:rPr lang="zh-CN" altLang="en-US" sz="1800" b="0" dirty="0">
                <a:sym typeface="Wingdings" panose="05000000000000000000" pitchFamily="2" charset="2"/>
              </a:rPr>
              <a:t>运行</a:t>
            </a:r>
            <a:r>
              <a:rPr lang="en-US" altLang="zh-CN" sz="1800" b="0" dirty="0">
                <a:sym typeface="Wingdings" panose="05000000000000000000" pitchFamily="2" charset="2"/>
              </a:rPr>
              <a:t>"</a:t>
            </a:r>
            <a:r>
              <a:rPr lang="zh-CN" altLang="en-US" sz="1800" b="0" dirty="0">
                <a:sym typeface="Wingdings" panose="05000000000000000000" pitchFamily="2" charset="2"/>
              </a:rPr>
              <a:t>菜单来执行程序。</a:t>
            </a:r>
            <a:r>
              <a:rPr lang="en-US" altLang="zh-CN" sz="1800" dirty="0">
                <a:solidFill>
                  <a:srgbClr val="C00000"/>
                </a:solidFill>
                <a:sym typeface="Wingdings" panose="05000000000000000000" pitchFamily="2" charset="2"/>
              </a:rPr>
              <a:t>(</a:t>
            </a:r>
            <a:r>
              <a:rPr lang="zh-CN" altLang="en-US" sz="1800" dirty="0">
                <a:solidFill>
                  <a:srgbClr val="C00000"/>
                </a:solidFill>
                <a:sym typeface="Wingdings" panose="05000000000000000000" pitchFamily="2" charset="2"/>
              </a:rPr>
              <a:t>快捷键是</a:t>
            </a:r>
            <a:r>
              <a:rPr lang="en-US" altLang="zh-CN" sz="1800" dirty="0">
                <a:solidFill>
                  <a:srgbClr val="C00000"/>
                </a:solidFill>
                <a:sym typeface="Wingdings" panose="05000000000000000000" pitchFamily="2" charset="2"/>
              </a:rPr>
              <a:t>F10)</a:t>
            </a:r>
            <a:endParaRPr lang="en-US" altLang="zh-CN" sz="1800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b="0" dirty="0">
                <a:sym typeface="Wingdings" panose="05000000000000000000" pitchFamily="2" charset="2"/>
              </a:rPr>
              <a:t>我们的第一个程序只有一个</a:t>
            </a:r>
            <a:r>
              <a:rPr lang="en-US" altLang="zh-CN" sz="1800" b="0" dirty="0">
                <a:sym typeface="Wingdings" panose="05000000000000000000" pitchFamily="2" charset="2"/>
              </a:rPr>
              <a:t>return</a:t>
            </a:r>
            <a:r>
              <a:rPr lang="zh-CN" altLang="en-US" sz="1800" b="0" dirty="0">
                <a:sym typeface="Wingdings" panose="05000000000000000000" pitchFamily="2" charset="2"/>
              </a:rPr>
              <a:t>语句，在运行时没有任何输出信息。</a:t>
            </a:r>
            <a:endParaRPr lang="en-US" altLang="zh-CN" sz="1800" b="0" dirty="0"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b="0" dirty="0">
                <a:sym typeface="Wingdings" panose="05000000000000000000" pitchFamily="2" charset="2"/>
              </a:rPr>
              <a:t>编译和运行两个步骤，可放在一起，选择“运行”</a:t>
            </a:r>
            <a:r>
              <a:rPr lang="en-US" altLang="zh-CN" sz="1800" b="0" dirty="0">
                <a:sym typeface="Wingdings" panose="05000000000000000000" pitchFamily="2" charset="2"/>
              </a:rPr>
              <a:t>"</a:t>
            </a:r>
            <a:r>
              <a:rPr lang="zh-CN" altLang="en-US" sz="1800" b="0" dirty="0">
                <a:sym typeface="Wingdings" panose="05000000000000000000" pitchFamily="2" charset="2"/>
              </a:rPr>
              <a:t>编译运行</a:t>
            </a:r>
            <a:r>
              <a:rPr lang="en-US" altLang="zh-CN" sz="1800" b="0" dirty="0">
                <a:sym typeface="Wingdings" panose="05000000000000000000" pitchFamily="2" charset="2"/>
              </a:rPr>
              <a:t>"</a:t>
            </a:r>
            <a:r>
              <a:rPr lang="zh-CN" altLang="en-US" sz="1800" b="0" dirty="0">
                <a:sym typeface="Wingdings" panose="05000000000000000000" pitchFamily="2" charset="2"/>
              </a:rPr>
              <a:t>。</a:t>
            </a:r>
            <a:r>
              <a:rPr lang="en-US" altLang="zh-CN" sz="1800" dirty="0">
                <a:solidFill>
                  <a:srgbClr val="C00000"/>
                </a:solidFill>
                <a:sym typeface="Wingdings" panose="05000000000000000000" pitchFamily="2" charset="2"/>
              </a:rPr>
              <a:t>(</a:t>
            </a:r>
            <a:r>
              <a:rPr lang="zh-CN" altLang="en-US" sz="1800" dirty="0">
                <a:solidFill>
                  <a:srgbClr val="C00000"/>
                </a:solidFill>
                <a:sym typeface="Wingdings" panose="05000000000000000000" pitchFamily="2" charset="2"/>
              </a:rPr>
              <a:t>快捷键是</a:t>
            </a:r>
            <a:r>
              <a:rPr lang="en-US" altLang="zh-CN" sz="1800" dirty="0">
                <a:solidFill>
                  <a:srgbClr val="C00000"/>
                </a:solidFill>
                <a:sym typeface="Wingdings" panose="05000000000000000000" pitchFamily="2" charset="2"/>
              </a:rPr>
              <a:t>F11)</a:t>
            </a:r>
            <a:endParaRPr lang="en-US" altLang="zh-CN" sz="1800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lvl="1"/>
            <a:endParaRPr lang="en-US" altLang="zh-CN" sz="1800" dirty="0"/>
          </a:p>
          <a:p>
            <a:pPr marL="457200" lvl="1" indent="0">
              <a:buNone/>
            </a:pP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782" y="3162796"/>
            <a:ext cx="1408592" cy="14128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28132" y="296122"/>
            <a:ext cx="9080372" cy="4560357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340514"/>
            <a:ext cx="8824928" cy="4351656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915566"/>
            <a:ext cx="7416824" cy="295897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endParaRPr lang="en-US" altLang="zh-CN" dirty="0">
              <a:solidFill>
                <a:srgbClr val="00B0F0"/>
              </a:solidFill>
            </a:endParaRPr>
          </a:p>
          <a:p>
            <a:pPr lvl="1"/>
            <a:r>
              <a:rPr lang="en-US" altLang="zh-CN" sz="3200" dirty="0" err="1"/>
              <a:t>Dev</a:t>
            </a:r>
            <a:r>
              <a:rPr lang="en-US" altLang="zh-CN" sz="3200" dirty="0"/>
              <a:t> developer  "</a:t>
            </a:r>
            <a:r>
              <a:rPr lang="zh-CN" altLang="en-US" sz="3200" dirty="0"/>
              <a:t>开发者</a:t>
            </a:r>
            <a:r>
              <a:rPr lang="en-US" altLang="zh-CN" sz="3200" dirty="0"/>
              <a:t>"</a:t>
            </a:r>
            <a:r>
              <a:rPr lang="zh-CN" altLang="en-US" sz="3200" dirty="0"/>
              <a:t>的缩写</a:t>
            </a:r>
            <a:endParaRPr lang="en-US" altLang="zh-CN" sz="3200" dirty="0"/>
          </a:p>
          <a:p>
            <a:pPr lvl="1"/>
            <a:r>
              <a:rPr lang="en-US" altLang="zh-CN" sz="3200" dirty="0" err="1"/>
              <a:t>int</a:t>
            </a:r>
            <a:r>
              <a:rPr lang="en-US" altLang="zh-CN" sz="3200" dirty="0"/>
              <a:t>  </a:t>
            </a:r>
            <a:r>
              <a:rPr lang="zh-CN" altLang="en-US" sz="3200" dirty="0"/>
              <a:t>整数，整型</a:t>
            </a:r>
            <a:endParaRPr lang="en-US" altLang="zh-CN" sz="3200" dirty="0"/>
          </a:p>
          <a:p>
            <a:pPr lvl="1"/>
            <a:r>
              <a:rPr lang="en-US" altLang="zh-CN" sz="3200" dirty="0"/>
              <a:t>main  </a:t>
            </a:r>
            <a:r>
              <a:rPr lang="zh-CN" altLang="en-US" sz="3200" dirty="0"/>
              <a:t>主要的，主函数</a:t>
            </a:r>
            <a:endParaRPr lang="en-US" altLang="zh-CN" sz="3200" dirty="0"/>
          </a:p>
          <a:p>
            <a:pPr lvl="1"/>
            <a:r>
              <a:rPr lang="en-US" altLang="zh-CN" sz="3200" dirty="0"/>
              <a:t>return  </a:t>
            </a:r>
            <a:r>
              <a:rPr lang="zh-CN" altLang="en-US" sz="3200" dirty="0"/>
              <a:t>返回</a:t>
            </a:r>
            <a:endParaRPr lang="en-US" altLang="zh-CN" sz="3200" dirty="0"/>
          </a:p>
          <a:p>
            <a:pPr marL="457200" lvl="1" indent="0">
              <a:buNone/>
            </a:pP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539" y="2997315"/>
            <a:ext cx="2934097" cy="15593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28132" y="371584"/>
            <a:ext cx="9080372" cy="4484895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12522"/>
            <a:ext cx="8824928" cy="4279648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9574" y="822020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牛刀“大”试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28661" y="1707654"/>
            <a:ext cx="5544616" cy="273630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、编程题</a:t>
            </a:r>
            <a:endParaRPr lang="en-US" altLang="zh-CN" sz="2000" dirty="0"/>
          </a:p>
          <a:p>
            <a:pPr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0" dirty="0"/>
              <a:t>打开</a:t>
            </a:r>
            <a:r>
              <a:rPr lang="en-US" altLang="zh-CN" sz="1800" b="0" dirty="0" err="1"/>
              <a:t>Dev</a:t>
            </a:r>
            <a:r>
              <a:rPr lang="en-US" altLang="zh-CN" sz="1800" b="0" dirty="0"/>
              <a:t>-C++</a:t>
            </a:r>
            <a:endParaRPr lang="en-US" altLang="zh-CN" sz="1800" b="0" dirty="0"/>
          </a:p>
          <a:p>
            <a:pPr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0" dirty="0"/>
              <a:t>新建源代码</a:t>
            </a:r>
            <a:endParaRPr lang="en-US" altLang="zh-CN" sz="1800" b="0" dirty="0"/>
          </a:p>
          <a:p>
            <a:pPr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0" dirty="0"/>
              <a:t>输入右边的程序</a:t>
            </a:r>
            <a:endParaRPr lang="en-US" altLang="zh-CN" sz="1800" b="0" dirty="0"/>
          </a:p>
          <a:p>
            <a:pPr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0" dirty="0"/>
              <a:t>保存为：</a:t>
            </a:r>
            <a:r>
              <a:rPr lang="en-US" altLang="zh-CN" sz="1800" b="0" dirty="0"/>
              <a:t>p1-1.cpp</a:t>
            </a:r>
            <a:endParaRPr lang="en-US" altLang="zh-CN" sz="1800" b="0" dirty="0"/>
          </a:p>
          <a:p>
            <a:pPr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0" dirty="0"/>
              <a:t>编译并运行程序，如果有错误，试着检查源程序并改正。</a:t>
            </a:r>
            <a:endParaRPr lang="zh-CN" altLang="en-US" sz="1800" b="0" dirty="0"/>
          </a:p>
        </p:txBody>
      </p:sp>
      <p:sp>
        <p:nvSpPr>
          <p:cNvPr id="4" name="TextBox 3"/>
          <p:cNvSpPr txBox="1"/>
          <p:nvPr/>
        </p:nvSpPr>
        <p:spPr>
          <a:xfrm>
            <a:off x="536864" y="1584893"/>
            <a:ext cx="203132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C++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编写的源程序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扩展名为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(    )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 err="1">
                <a:latin typeface="仿宋" panose="02010609060101010101" pitchFamily="49" charset="-122"/>
                <a:ea typeface="仿宋" panose="02010609060101010101" pitchFamily="49" charset="-122"/>
              </a:rPr>
              <a:t>cpp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doc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jpg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mp3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6040942" y="2015307"/>
            <a:ext cx="1266501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 err="1">
                <a:latin typeface="+mn-lt"/>
                <a:ea typeface="Cambria Math" panose="02040503050406030204" pitchFamily="18" charset="0"/>
                <a:cs typeface="Calibri" panose="020F0502020204030204" pitchFamily="34" charset="0"/>
              </a:rPr>
              <a:t>int</a:t>
            </a:r>
            <a:r>
              <a:rPr lang="en-US" altLang="zh-CN" dirty="0">
                <a:latin typeface="+mn-lt"/>
                <a:ea typeface="Cambria Math" panose="02040503050406030204" pitchFamily="18" charset="0"/>
                <a:cs typeface="Calibri" panose="020F0502020204030204" pitchFamily="34" charset="0"/>
              </a:rPr>
              <a:t> main( )</a:t>
            </a:r>
            <a:endParaRPr lang="en-US" altLang="zh-CN" dirty="0">
              <a:latin typeface="+mn-lt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dirty="0">
                <a:latin typeface="+mn-lt"/>
                <a:ea typeface="Cambria Math" panose="02040503050406030204" pitchFamily="18" charset="0"/>
                <a:cs typeface="Calibri" panose="020F0502020204030204" pitchFamily="34" charset="0"/>
              </a:rPr>
              <a:t>{</a:t>
            </a:r>
            <a:endParaRPr lang="en-US" altLang="zh-CN" dirty="0">
              <a:latin typeface="+mn-lt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dirty="0">
                <a:latin typeface="+mn-lt"/>
                <a:ea typeface="Cambria Math" panose="02040503050406030204" pitchFamily="18" charset="0"/>
                <a:cs typeface="Calibri" panose="020F0502020204030204" pitchFamily="34" charset="0"/>
              </a:rPr>
              <a:t>    ;</a:t>
            </a:r>
            <a:endParaRPr lang="en-US" altLang="zh-CN" dirty="0">
              <a:latin typeface="+mn-lt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dirty="0">
                <a:latin typeface="+mn-lt"/>
                <a:ea typeface="Cambria Math" panose="02040503050406030204" pitchFamily="18" charset="0"/>
                <a:cs typeface="Calibri" panose="020F0502020204030204" pitchFamily="34" charset="0"/>
              </a:rPr>
              <a:t>    return 0;</a:t>
            </a:r>
            <a:endParaRPr lang="en-US" altLang="zh-CN" dirty="0">
              <a:latin typeface="+mn-lt"/>
              <a:ea typeface="Cambria Math" panose="02040503050406030204" pitchFamily="18" charset="0"/>
              <a:cs typeface="Calibri" panose="020F0502020204030204" pitchFamily="34" charset="0"/>
            </a:endParaRPr>
          </a:p>
          <a:p>
            <a:pPr eaLnBrk="1" hangingPunct="1"/>
            <a:r>
              <a:rPr lang="en-US" altLang="zh-CN" dirty="0">
                <a:latin typeface="+mn-lt"/>
                <a:ea typeface="Cambria Math" panose="02040503050406030204" pitchFamily="18" charset="0"/>
                <a:cs typeface="Calibri" panose="020F0502020204030204" pitchFamily="34" charset="0"/>
              </a:rPr>
              <a:t>}</a:t>
            </a:r>
            <a:endParaRPr lang="en-US" altLang="zh-CN" dirty="0">
              <a:latin typeface="+mn-lt"/>
              <a:ea typeface="Cambria Math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471" y="978530"/>
            <a:ext cx="1212726" cy="12127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943</Words>
  <Application>WPS 演示</Application>
  <PresentationFormat>全屏显示(16:9)</PresentationFormat>
  <Paragraphs>117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黑体</vt:lpstr>
      <vt:lpstr>仿宋</vt:lpstr>
      <vt:lpstr>微软雅黑</vt:lpstr>
      <vt:lpstr>隶书</vt:lpstr>
      <vt:lpstr>楷体</vt:lpstr>
      <vt:lpstr>Calibri</vt:lpstr>
      <vt:lpstr>Cambria Math</vt:lpstr>
      <vt:lpstr>Arial Unicode MS</vt:lpstr>
      <vt:lpstr>Office 主题</vt:lpstr>
      <vt:lpstr>PowerPoint 演示文稿</vt:lpstr>
      <vt:lpstr>顺序结构</vt:lpstr>
      <vt:lpstr>认识Dev-C++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牛刀“大”试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79</cp:revision>
  <dcterms:created xsi:type="dcterms:W3CDTF">2018-07-03T13:24:00Z</dcterms:created>
  <dcterms:modified xsi:type="dcterms:W3CDTF">2021-04-12T07:15:41Z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