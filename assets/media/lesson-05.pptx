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76" r:id="rId4"/>
    <p:sldId id="283" r:id="rId5"/>
    <p:sldId id="284" r:id="rId6"/>
    <p:sldId id="285" r:id="rId7"/>
    <p:sldId id="275" r:id="rId8"/>
    <p:sldId id="282" r:id="rId9"/>
    <p:sldId id="277" r:id="rId10"/>
    <p:sldId id="268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0005" y="-44450"/>
            <a:ext cx="9223375" cy="518795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755576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454912" y="23557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47664" y="32558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列朋波骨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32345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列朋波骨  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计数器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4" name="矩形: 圆角 4"/>
          <p:cNvSpPr>
            <a:spLocks noChangeArrowheads="1"/>
          </p:cNvSpPr>
          <p:nvPr/>
        </p:nvSpPr>
        <p:spPr bwMode="auto">
          <a:xfrm>
            <a:off x="4355976" y="1491630"/>
            <a:ext cx="4087853" cy="170942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明明</a:t>
            </a: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每天背一首古诗后，</a:t>
            </a:r>
            <a:r>
              <a:rPr 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模仿古人在一根木棒上刻一条痕，若连续刻了</a:t>
            </a:r>
            <a:r>
              <a:rPr 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天，试编一程序</a:t>
            </a:r>
            <a:r>
              <a:rPr 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算算一共有多少道痕</a:t>
            </a:r>
            <a:r>
              <a:rPr 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95536" y="1491630"/>
            <a:ext cx="2155110" cy="2656239"/>
            <a:chOff x="395536" y="1491630"/>
            <a:chExt cx="2155110" cy="2656239"/>
          </a:xfrm>
        </p:grpSpPr>
        <p:pic>
          <p:nvPicPr>
            <p:cNvPr id="13" name="图片 12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568" y="1491630"/>
              <a:ext cx="1492238" cy="2536804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395536" y="1491630"/>
              <a:ext cx="2155110" cy="2656239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17" y="3200950"/>
            <a:ext cx="1385783" cy="1419419"/>
          </a:xfrm>
          <a:prstGeom prst="rect">
            <a:avLst/>
          </a:prstGeom>
        </p:spPr>
      </p:pic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795" y="2583815"/>
            <a:ext cx="1744345" cy="17513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矩形 3"/>
          <p:cNvSpPr/>
          <p:nvPr/>
        </p:nvSpPr>
        <p:spPr>
          <a:xfrm>
            <a:off x="276291" y="977374"/>
            <a:ext cx="2664296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i;</a:t>
            </a:r>
            <a:endParaRPr lang="en-US" altLang="zh-CN" sz="1600" dirty="0"/>
          </a:p>
          <a:p>
            <a:r>
              <a:rPr lang="en-US" altLang="zh-CN" sz="1600" dirty="0"/>
              <a:t>    i=0;</a:t>
            </a:r>
            <a:endParaRPr lang="en-US" altLang="zh-CN" sz="1600" dirty="0"/>
          </a:p>
          <a:p>
            <a:r>
              <a:rPr lang="en-US" altLang="zh-CN" sz="1600" dirty="0"/>
              <a:t>    i=i+1;</a:t>
            </a:r>
            <a:endParaRPr lang="en-US" altLang="zh-CN" sz="1600" dirty="0"/>
          </a:p>
          <a:p>
            <a:r>
              <a:rPr lang="en-US" altLang="zh-CN" sz="1600" dirty="0"/>
              <a:t>    i=i+1;</a:t>
            </a:r>
            <a:endParaRPr lang="en-US" altLang="zh-CN" sz="1600" dirty="0"/>
          </a:p>
          <a:p>
            <a:r>
              <a:rPr lang="en-US" altLang="zh-CN" sz="1600" dirty="0"/>
              <a:t>    i=i+1;</a:t>
            </a:r>
            <a:endParaRPr lang="en-US" altLang="zh-CN" sz="1600" dirty="0"/>
          </a:p>
          <a:p>
            <a:r>
              <a:rPr lang="en-US" altLang="zh-CN" sz="1600" dirty="0"/>
              <a:t>    i=i+1;</a:t>
            </a:r>
            <a:endParaRPr lang="en-US" altLang="zh-CN" sz="1600" dirty="0"/>
          </a:p>
          <a:p>
            <a:r>
              <a:rPr lang="en-US" altLang="zh-CN" sz="1600" dirty="0"/>
              <a:t>    i=i+1;	 	 	 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&lt;&lt;i; </a:t>
            </a:r>
            <a:endParaRPr lang="en-US" altLang="zh-CN" sz="1600" dirty="0"/>
          </a:p>
          <a:p>
            <a:r>
              <a:rPr lang="en-US" altLang="zh-CN" sz="1600" dirty="0"/>
              <a:t>    return 0;</a:t>
            </a:r>
            <a:endParaRPr lang="en-US" altLang="zh-CN" sz="1600" dirty="0"/>
          </a:p>
          <a:p>
            <a:r>
              <a:rPr lang="en-US" altLang="zh-CN" sz="1600" dirty="0"/>
              <a:t> }</a:t>
            </a:r>
            <a:endParaRPr lang="en-US" altLang="zh-CN" sz="1600" dirty="0"/>
          </a:p>
        </p:txBody>
      </p:sp>
      <p:grpSp>
        <p:nvGrpSpPr>
          <p:cNvPr id="22" name="组合 21"/>
          <p:cNvGrpSpPr/>
          <p:nvPr/>
        </p:nvGrpSpPr>
        <p:grpSpPr>
          <a:xfrm>
            <a:off x="2152445" y="1193053"/>
            <a:ext cx="1297384" cy="3357577"/>
            <a:chOff x="2771800" y="1121404"/>
            <a:chExt cx="1297384" cy="3357577"/>
          </a:xfrm>
        </p:grpSpPr>
        <p:grpSp>
          <p:nvGrpSpPr>
            <p:cNvPr id="9" name="组合 33"/>
            <p:cNvGrpSpPr/>
            <p:nvPr/>
          </p:nvGrpSpPr>
          <p:grpSpPr bwMode="auto">
            <a:xfrm>
              <a:off x="2771800" y="1121404"/>
              <a:ext cx="1297384" cy="1090306"/>
              <a:chOff x="0" y="0"/>
              <a:chExt cx="1800200" cy="1512252"/>
            </a:xfrm>
          </p:grpSpPr>
          <p:pic>
            <p:nvPicPr>
              <p:cNvPr id="10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矩形 35"/>
              <p:cNvSpPr/>
              <p:nvPr/>
            </p:nvSpPr>
            <p:spPr>
              <a:xfrm>
                <a:off x="611181" y="441139"/>
                <a:ext cx="754471" cy="725705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计</a:t>
                </a:r>
                <a:endParaRPr lang="zh-CN" altLang="en-US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12" name="组合 33"/>
            <p:cNvGrpSpPr/>
            <p:nvPr/>
          </p:nvGrpSpPr>
          <p:grpSpPr bwMode="auto">
            <a:xfrm>
              <a:off x="2771800" y="2255039"/>
              <a:ext cx="1297384" cy="1090306"/>
              <a:chOff x="0" y="0"/>
              <a:chExt cx="1800200" cy="1512252"/>
            </a:xfrm>
          </p:grpSpPr>
          <p:pic>
            <p:nvPicPr>
              <p:cNvPr id="16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" name="矩形 35"/>
              <p:cNvSpPr/>
              <p:nvPr/>
            </p:nvSpPr>
            <p:spPr>
              <a:xfrm>
                <a:off x="611181" y="441139"/>
                <a:ext cx="754471" cy="725705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数</a:t>
                </a:r>
                <a:endParaRPr lang="zh-CN" altLang="en-US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18" name="组合 33"/>
            <p:cNvGrpSpPr/>
            <p:nvPr/>
          </p:nvGrpSpPr>
          <p:grpSpPr bwMode="auto">
            <a:xfrm>
              <a:off x="2771800" y="3388675"/>
              <a:ext cx="1297384" cy="1090306"/>
              <a:chOff x="0" y="0"/>
              <a:chExt cx="1800200" cy="1512252"/>
            </a:xfrm>
          </p:grpSpPr>
          <p:pic>
            <p:nvPicPr>
              <p:cNvPr id="19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矩形 35"/>
              <p:cNvSpPr/>
              <p:nvPr/>
            </p:nvSpPr>
            <p:spPr>
              <a:xfrm>
                <a:off x="611181" y="441139"/>
                <a:ext cx="754471" cy="725705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器</a:t>
                </a:r>
                <a:endParaRPr lang="zh-CN" altLang="en-US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3417252" y="1212996"/>
            <a:ext cx="3193123" cy="3939540"/>
            <a:chOff x="3263086" y="1656546"/>
            <a:chExt cx="3193123" cy="3939540"/>
          </a:xfrm>
        </p:grpSpPr>
        <p:sp>
          <p:nvSpPr>
            <p:cNvPr id="21" name="矩形 20"/>
            <p:cNvSpPr/>
            <p:nvPr/>
          </p:nvSpPr>
          <p:spPr>
            <a:xfrm>
              <a:off x="3263086" y="2499742"/>
              <a:ext cx="1584188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latin typeface="Consolas" panose="020B0609020204030204" pitchFamily="49" charset="0"/>
                  <a:ea typeface="楷体" panose="02010609060101010101" pitchFamily="49" charset="-122"/>
                  <a:cs typeface="Calibri" panose="020F0502020204030204" pitchFamily="34" charset="0"/>
                </a:rPr>
                <a:t> </a:t>
              </a:r>
              <a:r>
                <a:rPr lang="nn-NO" altLang="zh-CN" sz="1600" dirty="0">
                  <a:latin typeface="Consolas" panose="020B0609020204030204" pitchFamily="49" charset="0"/>
                  <a:ea typeface="楷体" panose="02010609060101010101" pitchFamily="49" charset="-122"/>
                  <a:cs typeface="Calibri" panose="020F0502020204030204" pitchFamily="34" charset="0"/>
                </a:rPr>
                <a:t>  i=0;</a:t>
              </a:r>
              <a:endParaRPr lang="nn-NO" altLang="zh-CN" sz="16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nn-NO" altLang="zh-CN" sz="1600" dirty="0">
                  <a:latin typeface="Consolas" panose="020B0609020204030204" pitchFamily="49" charset="0"/>
                  <a:ea typeface="楷体" panose="02010609060101010101" pitchFamily="49" charset="-122"/>
                  <a:cs typeface="Calibri" panose="020F0502020204030204" pitchFamily="34" charset="0"/>
                </a:rPr>
                <a:t>   i=i+1;</a:t>
              </a:r>
              <a:endParaRPr lang="nn-NO" altLang="zh-CN" sz="16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nn-NO" altLang="zh-CN" sz="1600" dirty="0">
                  <a:latin typeface="Consolas" panose="020B0609020204030204" pitchFamily="49" charset="0"/>
                  <a:ea typeface="楷体" panose="02010609060101010101" pitchFamily="49" charset="-122"/>
                  <a:cs typeface="Calibri" panose="020F0502020204030204" pitchFamily="34" charset="0"/>
                </a:rPr>
                <a:t>   i=i+1;</a:t>
              </a:r>
              <a:endParaRPr lang="nn-NO" altLang="zh-CN" sz="16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nn-NO" altLang="zh-CN" sz="1600" dirty="0">
                  <a:latin typeface="Consolas" panose="020B0609020204030204" pitchFamily="49" charset="0"/>
                  <a:ea typeface="楷体" panose="02010609060101010101" pitchFamily="49" charset="-122"/>
                  <a:cs typeface="Calibri" panose="020F0502020204030204" pitchFamily="34" charset="0"/>
                </a:rPr>
                <a:t>   i=i+1;</a:t>
              </a:r>
              <a:endParaRPr lang="nn-NO" altLang="zh-CN" sz="16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nn-NO" altLang="zh-CN" sz="1600" dirty="0">
                  <a:latin typeface="Consolas" panose="020B0609020204030204" pitchFamily="49" charset="0"/>
                  <a:ea typeface="楷体" panose="02010609060101010101" pitchFamily="49" charset="-122"/>
                  <a:cs typeface="Calibri" panose="020F0502020204030204" pitchFamily="34" charset="0"/>
                </a:rPr>
                <a:t>   i=i+1;</a:t>
              </a:r>
              <a:endParaRPr lang="nn-NO" altLang="zh-CN" sz="16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nn-NO" altLang="zh-CN" sz="1600" dirty="0">
                  <a:latin typeface="Consolas" panose="020B0609020204030204" pitchFamily="49" charset="0"/>
                  <a:ea typeface="楷体" panose="02010609060101010101" pitchFamily="49" charset="-122"/>
                  <a:cs typeface="Calibri" panose="020F0502020204030204" pitchFamily="34" charset="0"/>
                </a:rPr>
                <a:t>   i=i+1;</a:t>
              </a:r>
              <a:endParaRPr lang="nn-NO" altLang="zh-CN" sz="16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46473" y="1656546"/>
              <a:ext cx="1609736" cy="39395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zh-CN" dirty="0"/>
                <a:t>i =   i  +  1</a:t>
              </a:r>
              <a:endParaRPr lang="en-US" altLang="zh-CN" dirty="0"/>
            </a:p>
            <a:p>
              <a:pPr algn="ctr">
                <a:lnSpc>
                  <a:spcPts val="3000"/>
                </a:lnSpc>
              </a:pPr>
              <a:r>
                <a:rPr lang="en-US" altLang="zh-CN" dirty="0"/>
                <a:t>--------------------</a:t>
              </a:r>
              <a:endParaRPr lang="en-US" altLang="zh-CN" dirty="0"/>
            </a:p>
            <a:p>
              <a:pPr>
                <a:lnSpc>
                  <a:spcPts val="3000"/>
                </a:lnSpc>
              </a:pPr>
              <a:r>
                <a:rPr lang="en-US" altLang="zh-CN" dirty="0"/>
                <a:t>…………...0</a:t>
              </a:r>
              <a:endParaRPr lang="en-US" altLang="zh-CN" dirty="0"/>
            </a:p>
            <a:p>
              <a:pPr algn="ctr">
                <a:lnSpc>
                  <a:spcPts val="3000"/>
                </a:lnSpc>
              </a:pPr>
              <a:r>
                <a:rPr lang="en-US" altLang="zh-CN" dirty="0"/>
                <a:t>……….i</a:t>
              </a:r>
              <a:r>
                <a:rPr lang="en-US" altLang="zh-CN" dirty="0">
                  <a:sym typeface="Wingdings" panose="05000000000000000000" pitchFamily="2" charset="2"/>
                </a:rPr>
                <a:t> 0  +  1</a:t>
              </a:r>
              <a:endParaRPr lang="en-US" altLang="zh-CN" dirty="0">
                <a:sym typeface="Wingdings" panose="05000000000000000000" pitchFamily="2" charset="2"/>
              </a:endParaRPr>
            </a:p>
            <a:p>
              <a:pPr algn="ctr">
                <a:lnSpc>
                  <a:spcPts val="3000"/>
                </a:lnSpc>
              </a:pPr>
              <a:r>
                <a:rPr lang="en-US" altLang="zh-CN" dirty="0"/>
                <a:t>……….i</a:t>
              </a:r>
              <a:r>
                <a:rPr lang="en-US" altLang="zh-CN" dirty="0">
                  <a:sym typeface="Wingdings" panose="05000000000000000000" pitchFamily="2" charset="2"/>
                </a:rPr>
                <a:t> 1  +  1</a:t>
              </a:r>
              <a:endParaRPr lang="en-US" altLang="zh-CN" dirty="0"/>
            </a:p>
            <a:p>
              <a:pPr algn="ctr">
                <a:lnSpc>
                  <a:spcPts val="3000"/>
                </a:lnSpc>
              </a:pPr>
              <a:r>
                <a:rPr lang="en-US" altLang="zh-CN" dirty="0"/>
                <a:t>……….i</a:t>
              </a:r>
              <a:r>
                <a:rPr lang="en-US" altLang="zh-CN" dirty="0">
                  <a:sym typeface="Wingdings" panose="05000000000000000000" pitchFamily="2" charset="2"/>
                </a:rPr>
                <a:t> 2  +  1</a:t>
              </a:r>
              <a:endParaRPr lang="en-US" altLang="zh-CN" dirty="0"/>
            </a:p>
            <a:p>
              <a:pPr algn="ctr">
                <a:lnSpc>
                  <a:spcPts val="3000"/>
                </a:lnSpc>
              </a:pPr>
              <a:r>
                <a:rPr lang="en-US" altLang="zh-CN" dirty="0"/>
                <a:t>……….i</a:t>
              </a:r>
              <a:r>
                <a:rPr lang="en-US" altLang="zh-CN" dirty="0">
                  <a:sym typeface="Wingdings" panose="05000000000000000000" pitchFamily="2" charset="2"/>
                </a:rPr>
                <a:t> 3  +  1</a:t>
              </a:r>
              <a:endParaRPr lang="zh-CN" altLang="en-US" dirty="0"/>
            </a:p>
            <a:p>
              <a:pPr algn="ctr">
                <a:lnSpc>
                  <a:spcPts val="3000"/>
                </a:lnSpc>
              </a:pPr>
              <a:r>
                <a:rPr lang="en-US" altLang="zh-CN" dirty="0"/>
                <a:t>……….i</a:t>
              </a:r>
              <a:r>
                <a:rPr lang="en-US" altLang="zh-CN" dirty="0">
                  <a:sym typeface="Wingdings" panose="05000000000000000000" pitchFamily="2" charset="2"/>
                </a:rPr>
                <a:t> 4  +  1</a:t>
              </a:r>
              <a:endParaRPr lang="zh-CN" altLang="en-US" dirty="0"/>
            </a:p>
            <a:p>
              <a:pPr>
                <a:lnSpc>
                  <a:spcPts val="3000"/>
                </a:lnSpc>
              </a:pPr>
              <a:endParaRPr lang="en-US" altLang="zh-CN" dirty="0"/>
            </a:p>
            <a:p>
              <a:pPr>
                <a:lnSpc>
                  <a:spcPts val="3000"/>
                </a:lnSpc>
              </a:pPr>
              <a:endParaRPr lang="zh-CN" altLang="en-US" dirty="0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916" y="2970476"/>
            <a:ext cx="1699844" cy="15800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矩形 22"/>
          <p:cNvSpPr/>
          <p:nvPr/>
        </p:nvSpPr>
        <p:spPr>
          <a:xfrm>
            <a:off x="352568" y="2644632"/>
            <a:ext cx="11705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altLang="zh-CN" sz="2800" dirty="0" err="1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i</a:t>
            </a:r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++;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52568" y="3472724"/>
            <a:ext cx="11705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++</a:t>
            </a:r>
            <a:r>
              <a:rPr lang="en-US" altLang="zh-CN" sz="2800" dirty="0" err="1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i</a:t>
            </a:r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;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55398" y="1816540"/>
            <a:ext cx="15648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altLang="zh-CN" sz="2800" dirty="0" err="1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i</a:t>
            </a:r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=</a:t>
            </a:r>
            <a:r>
              <a:rPr lang="en-US" altLang="zh-CN" sz="2800" dirty="0" err="1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i+1</a:t>
            </a:r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;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897184" y="2629361"/>
            <a:ext cx="11705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i--;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897184" y="3457453"/>
            <a:ext cx="11705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--i;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700014" y="1801269"/>
            <a:ext cx="15648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i=i-1;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15638" y="916072"/>
            <a:ext cx="3150096" cy="36933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n;</a:t>
            </a:r>
            <a:endParaRPr lang="en-US" altLang="zh-CN" dirty="0"/>
          </a:p>
          <a:p>
            <a:r>
              <a:rPr lang="en-US" altLang="zh-CN" dirty="0"/>
              <a:t>	n=100;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&lt;&lt;n&lt;&lt;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	n++;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&lt;&lt;n&lt;&lt;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	++n;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&lt;&lt;n&lt;&lt;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	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7357" y="2904693"/>
            <a:ext cx="1674075" cy="17046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8" grpId="0"/>
      <p:bldP spid="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矩形 22"/>
          <p:cNvSpPr/>
          <p:nvPr/>
        </p:nvSpPr>
        <p:spPr>
          <a:xfrm>
            <a:off x="395536" y="1491630"/>
            <a:ext cx="33906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i++;  </a:t>
            </a:r>
            <a:r>
              <a:rPr lang="zh-CN" altLang="en-US" sz="24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先计算，后加</a:t>
            </a:r>
            <a:r>
              <a:rPr lang="en-US" altLang="zh-CN" sz="24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1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95536" y="2067694"/>
            <a:ext cx="33906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++i;  </a:t>
            </a:r>
            <a:r>
              <a:rPr lang="zh-CN" altLang="en-US" sz="24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先加</a:t>
            </a:r>
            <a:r>
              <a:rPr lang="en-US" altLang="zh-CN" sz="24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1</a:t>
            </a:r>
            <a:r>
              <a:rPr lang="zh-CN" altLang="en-US" sz="24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，后计算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11960" y="1131590"/>
            <a:ext cx="1048685" cy="2251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a=100;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b=100;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x=a++;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y=++b;</a:t>
            </a:r>
            <a:endParaRPr lang="zh-CN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580112" y="1322353"/>
            <a:ext cx="282481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u="sng" dirty="0"/>
              <a:t>   a      b      x      y   </a:t>
            </a:r>
            <a:endParaRPr lang="en-US" altLang="zh-CN" sz="2800" u="sng" dirty="0"/>
          </a:p>
          <a:p>
            <a:r>
              <a:rPr lang="en-US" altLang="zh-CN" sz="2800" dirty="0"/>
              <a:t>  </a:t>
            </a:r>
            <a:r>
              <a:rPr lang="en-US" altLang="zh-CN" sz="2000" dirty="0"/>
              <a:t>100     100</a:t>
            </a:r>
            <a:endParaRPr lang="en-US" altLang="zh-CN" sz="2000" dirty="0"/>
          </a:p>
          <a:p>
            <a:r>
              <a:rPr lang="en-US" altLang="zh-CN" sz="2000" dirty="0"/>
              <a:t>   101     101     100     101 </a:t>
            </a:r>
            <a:endParaRPr lang="zh-CN" alt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822482" y="3147814"/>
            <a:ext cx="1107996" cy="15081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n-ea"/>
              </a:rPr>
              <a:t>x=a++;</a:t>
            </a:r>
            <a:endParaRPr lang="en-US" altLang="zh-CN" sz="24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相当于</a:t>
            </a:r>
            <a:endParaRPr lang="en-US" altLang="zh-CN" sz="2000" dirty="0">
              <a:latin typeface="+mn-ea"/>
            </a:endParaRPr>
          </a:p>
          <a:p>
            <a:r>
              <a:rPr lang="en-US" altLang="zh-CN" sz="2400" dirty="0">
                <a:latin typeface="+mn-ea"/>
              </a:rPr>
              <a:t>x=a;</a:t>
            </a:r>
            <a:endParaRPr lang="en-US" altLang="zh-CN" sz="2400" dirty="0">
              <a:latin typeface="+mn-ea"/>
            </a:endParaRPr>
          </a:p>
          <a:p>
            <a:r>
              <a:rPr lang="en-US" altLang="zh-CN" sz="2400" dirty="0">
                <a:latin typeface="+mn-ea"/>
              </a:rPr>
              <a:t>a=a+1;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90872" y="3147814"/>
            <a:ext cx="1107996" cy="15081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n-ea"/>
              </a:rPr>
              <a:t>y=++b;</a:t>
            </a:r>
            <a:endParaRPr lang="en-US" altLang="zh-CN" sz="24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相当于</a:t>
            </a:r>
            <a:endParaRPr lang="en-US" altLang="zh-CN" sz="2000" dirty="0">
              <a:latin typeface="+mn-ea"/>
            </a:endParaRPr>
          </a:p>
          <a:p>
            <a:r>
              <a:rPr lang="en-US" altLang="zh-CN" sz="2400" dirty="0">
                <a:latin typeface="+mn-ea"/>
              </a:rPr>
              <a:t>b=b+1;</a:t>
            </a:r>
            <a:endParaRPr lang="en-US" altLang="zh-CN" sz="2400" dirty="0">
              <a:latin typeface="+mn-ea"/>
            </a:endParaRPr>
          </a:p>
          <a:p>
            <a:r>
              <a:rPr lang="en-US" altLang="zh-CN" sz="2400" dirty="0">
                <a:latin typeface="+mn-ea"/>
              </a:rPr>
              <a:t>y=b;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649" y="3047509"/>
            <a:ext cx="1408023" cy="14815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4" grpId="0"/>
      <p:bldP spid="5" grpId="0"/>
      <p:bldP spid="3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518" y="549558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2737" y="1457436"/>
            <a:ext cx="7416824" cy="2958976"/>
          </a:xfrm>
        </p:spPr>
        <p:txBody>
          <a:bodyPr>
            <a:noAutofit/>
          </a:bodyPr>
          <a:lstStyle/>
          <a:p>
            <a:pPr lvl="1"/>
            <a:r>
              <a:rPr lang="en-US" altLang="zh-CN" sz="2400" dirty="0"/>
              <a:t>include  </a:t>
            </a:r>
            <a:r>
              <a:rPr lang="zh-CN" altLang="en-US" sz="2400" dirty="0"/>
              <a:t>包含，包括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iostream</a:t>
            </a:r>
            <a:r>
              <a:rPr lang="en-US" altLang="zh-CN" sz="2400" dirty="0"/>
              <a:t>  </a:t>
            </a:r>
            <a:r>
              <a:rPr lang="zh-CN" altLang="en-US" sz="2400" dirty="0"/>
              <a:t>输入输出流</a:t>
            </a:r>
            <a:endParaRPr lang="en-US" altLang="zh-CN" sz="2400" dirty="0"/>
          </a:p>
          <a:p>
            <a:pPr lvl="1"/>
            <a:r>
              <a:rPr lang="en-US" altLang="zh-CN" sz="2400" dirty="0"/>
              <a:t>using  </a:t>
            </a:r>
            <a:r>
              <a:rPr lang="zh-CN" altLang="en-US" sz="2400" dirty="0"/>
              <a:t>使用</a:t>
            </a:r>
            <a:endParaRPr lang="en-US" altLang="zh-CN" sz="2400" dirty="0"/>
          </a:p>
          <a:p>
            <a:pPr lvl="1"/>
            <a:r>
              <a:rPr lang="en-US" altLang="zh-CN" sz="2400" dirty="0"/>
              <a:t>namespace  </a:t>
            </a:r>
            <a:r>
              <a:rPr lang="zh-CN" altLang="en-US" sz="2400" dirty="0"/>
              <a:t>命名空间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std</a:t>
            </a:r>
            <a:r>
              <a:rPr lang="en-US" altLang="zh-CN" sz="2400" dirty="0"/>
              <a:t>  standard</a:t>
            </a:r>
            <a:r>
              <a:rPr lang="zh-CN" altLang="en-US" sz="2400" dirty="0"/>
              <a:t>的缩写，标准的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cout</a:t>
            </a:r>
            <a:r>
              <a:rPr lang="en-US" altLang="zh-CN" sz="2400" dirty="0"/>
              <a:t>  </a:t>
            </a:r>
            <a:r>
              <a:rPr lang="zh-CN" altLang="en-US" sz="2400" dirty="0"/>
              <a:t>输出流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endl</a:t>
            </a:r>
            <a:r>
              <a:rPr lang="en-US" altLang="zh-CN" sz="2400" dirty="0"/>
              <a:t>  end line</a:t>
            </a:r>
            <a:r>
              <a:rPr lang="zh-CN" altLang="en-US" sz="2400" dirty="0"/>
              <a:t>的缩写，换行</a:t>
            </a:r>
            <a:endParaRPr lang="en-US" altLang="zh-CN" sz="2400" dirty="0"/>
          </a:p>
          <a:p>
            <a:pPr marL="457200" lvl="1" indent="0">
              <a:buNone/>
            </a:pP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3750" y="2315566"/>
            <a:ext cx="1966130" cy="124216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149880" y="3664937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打死不能忘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9102" y="718161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牛刀“小”试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177154" y="1621909"/>
            <a:ext cx="3528392" cy="273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/>
              <a:t>1</a:t>
            </a:r>
            <a:r>
              <a:rPr lang="zh-CN" altLang="en-US" sz="2000" dirty="0"/>
              <a:t>、完善程序。</a:t>
            </a:r>
            <a:endParaRPr lang="en-US" altLang="zh-CN" sz="2000" dirty="0"/>
          </a:p>
          <a:p>
            <a:pPr marL="400050" lvl="1" indent="0">
              <a:buFont typeface="Arial" panose="020B0604020202020204" pitchFamily="34" charset="0"/>
              <a:buNone/>
            </a:pPr>
            <a:r>
              <a:rPr lang="zh-CN" altLang="en-US" sz="1600" dirty="0"/>
              <a:t>明明的爷爷的岁数、明明的爸爸的岁数和明明的岁数是</a:t>
            </a:r>
            <a:r>
              <a:rPr lang="en-US" altLang="zh-CN" sz="1600" dirty="0"/>
              <a:t>3</a:t>
            </a:r>
            <a:r>
              <a:rPr lang="zh-CN" altLang="en-US" sz="1600" dirty="0"/>
              <a:t>个等差的自然数，每两个数相差</a:t>
            </a:r>
            <a:r>
              <a:rPr lang="en-US" altLang="zh-CN" sz="1600" dirty="0"/>
              <a:t>25</a:t>
            </a:r>
            <a:r>
              <a:rPr lang="zh-CN" altLang="en-US" sz="1600" dirty="0"/>
              <a:t>。已知明明</a:t>
            </a:r>
            <a:r>
              <a:rPr lang="en-US" altLang="zh-CN" sz="1600" dirty="0"/>
              <a:t>11</a:t>
            </a:r>
            <a:r>
              <a:rPr lang="zh-CN" altLang="en-US" sz="1600" dirty="0"/>
              <a:t>岁，那么请输出他们三个人的岁数。</a:t>
            </a:r>
            <a:endParaRPr lang="en-US" altLang="zh-CN" sz="1600" dirty="0"/>
          </a:p>
        </p:txBody>
      </p:sp>
      <p:sp>
        <p:nvSpPr>
          <p:cNvPr id="7" name="矩形 6"/>
          <p:cNvSpPr/>
          <p:nvPr/>
        </p:nvSpPr>
        <p:spPr>
          <a:xfrm>
            <a:off x="3962030" y="1589431"/>
            <a:ext cx="4572000" cy="2893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altLang="zh-CN" sz="1400" dirty="0"/>
              <a:t>#include &lt;</a:t>
            </a:r>
            <a:r>
              <a:rPr lang="en-US" altLang="zh-CN" sz="1400" dirty="0" err="1"/>
              <a:t>iostream</a:t>
            </a:r>
            <a:r>
              <a:rPr lang="en-US" altLang="zh-CN" sz="1400" dirty="0"/>
              <a:t>&gt;</a:t>
            </a:r>
            <a:endParaRPr lang="en-US" altLang="zh-CN" sz="1400" dirty="0"/>
          </a:p>
          <a:p>
            <a:r>
              <a:rPr lang="en-US" altLang="zh-CN" sz="1400" dirty="0"/>
              <a:t>using namespace </a:t>
            </a:r>
            <a:r>
              <a:rPr lang="en-US" altLang="zh-CN" sz="1400" dirty="0" err="1"/>
              <a:t>std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  <a:endParaRPr lang="en-US" altLang="zh-CN" sz="1400" dirty="0"/>
          </a:p>
          <a:p>
            <a:r>
              <a:rPr lang="en-US" altLang="zh-CN" sz="1400" dirty="0"/>
              <a:t>{</a:t>
            </a:r>
            <a:endParaRPr lang="en-US" altLang="zh-CN" sz="1400" dirty="0"/>
          </a:p>
          <a:p>
            <a:r>
              <a:rPr lang="en-US" altLang="zh-CN" sz="1400" dirty="0"/>
              <a:t>    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 n;</a:t>
            </a:r>
            <a:endParaRPr lang="en-US" altLang="zh-CN" sz="1400" dirty="0"/>
          </a:p>
          <a:p>
            <a:r>
              <a:rPr lang="en-US" altLang="zh-CN" sz="1400" dirty="0"/>
              <a:t>      n=11;</a:t>
            </a:r>
            <a:endParaRPr lang="en-US" altLang="zh-CN" sz="1400" dirty="0"/>
          </a:p>
          <a:p>
            <a:r>
              <a:rPr lang="en-US" altLang="zh-CN" sz="1400" dirty="0"/>
              <a:t>  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&lt;&lt;n&lt;&lt;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    _______________;</a:t>
            </a:r>
            <a:endParaRPr lang="en-US" altLang="zh-CN" sz="1400" dirty="0"/>
          </a:p>
          <a:p>
            <a:r>
              <a:rPr lang="en-US" altLang="zh-CN" sz="1400" dirty="0"/>
              <a:t>  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&lt;&lt;n&lt;&lt;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    n=n+25;</a:t>
            </a:r>
            <a:endParaRPr lang="en-US" altLang="zh-CN" sz="1400" dirty="0"/>
          </a:p>
          <a:p>
            <a:r>
              <a:rPr lang="en-US" altLang="zh-CN" sz="1400" dirty="0"/>
              <a:t>      ________________;</a:t>
            </a:r>
            <a:endParaRPr lang="en-US" altLang="zh-CN" sz="1400" dirty="0"/>
          </a:p>
          <a:p>
            <a:r>
              <a:rPr lang="en-US" altLang="zh-CN" sz="1400" dirty="0"/>
              <a:t>      return 0;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zh-CN" altLang="en-US" sz="1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025842"/>
            <a:ext cx="2292846" cy="22928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0" y="27752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52122" y="628040"/>
            <a:ext cx="4936302" cy="4055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3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输出</a:t>
            </a:r>
            <a:r>
              <a:rPr lang="en-US" altLang="zh-CN" sz="2000" dirty="0"/>
              <a:t>:____________</a:t>
            </a:r>
            <a:endParaRPr lang="en-US" altLang="zh-C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04056" y="591883"/>
            <a:ext cx="2304256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仿宋" panose="02010609060101010101" pitchFamily="49" charset="-122"/>
                <a:ea typeface="仿宋" panose="02010609060101010101" pitchFamily="49" charset="-122"/>
              </a:rPr>
              <a:t>语句“</a:t>
            </a:r>
            <a:r>
              <a:rPr lang="en-US" altLang="zh-CN" sz="1600" b="1" dirty="0">
                <a:latin typeface="仿宋" panose="02010609060101010101" pitchFamily="49" charset="-122"/>
                <a:ea typeface="仿宋" panose="02010609060101010101" pitchFamily="49" charset="-122"/>
              </a:rPr>
              <a:t>x=++b</a:t>
            </a:r>
            <a:r>
              <a:rPr lang="zh-CN" altLang="en-US" sz="1600" b="1" dirty="0">
                <a:latin typeface="仿宋" panose="02010609060101010101" pitchFamily="49" charset="-122"/>
                <a:ea typeface="仿宋" panose="02010609060101010101" pitchFamily="49" charset="-122"/>
              </a:rPr>
              <a:t>；”与下面（  ）项的语句等价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 ++b; x=b;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 x=b; ++b;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 b++; b=x;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 x=b; ++x;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08304" y="1452405"/>
            <a:ext cx="1083951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    i            </a:t>
            </a:r>
            <a:endParaRPr lang="en-US" altLang="zh-CN" dirty="0"/>
          </a:p>
          <a:p>
            <a:r>
              <a:rPr lang="en-US" altLang="zh-CN" dirty="0"/>
              <a:t>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847273" y="1206493"/>
            <a:ext cx="4572000" cy="32932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	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i;</a:t>
            </a:r>
            <a:endParaRPr lang="en-US" altLang="zh-CN" sz="1600" dirty="0"/>
          </a:p>
          <a:p>
            <a:r>
              <a:rPr lang="en-US" altLang="zh-CN" sz="1600" dirty="0"/>
              <a:t>	i=10;</a:t>
            </a:r>
            <a:endParaRPr lang="en-US" altLang="zh-CN" sz="1600" dirty="0"/>
          </a:p>
          <a:p>
            <a:r>
              <a:rPr lang="en-US" altLang="zh-CN" sz="1600" dirty="0"/>
              <a:t>	i--;</a:t>
            </a:r>
            <a:endParaRPr lang="en-US" altLang="zh-CN" sz="1600" dirty="0"/>
          </a:p>
          <a:p>
            <a:r>
              <a:rPr lang="en-US" altLang="zh-CN" sz="1600" dirty="0"/>
              <a:t>	--i;</a:t>
            </a:r>
            <a:endParaRPr lang="en-US" altLang="zh-CN" sz="1600" dirty="0"/>
          </a:p>
          <a:p>
            <a:r>
              <a:rPr lang="en-US" altLang="zh-CN" sz="1600" dirty="0"/>
              <a:t>	i--;</a:t>
            </a:r>
            <a:endParaRPr lang="en-US" altLang="zh-CN" sz="1600" dirty="0"/>
          </a:p>
          <a:p>
            <a:r>
              <a:rPr lang="en-US" altLang="zh-CN" sz="1600" dirty="0"/>
              <a:t>	i++;</a:t>
            </a:r>
            <a:endParaRPr lang="en-US" altLang="zh-CN" sz="1600" dirty="0"/>
          </a:p>
          <a:p>
            <a:r>
              <a:rPr lang="en-US" altLang="zh-CN" sz="1600" dirty="0"/>
              <a:t>	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&lt;&lt;i&lt;&lt;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 </a:t>
            </a:r>
            <a:endParaRPr lang="en-US" altLang="zh-CN" sz="1600" dirty="0"/>
          </a:p>
          <a:p>
            <a:r>
              <a:rPr lang="en-US" altLang="zh-CN" sz="1600" dirty="0"/>
              <a:t>	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519" y="3209002"/>
            <a:ext cx="1432333" cy="14323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10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1337</Words>
  <Application>WPS 演示</Application>
  <PresentationFormat>全屏显示(16:9)</PresentationFormat>
  <Paragraphs>169</Paragraphs>
  <Slides>9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隶书</vt:lpstr>
      <vt:lpstr>Consolas</vt:lpstr>
      <vt:lpstr>Calibri</vt:lpstr>
      <vt:lpstr>华文中宋</vt:lpstr>
      <vt:lpstr>Arial Unicode MS</vt:lpstr>
      <vt:lpstr>Office 主题</vt:lpstr>
      <vt:lpstr>PowerPoint 演示文稿</vt:lpstr>
      <vt:lpstr>列朋波骨  ——计数器</vt:lpstr>
      <vt:lpstr>PowerPoint 演示文稿</vt:lpstr>
      <vt:lpstr>PowerPoint 演示文稿</vt:lpstr>
      <vt:lpstr>PowerPoint 演示文稿</vt:lpstr>
      <vt:lpstr>编程小词典</vt:lpstr>
      <vt:lpstr>牛刀“小”试</vt:lpstr>
      <vt:lpstr>PowerPoint 演示文稿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70</cp:revision>
  <dcterms:created xsi:type="dcterms:W3CDTF">2018-07-03T13:24:00Z</dcterms:created>
  <dcterms:modified xsi:type="dcterms:W3CDTF">2021-04-12T07:20:44Z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