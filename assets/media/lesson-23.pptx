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96" r:id="rId3"/>
    <p:sldId id="269" r:id="rId4"/>
    <p:sldId id="291" r:id="rId5"/>
    <p:sldId id="292" r:id="rId6"/>
    <p:sldId id="293" r:id="rId7"/>
    <p:sldId id="294" r:id="rId8"/>
    <p:sldId id="295" r:id="rId9"/>
    <p:sldId id="275" r:id="rId10"/>
    <p:sldId id="267" r:id="rId11"/>
    <p:sldId id="280" r:id="rId12"/>
    <p:sldId id="298" r:id="rId13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7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 b="1"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4pPr>
            <a:lvl5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图片背景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jpe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56" y="771550"/>
            <a:ext cx="5688632" cy="2016973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1043608" y="2139702"/>
            <a:ext cx="7992888" cy="22322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文本框 1"/>
          <p:cNvSpPr txBox="1"/>
          <p:nvPr/>
        </p:nvSpPr>
        <p:spPr>
          <a:xfrm>
            <a:off x="1743890" y="235329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23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36104" y="3255826"/>
            <a:ext cx="81003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抽奖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随机数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92650"/>
            <a:ext cx="8229600" cy="641226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抽奖</a:t>
            </a:r>
            <a:r>
              <a:rPr lang="en-US" altLang="zh-CN" sz="2400" dirty="0">
                <a:solidFill>
                  <a:srgbClr val="00B0F0"/>
                </a:solidFill>
              </a:rPr>
              <a:t>——</a:t>
            </a:r>
            <a:r>
              <a:rPr lang="zh-CN" altLang="en-US" sz="2400" dirty="0">
                <a:solidFill>
                  <a:srgbClr val="00B0F0"/>
                </a:solidFill>
              </a:rPr>
              <a:t>随机函数</a:t>
            </a:r>
            <a:r>
              <a:rPr lang="en-US" altLang="zh-CN" sz="2400" dirty="0">
                <a:solidFill>
                  <a:srgbClr val="00B0F0"/>
                </a:solidFill>
              </a:rPr>
              <a:t>rand()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5" name="矩形: 圆角 4"/>
          <p:cNvSpPr>
            <a:spLocks noChangeArrowheads="1"/>
          </p:cNvSpPr>
          <p:nvPr/>
        </p:nvSpPr>
        <p:spPr bwMode="auto">
          <a:xfrm>
            <a:off x="3347864" y="2931790"/>
            <a:ext cx="3744416" cy="1152128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indent="756285" algn="just">
              <a:spcAft>
                <a:spcPts val="0"/>
              </a:spcAft>
            </a:pPr>
            <a:r>
              <a:rPr lang="zh-CN" sz="2800" kern="100" dirty="0">
                <a:effectLst/>
                <a:latin typeface="Calibri" panose="020F050202020403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试编一程序，实现</a:t>
            </a:r>
            <a:r>
              <a:rPr lang="zh-CN" altLang="en-US" sz="2800" kern="100" dirty="0">
                <a:effectLst/>
                <a:latin typeface="Calibri" panose="020F050202020403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抽奖</a:t>
            </a:r>
            <a:r>
              <a:rPr lang="zh-CN" sz="2800" kern="100" dirty="0">
                <a:effectLst/>
                <a:latin typeface="Calibri" panose="020F050202020403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功能。</a:t>
            </a:r>
            <a:endParaRPr lang="zh-CN" sz="2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96727" y="1419622"/>
            <a:ext cx="6994222" cy="9233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dirty="0">
                <a:latin typeface="+mn-ea"/>
              </a:rPr>
              <a:t>计算机随机产生一个整数</a:t>
            </a:r>
            <a:r>
              <a:rPr lang="en-US" altLang="zh-CN" dirty="0">
                <a:latin typeface="+mn-ea"/>
              </a:rPr>
              <a:t>(1-5)</a:t>
            </a:r>
            <a:r>
              <a:rPr lang="zh-CN" altLang="en-US" dirty="0">
                <a:latin typeface="+mn-ea"/>
              </a:rPr>
              <a:t>，自己输入一个整数，若两数相同，</a:t>
            </a:r>
            <a:endParaRPr lang="en-US" altLang="zh-CN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则输出“恭喜您，中奖了！奖金</a:t>
            </a:r>
            <a:r>
              <a:rPr lang="en-US" altLang="zh-CN" dirty="0">
                <a:latin typeface="+mn-ea"/>
              </a:rPr>
              <a:t>10</a:t>
            </a:r>
            <a:r>
              <a:rPr lang="zh-CN" altLang="en-US" dirty="0">
                <a:latin typeface="+mn-ea"/>
              </a:rPr>
              <a:t>元”，否则输出</a:t>
            </a:r>
            <a:r>
              <a:rPr lang="en-US" altLang="zh-CN" dirty="0">
                <a:latin typeface="+mn-ea"/>
              </a:rPr>
              <a:t>"</a:t>
            </a:r>
            <a:r>
              <a:rPr lang="zh-CN" altLang="en-US" dirty="0">
                <a:latin typeface="+mn-ea"/>
              </a:rPr>
              <a:t>没中奖，请</a:t>
            </a:r>
            <a:endParaRPr lang="en-US" altLang="zh-CN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付费</a:t>
            </a:r>
            <a:r>
              <a:rPr lang="en-US" altLang="zh-CN" dirty="0">
                <a:latin typeface="+mn-ea"/>
              </a:rPr>
              <a:t>2</a:t>
            </a:r>
            <a:r>
              <a:rPr lang="zh-CN" altLang="en-US" dirty="0">
                <a:latin typeface="+mn-ea"/>
              </a:rPr>
              <a:t>元</a:t>
            </a:r>
            <a:r>
              <a:rPr lang="en-US" altLang="zh-CN" dirty="0">
                <a:latin typeface="+mn-ea"/>
              </a:rPr>
              <a:t>"</a:t>
            </a:r>
            <a:r>
              <a:rPr lang="zh-CN" altLang="en-US" dirty="0">
                <a:latin typeface="+mn-ea"/>
              </a:rPr>
              <a:t>，同时公布中奖号码！</a:t>
            </a:r>
            <a:endParaRPr lang="zh-CN" altLang="en-US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组合 3"/>
          <p:cNvGrpSpPr/>
          <p:nvPr/>
        </p:nvGrpSpPr>
        <p:grpSpPr>
          <a:xfrm>
            <a:off x="962458" y="1135700"/>
            <a:ext cx="5157210" cy="1208869"/>
            <a:chOff x="188640" y="827584"/>
            <a:chExt cx="6454197" cy="1512888"/>
          </a:xfrm>
        </p:grpSpPr>
        <p:grpSp>
          <p:nvGrpSpPr>
            <p:cNvPr id="6" name="组合 33"/>
            <p:cNvGrpSpPr/>
            <p:nvPr/>
          </p:nvGrpSpPr>
          <p:grpSpPr bwMode="auto">
            <a:xfrm>
              <a:off x="188640" y="827584"/>
              <a:ext cx="1800225" cy="1512888"/>
              <a:chOff x="0" y="0"/>
              <a:chExt cx="1800200" cy="1512252"/>
            </a:xfrm>
          </p:grpSpPr>
          <p:pic>
            <p:nvPicPr>
              <p:cNvPr id="8" name="Picture 85" descr="png-1449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1800200" cy="1512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" name="矩形 35"/>
              <p:cNvSpPr/>
              <p:nvPr/>
            </p:nvSpPr>
            <p:spPr>
              <a:xfrm>
                <a:off x="600068" y="410991"/>
                <a:ext cx="744670" cy="731533"/>
              </a:xfrm>
              <a:prstGeom prst="rect">
                <a:avLst/>
              </a:prstGeom>
              <a:noFill/>
              <a:ln w="9525">
                <a:noFill/>
                <a:miter/>
              </a:ln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zh-CN" altLang="en-US" sz="3200">
                    <a:latin typeface="楷体" panose="02010609060101010101" pitchFamily="49" charset="-122"/>
                    <a:ea typeface="楷体" panose="02010609060101010101" pitchFamily="49" charset="-122"/>
                  </a:rPr>
                  <a:t>随</a:t>
                </a:r>
                <a:endParaRPr lang="zh-CN" altLang="en-US" sz="3200" noProof="1">
                  <a:effectLst>
                    <a:outerShdw blurRad="38100" dist="38100" dir="2700000">
                      <a:srgbClr val="C0C0C0"/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p:grpSp>
        <p:grpSp>
          <p:nvGrpSpPr>
            <p:cNvPr id="10" name="组合 33"/>
            <p:cNvGrpSpPr/>
            <p:nvPr/>
          </p:nvGrpSpPr>
          <p:grpSpPr bwMode="auto">
            <a:xfrm>
              <a:off x="1739964" y="827584"/>
              <a:ext cx="1800225" cy="1512888"/>
              <a:chOff x="0" y="0"/>
              <a:chExt cx="1800200" cy="1512252"/>
            </a:xfrm>
          </p:grpSpPr>
          <p:pic>
            <p:nvPicPr>
              <p:cNvPr id="11" name="Picture 85" descr="png-1449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1800200" cy="1512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" name="矩形 35"/>
              <p:cNvSpPr/>
              <p:nvPr/>
            </p:nvSpPr>
            <p:spPr>
              <a:xfrm>
                <a:off x="600068" y="410991"/>
                <a:ext cx="744670" cy="731533"/>
              </a:xfrm>
              <a:prstGeom prst="rect">
                <a:avLst/>
              </a:prstGeom>
              <a:noFill/>
              <a:ln w="9525">
                <a:noFill/>
                <a:miter/>
              </a:ln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zh-CN" altLang="en-US" sz="3200">
                    <a:latin typeface="楷体" panose="02010609060101010101" pitchFamily="49" charset="-122"/>
                    <a:ea typeface="楷体" panose="02010609060101010101" pitchFamily="49" charset="-122"/>
                  </a:rPr>
                  <a:t>机</a:t>
                </a:r>
                <a:endParaRPr lang="zh-CN" altLang="en-US" sz="3200" noProof="1">
                  <a:effectLst>
                    <a:outerShdw blurRad="38100" dist="38100" dir="2700000">
                      <a:srgbClr val="C0C0C0"/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p:grpSp>
        <p:grpSp>
          <p:nvGrpSpPr>
            <p:cNvPr id="13" name="组合 33"/>
            <p:cNvGrpSpPr/>
            <p:nvPr/>
          </p:nvGrpSpPr>
          <p:grpSpPr bwMode="auto">
            <a:xfrm>
              <a:off x="3291288" y="827584"/>
              <a:ext cx="1800225" cy="1512888"/>
              <a:chOff x="0" y="0"/>
              <a:chExt cx="1800200" cy="1512252"/>
            </a:xfrm>
          </p:grpSpPr>
          <p:pic>
            <p:nvPicPr>
              <p:cNvPr id="14" name="Picture 85" descr="png-1449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1800200" cy="1512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5" name="矩形 35"/>
              <p:cNvSpPr/>
              <p:nvPr/>
            </p:nvSpPr>
            <p:spPr>
              <a:xfrm>
                <a:off x="600068" y="410991"/>
                <a:ext cx="744670" cy="731533"/>
              </a:xfrm>
              <a:prstGeom prst="rect">
                <a:avLst/>
              </a:prstGeom>
              <a:noFill/>
              <a:ln w="9525">
                <a:noFill/>
                <a:miter/>
              </a:ln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zh-CN" altLang="zh-CN" sz="3200" kern="100">
                    <a:latin typeface="楷体" panose="02010609060101010101" pitchFamily="49" charset="-122"/>
                    <a:ea typeface="楷体" panose="02010609060101010101" pitchFamily="49" charset="-122"/>
                    <a:cs typeface="Calibri" panose="020F0502020204030204" pitchFamily="34" charset="0"/>
                  </a:rPr>
                  <a:t>函</a:t>
                </a:r>
                <a:endParaRPr lang="zh-CN" altLang="en-US" sz="3200" noProof="1">
                  <a:effectLst>
                    <a:outerShdw blurRad="38100" dist="38100" dir="2700000">
                      <a:srgbClr val="C0C0C0"/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p:grpSp>
        <p:grpSp>
          <p:nvGrpSpPr>
            <p:cNvPr id="16" name="组合 33"/>
            <p:cNvGrpSpPr/>
            <p:nvPr/>
          </p:nvGrpSpPr>
          <p:grpSpPr bwMode="auto">
            <a:xfrm>
              <a:off x="4842612" y="827584"/>
              <a:ext cx="1800225" cy="1512888"/>
              <a:chOff x="0" y="0"/>
              <a:chExt cx="1800200" cy="1512252"/>
            </a:xfrm>
          </p:grpSpPr>
          <p:pic>
            <p:nvPicPr>
              <p:cNvPr id="17" name="Picture 85" descr="png-1449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1800200" cy="1512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" name="矩形 35"/>
              <p:cNvSpPr/>
              <p:nvPr/>
            </p:nvSpPr>
            <p:spPr>
              <a:xfrm>
                <a:off x="600068" y="410991"/>
                <a:ext cx="744670" cy="731533"/>
              </a:xfrm>
              <a:prstGeom prst="rect">
                <a:avLst/>
              </a:prstGeom>
              <a:noFill/>
              <a:ln w="9525">
                <a:noFill/>
                <a:miter/>
              </a:ln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zh-CN" altLang="zh-CN" sz="3200" kern="100">
                    <a:latin typeface="楷体" panose="02010609060101010101" pitchFamily="49" charset="-122"/>
                    <a:ea typeface="楷体" panose="02010609060101010101" pitchFamily="49" charset="-122"/>
                    <a:cs typeface="Calibri" panose="020F0502020204030204" pitchFamily="34" charset="0"/>
                  </a:rPr>
                  <a:t>数</a:t>
                </a:r>
                <a:endParaRPr lang="zh-CN" altLang="en-US" sz="3200" noProof="1">
                  <a:effectLst>
                    <a:outerShdw blurRad="38100" dist="38100" dir="2700000">
                      <a:srgbClr val="C0C0C0"/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p:grpSp>
      </p:grpSp>
      <p:sp>
        <p:nvSpPr>
          <p:cNvPr id="19" name="矩形 18"/>
          <p:cNvSpPr/>
          <p:nvPr/>
        </p:nvSpPr>
        <p:spPr>
          <a:xfrm>
            <a:off x="1705184" y="2376319"/>
            <a:ext cx="4134465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8000" kern="100" dirty="0">
                <a:latin typeface="Consolas" panose="020B0609020204030204" pitchFamily="49" charset="0"/>
              </a:rPr>
              <a:t>rand() </a:t>
            </a:r>
            <a:endParaRPr lang="zh-CN" altLang="en-US" sz="8000" dirty="0">
              <a:latin typeface="Consolas" panose="020B0609020204030204" pitchFamily="49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74426" y="4065601"/>
            <a:ext cx="580528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52425">
              <a:spcAft>
                <a:spcPts val="0"/>
              </a:spcAft>
            </a:pPr>
            <a:r>
              <a:rPr lang="en-US" altLang="zh-CN" sz="2800" kern="100" dirty="0" err="1"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rPr>
              <a:t>int</a:t>
            </a:r>
            <a:r>
              <a:rPr lang="en-US" altLang="zh-CN" sz="2800" kern="100" dirty="0"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rPr>
              <a:t>   </a:t>
            </a:r>
            <a:r>
              <a:rPr lang="zh-CN" altLang="en-US" sz="2800" kern="100" dirty="0"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rPr>
              <a:t>大于等</a:t>
            </a:r>
            <a:r>
              <a:rPr lang="zh-CN" altLang="zh-CN" sz="2800" kern="100" dirty="0"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rPr>
              <a:t>于</a:t>
            </a:r>
            <a:r>
              <a:rPr lang="en-US" altLang="zh-CN" sz="2800" kern="100" dirty="0"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rPr>
              <a:t>0</a:t>
            </a:r>
            <a:r>
              <a:rPr lang="zh-CN" altLang="zh-CN" sz="2800" kern="100" dirty="0"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rPr>
              <a:t>小于</a:t>
            </a:r>
            <a:r>
              <a:rPr lang="en-US" altLang="zh-CN" sz="2800" kern="100" dirty="0"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rPr>
              <a:t>32767</a:t>
            </a:r>
            <a:r>
              <a:rPr lang="zh-CN" altLang="zh-CN" sz="2800" kern="100" dirty="0"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rPr>
              <a:t>的整数</a:t>
            </a:r>
            <a:endParaRPr lang="zh-CN" altLang="zh-CN" sz="2800" kern="100" dirty="0">
              <a:latin typeface="Calibri" panose="020F0502020204030204" pitchFamily="34" charset="0"/>
              <a:ea typeface="楷体" panose="02010609060101010101" pitchFamily="49" charset="-122"/>
              <a:cs typeface="Calibri" panose="020F050202020403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9038" y="2049014"/>
            <a:ext cx="2366314" cy="217970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矩形 2"/>
          <p:cNvSpPr/>
          <p:nvPr/>
        </p:nvSpPr>
        <p:spPr>
          <a:xfrm>
            <a:off x="755576" y="988509"/>
            <a:ext cx="4572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/>
              <a:t>#include&lt;</a:t>
            </a:r>
            <a:r>
              <a:rPr lang="en-US" altLang="zh-CN" dirty="0" err="1"/>
              <a:t>iostream</a:t>
            </a:r>
            <a:r>
              <a:rPr lang="en-US" altLang="zh-CN" dirty="0"/>
              <a:t>&gt;</a:t>
            </a:r>
            <a:endParaRPr lang="en-US" altLang="zh-CN" dirty="0"/>
          </a:p>
          <a:p>
            <a:r>
              <a:rPr lang="en-US" altLang="zh-CN" dirty="0"/>
              <a:t>#include&lt;</a:t>
            </a:r>
            <a:r>
              <a:rPr lang="en-US" altLang="zh-CN" dirty="0" err="1"/>
              <a:t>cstdlib</a:t>
            </a:r>
            <a:r>
              <a:rPr lang="en-US" altLang="zh-CN" dirty="0"/>
              <a:t>&gt;    //</a:t>
            </a:r>
            <a:r>
              <a:rPr lang="zh-CN" altLang="en-US" dirty="0"/>
              <a:t>需要调用</a:t>
            </a:r>
            <a:r>
              <a:rPr lang="en-US" altLang="zh-CN" dirty="0"/>
              <a:t>rand()</a:t>
            </a:r>
            <a:r>
              <a:rPr lang="zh-CN" altLang="en-US" dirty="0"/>
              <a:t>函数 </a:t>
            </a:r>
            <a:endParaRPr lang="zh-CN" altLang="en-US" dirty="0"/>
          </a:p>
          <a:p>
            <a:r>
              <a:rPr lang="en-US" altLang="zh-CN" dirty="0"/>
              <a:t>using namespace </a:t>
            </a:r>
            <a:r>
              <a:rPr lang="en-US" altLang="zh-CN" dirty="0" err="1"/>
              <a:t>std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 err="1"/>
              <a:t>int</a:t>
            </a:r>
            <a:r>
              <a:rPr lang="en-US" altLang="zh-CN" dirty="0"/>
              <a:t> main()</a:t>
            </a:r>
            <a:endParaRPr lang="en-US" altLang="zh-CN" dirty="0"/>
          </a:p>
          <a:p>
            <a:r>
              <a:rPr lang="en-US" altLang="zh-CN" dirty="0"/>
              <a:t>{</a:t>
            </a:r>
            <a:endParaRPr lang="en-US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int</a:t>
            </a:r>
            <a:r>
              <a:rPr lang="en-US" altLang="zh-CN" dirty="0"/>
              <a:t> a;</a:t>
            </a:r>
            <a:endParaRPr lang="en-US" altLang="zh-CN" dirty="0"/>
          </a:p>
          <a:p>
            <a:r>
              <a:rPr lang="en-US" altLang="zh-CN" dirty="0"/>
              <a:t>    a=rand();</a:t>
            </a:r>
            <a:endParaRPr lang="en-US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cout</a:t>
            </a:r>
            <a:r>
              <a:rPr lang="en-US" altLang="zh-CN" dirty="0"/>
              <a:t>&lt;&lt;a;</a:t>
            </a:r>
            <a:endParaRPr lang="en-US" altLang="zh-CN" dirty="0"/>
          </a:p>
          <a:p>
            <a:r>
              <a:rPr lang="en-US" altLang="zh-CN" dirty="0"/>
              <a:t>    return  0;</a:t>
            </a:r>
            <a:endParaRPr lang="en-US" altLang="zh-CN" dirty="0"/>
          </a:p>
          <a:p>
            <a:r>
              <a:rPr lang="en-US" altLang="zh-CN" dirty="0"/>
              <a:t>}</a:t>
            </a:r>
            <a:endParaRPr lang="en-US" altLang="zh-CN" dirty="0"/>
          </a:p>
        </p:txBody>
      </p:sp>
      <p:sp>
        <p:nvSpPr>
          <p:cNvPr id="5" name="TextBox 4"/>
          <p:cNvSpPr txBox="1"/>
          <p:nvPr/>
        </p:nvSpPr>
        <p:spPr>
          <a:xfrm>
            <a:off x="3275856" y="2476019"/>
            <a:ext cx="3539752" cy="186685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每次产生的结果是不变的</a:t>
            </a:r>
            <a:endParaRPr lang="en-US" altLang="zh-CN" sz="2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每次产生的随机数是相同的。</a:t>
            </a:r>
            <a:endParaRPr lang="en-US" altLang="zh-CN" sz="2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endParaRPr lang="en-US" altLang="zh-CN" sz="2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需要设置随机种子</a:t>
            </a:r>
            <a:endParaRPr lang="zh-CN" altLang="en-US" sz="2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956376" y="1635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1501" y="2684126"/>
            <a:ext cx="1809750" cy="18097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956376" y="1635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4" name="组合 3"/>
          <p:cNvGrpSpPr/>
          <p:nvPr/>
        </p:nvGrpSpPr>
        <p:grpSpPr>
          <a:xfrm>
            <a:off x="1570612" y="1169363"/>
            <a:ext cx="5554085" cy="1301898"/>
            <a:chOff x="188640" y="827584"/>
            <a:chExt cx="6454197" cy="1512888"/>
          </a:xfrm>
        </p:grpSpPr>
        <p:pic>
          <p:nvPicPr>
            <p:cNvPr id="8" name="Picture 85" descr="png-1449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8640" y="827584"/>
              <a:ext cx="1800225" cy="1512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矩形 35"/>
            <p:cNvSpPr/>
            <p:nvPr/>
          </p:nvSpPr>
          <p:spPr bwMode="auto">
            <a:xfrm>
              <a:off x="788715" y="1238746"/>
              <a:ext cx="691468" cy="679546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 sz="3200">
                  <a:latin typeface="楷体" panose="02010609060101010101" pitchFamily="49" charset="-122"/>
                  <a:ea typeface="楷体" panose="02010609060101010101" pitchFamily="49" charset="-122"/>
                </a:rPr>
                <a:t>随</a:t>
              </a:r>
              <a:endParaRPr lang="zh-CN" altLang="en-US" sz="3200" noProof="1">
                <a:effectLst>
                  <a:outerShdw blurRad="38100" dist="38100" dir="2700000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pic>
          <p:nvPicPr>
            <p:cNvPr id="11" name="Picture 85" descr="png-1449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39964" y="827584"/>
              <a:ext cx="1800225" cy="1512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矩形 35"/>
            <p:cNvSpPr/>
            <p:nvPr/>
          </p:nvSpPr>
          <p:spPr bwMode="auto">
            <a:xfrm>
              <a:off x="2340039" y="1238746"/>
              <a:ext cx="691468" cy="679546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 sz="3200">
                  <a:latin typeface="楷体" panose="02010609060101010101" pitchFamily="49" charset="-122"/>
                  <a:ea typeface="楷体" panose="02010609060101010101" pitchFamily="49" charset="-122"/>
                </a:rPr>
                <a:t>机</a:t>
              </a:r>
              <a:endParaRPr lang="zh-CN" altLang="en-US" sz="3200" noProof="1">
                <a:effectLst>
                  <a:outerShdw blurRad="38100" dist="38100" dir="2700000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pic>
          <p:nvPicPr>
            <p:cNvPr id="14" name="Picture 85" descr="png-1449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91288" y="827584"/>
              <a:ext cx="1800225" cy="1512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" name="矩形 35"/>
            <p:cNvSpPr/>
            <p:nvPr/>
          </p:nvSpPr>
          <p:spPr bwMode="auto">
            <a:xfrm>
              <a:off x="3891363" y="1238746"/>
              <a:ext cx="691468" cy="679546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 sz="3200" noProof="1">
                  <a:effectLst>
                    <a:outerShdw blurRad="38100" dist="38100" dir="2700000">
                      <a:srgbClr val="C0C0C0"/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</a:rPr>
                <a:t>种</a:t>
              </a:r>
              <a:endParaRPr lang="zh-CN" altLang="en-US" sz="3200" noProof="1">
                <a:effectLst>
                  <a:outerShdw blurRad="38100" dist="38100" dir="2700000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pic>
          <p:nvPicPr>
            <p:cNvPr id="17" name="Picture 85" descr="png-1449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42612" y="827584"/>
              <a:ext cx="1800225" cy="1512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" name="矩形 35"/>
            <p:cNvSpPr/>
            <p:nvPr/>
          </p:nvSpPr>
          <p:spPr bwMode="auto">
            <a:xfrm>
              <a:off x="5442687" y="1238746"/>
              <a:ext cx="691468" cy="679546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 sz="3200" noProof="1">
                  <a:effectLst>
                    <a:outerShdw blurRad="38100" dist="38100" dir="2700000">
                      <a:srgbClr val="C0C0C0"/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</a:rPr>
                <a:t>子</a:t>
              </a:r>
              <a:endParaRPr lang="zh-CN" altLang="en-US" sz="3200" noProof="1">
                <a:effectLst>
                  <a:outerShdw blurRad="38100" dist="38100" dir="2700000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sp>
        <p:nvSpPr>
          <p:cNvPr id="19" name="矩形 18"/>
          <p:cNvSpPr/>
          <p:nvPr/>
        </p:nvSpPr>
        <p:spPr>
          <a:xfrm>
            <a:off x="2915341" y="2515438"/>
            <a:ext cx="195758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kern="1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srand</a:t>
            </a:r>
            <a:r>
              <a:rPr lang="en-US" altLang="zh-CN" sz="3600" kern="100" dirty="0">
                <a:latin typeface="Consolas" panose="020B0609020204030204" pitchFamily="49" charset="0"/>
                <a:cs typeface="Times New Roman" panose="02020603050405020304" pitchFamily="18" charset="0"/>
              </a:rPr>
              <a:t>()</a:t>
            </a:r>
            <a:endParaRPr lang="zh-CN" altLang="en-US" sz="3600" dirty="0">
              <a:latin typeface="Consolas" panose="020B0609020204030204" pitchFamily="49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2915341" y="3263674"/>
            <a:ext cx="373050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kern="1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srand</a:t>
            </a:r>
            <a:r>
              <a:rPr lang="en-US" altLang="zh-CN" sz="3600" kern="100" dirty="0">
                <a:latin typeface="Consolas" panose="020B0609020204030204" pitchFamily="49" charset="0"/>
                <a:cs typeface="Times New Roman" panose="02020603050405020304" pitchFamily="18" charset="0"/>
              </a:rPr>
              <a:t>(time(0))</a:t>
            </a:r>
            <a:endParaRPr lang="zh-CN" altLang="en-US" sz="3600" dirty="0">
              <a:latin typeface="Consolas" panose="020B0609020204030204" pitchFamily="49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2915341" y="4011910"/>
            <a:ext cx="398378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kern="100" dirty="0">
                <a:latin typeface="Consolas" panose="020B0609020204030204" pitchFamily="49" charset="0"/>
                <a:cs typeface="Times New Roman" panose="02020603050405020304" pitchFamily="18" charset="0"/>
              </a:rPr>
              <a:t>#include&lt;</a:t>
            </a:r>
            <a:r>
              <a:rPr lang="en-US" altLang="zh-CN" sz="3600" kern="1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ctime</a:t>
            </a:r>
            <a:r>
              <a:rPr lang="en-US" altLang="zh-CN" sz="3600" kern="100" dirty="0">
                <a:latin typeface="Consolas" panose="020B0609020204030204" pitchFamily="49" charset="0"/>
                <a:cs typeface="Times New Roman" panose="02020603050405020304" pitchFamily="18" charset="0"/>
              </a:rPr>
              <a:t>&gt;</a:t>
            </a:r>
            <a:endParaRPr lang="zh-CN" altLang="en-US" sz="3600" dirty="0">
              <a:latin typeface="Consolas" panose="020B0609020204030204" pitchFamily="49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1" y="3223906"/>
            <a:ext cx="1342709" cy="134672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7956376" y="1635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763688" y="2281491"/>
            <a:ext cx="5298245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6600" kern="100" dirty="0">
                <a:latin typeface="Consolas" panose="020B0609020204030204" pitchFamily="49" charset="0"/>
                <a:cs typeface="Times New Roman" panose="02020603050405020304" pitchFamily="18" charset="0"/>
              </a:rPr>
              <a:t>rand()%5+1;</a:t>
            </a:r>
            <a:endParaRPr lang="zh-CN" altLang="en-US" sz="6600" dirty="0">
              <a:latin typeface="Consolas" panose="020B0609020204030204" pitchFamily="49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411760" y="1127814"/>
            <a:ext cx="3762568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6000" kern="100" dirty="0">
                <a:latin typeface="Consolas" panose="020B0609020204030204" pitchFamily="49" charset="0"/>
                <a:ea typeface="楷体" panose="02010609060101010101" pitchFamily="49" charset="-122"/>
                <a:cs typeface="Times New Roman" panose="02020603050405020304" pitchFamily="18" charset="0"/>
              </a:rPr>
              <a:t>1~5</a:t>
            </a:r>
            <a:r>
              <a:rPr lang="zh-CN" altLang="en-US" sz="6000" kern="100" dirty="0">
                <a:latin typeface="Consolas" panose="020B0609020204030204" pitchFamily="49" charset="0"/>
                <a:ea typeface="楷体" panose="02010609060101010101" pitchFamily="49" charset="-122"/>
                <a:cs typeface="Times New Roman" panose="02020603050405020304" pitchFamily="18" charset="0"/>
              </a:rPr>
              <a:t>的整数</a:t>
            </a:r>
            <a:endParaRPr lang="zh-CN" altLang="en-US" sz="6000" dirty="0">
              <a:latin typeface="Consolas" panose="020B0609020204030204" pitchFamily="49" charset="0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244063" y="3396222"/>
            <a:ext cx="741619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zh-CN" sz="3600" kern="100" dirty="0">
                <a:latin typeface="Consolas" panose="020B0609020204030204" pitchFamily="49" charset="0"/>
                <a:cs typeface="Times New Roman" panose="02020603050405020304" pitchFamily="18" charset="0"/>
              </a:rPr>
              <a:t>a-b         (b-a+1),a   </a:t>
            </a:r>
            <a:endParaRPr lang="pt-BR" altLang="zh-CN" sz="3600" kern="100" dirty="0"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r>
              <a:rPr lang="pt-BR" altLang="zh-CN" sz="3600" kern="100" dirty="0">
                <a:latin typeface="Consolas" panose="020B0609020204030204" pitchFamily="49" charset="0"/>
                <a:cs typeface="Times New Roman" panose="02020603050405020304" pitchFamily="18" charset="0"/>
              </a:rPr>
              <a:t>10-99       rand()%90+10    </a:t>
            </a:r>
            <a:endParaRPr lang="zh-CN" altLang="en-US" sz="36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2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7956376" y="1635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528" y="1060088"/>
            <a:ext cx="3721468" cy="3624447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4370626" y="844317"/>
            <a:ext cx="4017798" cy="37471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</a:pPr>
            <a:r>
              <a:rPr lang="en-US" altLang="zh-CN" sz="1400" dirty="0"/>
              <a:t>#include&lt;</a:t>
            </a:r>
            <a:r>
              <a:rPr lang="en-US" altLang="zh-CN" sz="1400" dirty="0" err="1"/>
              <a:t>iostream</a:t>
            </a:r>
            <a:r>
              <a:rPr lang="en-US" altLang="zh-CN" sz="1400" dirty="0"/>
              <a:t>&gt;</a:t>
            </a:r>
            <a:endParaRPr lang="en-US" altLang="zh-CN" sz="1400" dirty="0"/>
          </a:p>
          <a:p>
            <a:pPr>
              <a:lnSpc>
                <a:spcPts val="1500"/>
              </a:lnSpc>
            </a:pPr>
            <a:r>
              <a:rPr lang="en-US" altLang="zh-CN" sz="1400" dirty="0"/>
              <a:t>#include&lt;</a:t>
            </a:r>
            <a:r>
              <a:rPr lang="en-US" altLang="zh-CN" sz="1400" dirty="0" err="1"/>
              <a:t>ctime</a:t>
            </a:r>
            <a:r>
              <a:rPr lang="en-US" altLang="zh-CN" sz="1400" dirty="0"/>
              <a:t>&gt;      //</a:t>
            </a:r>
            <a:r>
              <a:rPr lang="zh-CN" altLang="en-US" sz="1400" dirty="0"/>
              <a:t>需要调用</a:t>
            </a:r>
            <a:r>
              <a:rPr lang="en-US" altLang="zh-CN" sz="1400" dirty="0"/>
              <a:t>time()</a:t>
            </a:r>
            <a:r>
              <a:rPr lang="zh-CN" altLang="en-US" sz="1400" dirty="0"/>
              <a:t>函数 </a:t>
            </a:r>
            <a:endParaRPr lang="zh-CN" altLang="en-US" sz="1400" dirty="0"/>
          </a:p>
          <a:p>
            <a:pPr>
              <a:lnSpc>
                <a:spcPts val="1500"/>
              </a:lnSpc>
            </a:pPr>
            <a:r>
              <a:rPr lang="en-US" altLang="zh-CN" sz="1400" dirty="0"/>
              <a:t>#include&lt;</a:t>
            </a:r>
            <a:r>
              <a:rPr lang="en-US" altLang="zh-CN" sz="1400" dirty="0" err="1"/>
              <a:t>cstdlib</a:t>
            </a:r>
            <a:r>
              <a:rPr lang="en-US" altLang="zh-CN" sz="1400" dirty="0"/>
              <a:t>&gt;    //</a:t>
            </a:r>
            <a:r>
              <a:rPr lang="zh-CN" altLang="en-US" sz="1400" dirty="0"/>
              <a:t>需要调用</a:t>
            </a:r>
            <a:r>
              <a:rPr lang="en-US" altLang="zh-CN" sz="1400" dirty="0" err="1"/>
              <a:t>srand</a:t>
            </a:r>
            <a:r>
              <a:rPr lang="en-US" altLang="zh-CN" sz="1400" dirty="0"/>
              <a:t>()</a:t>
            </a:r>
            <a:r>
              <a:rPr lang="zh-CN" altLang="en-US" sz="1400" dirty="0"/>
              <a:t>和</a:t>
            </a:r>
            <a:r>
              <a:rPr lang="en-US" altLang="zh-CN" sz="1400" dirty="0"/>
              <a:t>rand()</a:t>
            </a:r>
            <a:r>
              <a:rPr lang="zh-CN" altLang="en-US" sz="1400" dirty="0"/>
              <a:t>函数</a:t>
            </a:r>
            <a:endParaRPr lang="zh-CN" altLang="en-US" sz="1400" dirty="0"/>
          </a:p>
          <a:p>
            <a:pPr>
              <a:lnSpc>
                <a:spcPts val="1500"/>
              </a:lnSpc>
            </a:pPr>
            <a:r>
              <a:rPr lang="en-US" altLang="zh-CN" sz="1400" dirty="0"/>
              <a:t>using namespace </a:t>
            </a:r>
            <a:r>
              <a:rPr lang="en-US" altLang="zh-CN" sz="1400" dirty="0" err="1"/>
              <a:t>std</a:t>
            </a:r>
            <a:r>
              <a:rPr lang="en-US" altLang="zh-CN" sz="1400" dirty="0"/>
              <a:t>;</a:t>
            </a:r>
            <a:endParaRPr lang="en-US" altLang="zh-CN" sz="1400" dirty="0"/>
          </a:p>
          <a:p>
            <a:pPr>
              <a:lnSpc>
                <a:spcPts val="1500"/>
              </a:lnSpc>
            </a:pPr>
            <a:r>
              <a:rPr lang="en-US" altLang="zh-CN" sz="1400" dirty="0" err="1"/>
              <a:t>int</a:t>
            </a:r>
            <a:r>
              <a:rPr lang="en-US" altLang="zh-CN" sz="1400" dirty="0"/>
              <a:t> main()</a:t>
            </a:r>
            <a:endParaRPr lang="en-US" altLang="zh-CN" sz="1400" dirty="0"/>
          </a:p>
          <a:p>
            <a:pPr>
              <a:lnSpc>
                <a:spcPts val="1500"/>
              </a:lnSpc>
            </a:pPr>
            <a:r>
              <a:rPr lang="en-US" altLang="zh-CN" sz="1400" dirty="0"/>
              <a:t>{</a:t>
            </a:r>
            <a:endParaRPr lang="en-US" altLang="zh-CN" sz="1400" dirty="0"/>
          </a:p>
          <a:p>
            <a:pPr>
              <a:lnSpc>
                <a:spcPts val="1500"/>
              </a:lnSpc>
            </a:pPr>
            <a:r>
              <a:rPr lang="en-US" altLang="zh-CN" sz="1400" dirty="0"/>
              <a:t>  </a:t>
            </a:r>
            <a:r>
              <a:rPr lang="en-US" altLang="zh-CN" sz="1400" dirty="0" err="1"/>
              <a:t>int</a:t>
            </a:r>
            <a:r>
              <a:rPr lang="en-US" altLang="zh-CN" sz="1400" dirty="0"/>
              <a:t> </a:t>
            </a:r>
            <a:r>
              <a:rPr lang="en-US" altLang="zh-CN" sz="1400" dirty="0" err="1"/>
              <a:t>n,a</a:t>
            </a:r>
            <a:r>
              <a:rPr lang="en-US" altLang="zh-CN" sz="1400" dirty="0"/>
              <a:t>;</a:t>
            </a:r>
            <a:endParaRPr lang="en-US" altLang="zh-CN" sz="1400" dirty="0"/>
          </a:p>
          <a:p>
            <a:pPr>
              <a:lnSpc>
                <a:spcPts val="1500"/>
              </a:lnSpc>
            </a:pPr>
            <a:r>
              <a:rPr lang="en-US" altLang="zh-CN" sz="1400" dirty="0"/>
              <a:t>  </a:t>
            </a:r>
            <a:r>
              <a:rPr lang="en-US" altLang="zh-CN" sz="1400" dirty="0" err="1"/>
              <a:t>cout</a:t>
            </a:r>
            <a:r>
              <a:rPr lang="en-US" altLang="zh-CN" sz="1400" dirty="0"/>
              <a:t>&lt;&lt;"</a:t>
            </a:r>
            <a:r>
              <a:rPr lang="zh-CN" altLang="en-US" sz="1400" dirty="0"/>
              <a:t>抽奖程序</a:t>
            </a:r>
            <a:r>
              <a:rPr lang="en-US" altLang="zh-CN" sz="1400" dirty="0"/>
              <a:t>"&lt;&lt;</a:t>
            </a:r>
            <a:r>
              <a:rPr lang="en-US" altLang="zh-CN" sz="1400" dirty="0" err="1"/>
              <a:t>endl</a:t>
            </a:r>
            <a:r>
              <a:rPr lang="en-US" altLang="zh-CN" sz="1400" dirty="0"/>
              <a:t>;</a:t>
            </a:r>
            <a:endParaRPr lang="en-US" altLang="zh-CN" sz="1400" dirty="0"/>
          </a:p>
          <a:p>
            <a:pPr>
              <a:lnSpc>
                <a:spcPts val="1500"/>
              </a:lnSpc>
            </a:pPr>
            <a:r>
              <a:rPr lang="en-US" altLang="zh-CN" sz="1400" dirty="0"/>
              <a:t>  </a:t>
            </a:r>
            <a:r>
              <a:rPr lang="en-US" altLang="zh-CN" sz="1400" dirty="0" err="1"/>
              <a:t>cout</a:t>
            </a:r>
            <a:r>
              <a:rPr lang="en-US" altLang="zh-CN" sz="1400" dirty="0"/>
              <a:t>&lt;&lt;"</a:t>
            </a:r>
            <a:r>
              <a:rPr lang="zh-CN" altLang="en-US" sz="1400" dirty="0"/>
              <a:t>请输入</a:t>
            </a:r>
            <a:r>
              <a:rPr lang="en-US" altLang="zh-CN" sz="1400" dirty="0"/>
              <a:t>1-5:";</a:t>
            </a:r>
            <a:endParaRPr lang="en-US" altLang="zh-CN" sz="1400" dirty="0"/>
          </a:p>
          <a:p>
            <a:pPr>
              <a:lnSpc>
                <a:spcPts val="1500"/>
              </a:lnSpc>
            </a:pPr>
            <a:r>
              <a:rPr lang="en-US" altLang="zh-CN" sz="1400" dirty="0"/>
              <a:t>  </a:t>
            </a:r>
            <a:r>
              <a:rPr lang="en-US" altLang="zh-CN" sz="1400" dirty="0" err="1"/>
              <a:t>cin</a:t>
            </a:r>
            <a:r>
              <a:rPr lang="en-US" altLang="zh-CN" sz="1400" dirty="0"/>
              <a:t>&gt;&gt;n;</a:t>
            </a:r>
            <a:endParaRPr lang="en-US" altLang="zh-CN" sz="1400" dirty="0"/>
          </a:p>
          <a:p>
            <a:pPr>
              <a:lnSpc>
                <a:spcPts val="1500"/>
              </a:lnSpc>
            </a:pPr>
            <a:r>
              <a:rPr lang="en-US" altLang="zh-CN" sz="1400" dirty="0"/>
              <a:t>  </a:t>
            </a:r>
            <a:r>
              <a:rPr lang="en-US" altLang="zh-CN" sz="1400" dirty="0" err="1"/>
              <a:t>srand</a:t>
            </a:r>
            <a:r>
              <a:rPr lang="en-US" altLang="zh-CN" sz="1400" dirty="0"/>
              <a:t>(time(0));  //</a:t>
            </a:r>
            <a:r>
              <a:rPr lang="zh-CN" altLang="en-US" sz="1400" dirty="0"/>
              <a:t>随机种子</a:t>
            </a:r>
            <a:endParaRPr lang="zh-CN" altLang="en-US" sz="1400" dirty="0"/>
          </a:p>
          <a:p>
            <a:pPr>
              <a:lnSpc>
                <a:spcPts val="1500"/>
              </a:lnSpc>
            </a:pPr>
            <a:r>
              <a:rPr lang="zh-CN" altLang="en-US" sz="1400" dirty="0"/>
              <a:t>  </a:t>
            </a:r>
            <a:r>
              <a:rPr lang="en-US" altLang="zh-CN" sz="1400" dirty="0"/>
              <a:t>a=rand()%5+1;  //</a:t>
            </a:r>
            <a:r>
              <a:rPr lang="zh-CN" altLang="en-US" sz="1400" dirty="0"/>
              <a:t>随机产生</a:t>
            </a:r>
            <a:r>
              <a:rPr lang="en-US" altLang="zh-CN" sz="1400" dirty="0"/>
              <a:t>1</a:t>
            </a:r>
            <a:r>
              <a:rPr lang="zh-CN" altLang="en-US" sz="1400" dirty="0"/>
              <a:t>至</a:t>
            </a:r>
            <a:r>
              <a:rPr lang="en-US" altLang="zh-CN" sz="1400" dirty="0"/>
              <a:t>5</a:t>
            </a:r>
            <a:r>
              <a:rPr lang="zh-CN" altLang="en-US" sz="1400" dirty="0"/>
              <a:t>的整数</a:t>
            </a:r>
            <a:endParaRPr lang="zh-CN" altLang="en-US" sz="1400" dirty="0"/>
          </a:p>
          <a:p>
            <a:pPr>
              <a:lnSpc>
                <a:spcPts val="1500"/>
              </a:lnSpc>
            </a:pPr>
            <a:r>
              <a:rPr lang="zh-CN" altLang="en-US" sz="1400" dirty="0"/>
              <a:t>  </a:t>
            </a:r>
            <a:r>
              <a:rPr lang="en-US" altLang="zh-CN" sz="1400" dirty="0"/>
              <a:t>if(n==a)</a:t>
            </a:r>
            <a:endParaRPr lang="en-US" altLang="zh-CN" sz="1400" dirty="0"/>
          </a:p>
          <a:p>
            <a:pPr>
              <a:lnSpc>
                <a:spcPts val="1500"/>
              </a:lnSpc>
            </a:pPr>
            <a:r>
              <a:rPr lang="en-US" altLang="zh-CN" sz="1400" dirty="0"/>
              <a:t>      </a:t>
            </a:r>
            <a:r>
              <a:rPr lang="en-US" altLang="zh-CN" sz="1400" dirty="0" err="1"/>
              <a:t>cout</a:t>
            </a:r>
            <a:r>
              <a:rPr lang="en-US" altLang="zh-CN" sz="1400" dirty="0"/>
              <a:t>&lt;&lt;"</a:t>
            </a:r>
            <a:r>
              <a:rPr lang="zh-CN" altLang="en-US" sz="1400" dirty="0"/>
              <a:t>恭喜您，中奖了！奖金</a:t>
            </a:r>
            <a:r>
              <a:rPr lang="en-US" altLang="zh-CN" sz="1400" dirty="0"/>
              <a:t>10</a:t>
            </a:r>
            <a:r>
              <a:rPr lang="zh-CN" altLang="en-US" sz="1400" dirty="0"/>
              <a:t>元</a:t>
            </a:r>
            <a:r>
              <a:rPr lang="en-US" altLang="zh-CN" sz="1400" dirty="0"/>
              <a:t>"&lt;&lt;</a:t>
            </a:r>
            <a:r>
              <a:rPr lang="en-US" altLang="zh-CN" sz="1400" dirty="0" err="1"/>
              <a:t>endl</a:t>
            </a:r>
            <a:r>
              <a:rPr lang="en-US" altLang="zh-CN" sz="1400" dirty="0"/>
              <a:t>;</a:t>
            </a:r>
            <a:endParaRPr lang="en-US" altLang="zh-CN" sz="1400" dirty="0"/>
          </a:p>
          <a:p>
            <a:pPr>
              <a:lnSpc>
                <a:spcPts val="1500"/>
              </a:lnSpc>
            </a:pPr>
            <a:r>
              <a:rPr lang="en-US" altLang="zh-CN" sz="1400" dirty="0"/>
              <a:t>  else</a:t>
            </a:r>
            <a:endParaRPr lang="en-US" altLang="zh-CN" sz="1400" dirty="0"/>
          </a:p>
          <a:p>
            <a:pPr>
              <a:lnSpc>
                <a:spcPts val="1500"/>
              </a:lnSpc>
            </a:pPr>
            <a:r>
              <a:rPr lang="en-US" altLang="zh-CN" sz="1400" dirty="0"/>
              <a:t>      </a:t>
            </a:r>
            <a:r>
              <a:rPr lang="en-US" altLang="zh-CN" sz="1400" dirty="0" err="1"/>
              <a:t>cout</a:t>
            </a:r>
            <a:r>
              <a:rPr lang="en-US" altLang="zh-CN" sz="1400" dirty="0"/>
              <a:t>&lt;&lt;"</a:t>
            </a:r>
            <a:r>
              <a:rPr lang="zh-CN" altLang="en-US" sz="1400" dirty="0"/>
              <a:t>没中奖，请付费</a:t>
            </a:r>
            <a:r>
              <a:rPr lang="en-US" altLang="zh-CN" sz="1400" dirty="0"/>
              <a:t>2</a:t>
            </a:r>
            <a:r>
              <a:rPr lang="zh-CN" altLang="en-US" sz="1400" dirty="0"/>
              <a:t>元</a:t>
            </a:r>
            <a:r>
              <a:rPr lang="en-US" altLang="zh-CN" sz="1400" dirty="0"/>
              <a:t>" &lt;&lt;</a:t>
            </a:r>
            <a:r>
              <a:rPr lang="en-US" altLang="zh-CN" sz="1400" dirty="0" err="1"/>
              <a:t>endl</a:t>
            </a:r>
            <a:r>
              <a:rPr lang="en-US" altLang="zh-CN" sz="1400" dirty="0"/>
              <a:t>;</a:t>
            </a:r>
            <a:endParaRPr lang="en-US" altLang="zh-CN" sz="1400" dirty="0"/>
          </a:p>
          <a:p>
            <a:pPr>
              <a:lnSpc>
                <a:spcPts val="1500"/>
              </a:lnSpc>
            </a:pPr>
            <a:r>
              <a:rPr lang="en-US" altLang="zh-CN" sz="1400" dirty="0"/>
              <a:t>  </a:t>
            </a:r>
            <a:r>
              <a:rPr lang="en-US" altLang="zh-CN" sz="1400" dirty="0" err="1"/>
              <a:t>cout</a:t>
            </a:r>
            <a:r>
              <a:rPr lang="en-US" altLang="zh-CN" sz="1400" dirty="0"/>
              <a:t>&lt;&lt;"</a:t>
            </a:r>
            <a:r>
              <a:rPr lang="zh-CN" altLang="en-US" sz="1400" dirty="0"/>
              <a:t>中奖号码是</a:t>
            </a:r>
            <a:r>
              <a:rPr lang="en-US" altLang="zh-CN" sz="1400" dirty="0"/>
              <a:t>"&lt;&lt;a&lt;&lt;</a:t>
            </a:r>
            <a:r>
              <a:rPr lang="en-US" altLang="zh-CN" sz="1400" dirty="0" err="1"/>
              <a:t>endl</a:t>
            </a:r>
            <a:r>
              <a:rPr lang="en-US" altLang="zh-CN" sz="1400" dirty="0"/>
              <a:t>;</a:t>
            </a:r>
            <a:endParaRPr lang="en-US" altLang="zh-CN" sz="1400" dirty="0"/>
          </a:p>
          <a:p>
            <a:pPr>
              <a:lnSpc>
                <a:spcPts val="1500"/>
              </a:lnSpc>
            </a:pPr>
            <a:r>
              <a:rPr lang="en-US" altLang="zh-CN" sz="1400" dirty="0"/>
              <a:t>  return  0;</a:t>
            </a:r>
            <a:endParaRPr lang="en-US" altLang="zh-CN" sz="1400" dirty="0"/>
          </a:p>
          <a:p>
            <a:pPr>
              <a:lnSpc>
                <a:spcPts val="1500"/>
              </a:lnSpc>
            </a:pPr>
            <a:r>
              <a:rPr lang="en-US" altLang="zh-CN" sz="1400" dirty="0"/>
              <a:t>} </a:t>
            </a:r>
            <a:endParaRPr lang="en-US" altLang="zh-CN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059582"/>
            <a:ext cx="8229600" cy="569218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solidFill>
                  <a:srgbClr val="00B0F0"/>
                </a:solidFill>
              </a:rPr>
              <a:t>编程小词典</a:t>
            </a:r>
            <a:br>
              <a:rPr lang="en-US" altLang="zh-CN" dirty="0">
                <a:solidFill>
                  <a:srgbClr val="00B0F0"/>
                </a:solidFill>
              </a:rPr>
            </a:b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15616" y="1707654"/>
            <a:ext cx="6408712" cy="1800200"/>
          </a:xfrm>
        </p:spPr>
        <p:txBody>
          <a:bodyPr>
            <a:normAutofit/>
          </a:bodyPr>
          <a:lstStyle/>
          <a:p>
            <a:pPr lvl="1"/>
            <a:r>
              <a:rPr lang="en-US" altLang="zh-CN" sz="2600" dirty="0"/>
              <a:t>rand    random</a:t>
            </a:r>
            <a:r>
              <a:rPr lang="zh-CN" altLang="en-US" sz="2600" dirty="0"/>
              <a:t>的缩写，随机</a:t>
            </a:r>
            <a:endParaRPr lang="en-US" altLang="zh-CN" sz="2600" dirty="0"/>
          </a:p>
          <a:p>
            <a:pPr lvl="1"/>
            <a:r>
              <a:rPr lang="en-US" altLang="zh-CN" sz="2600" dirty="0" err="1"/>
              <a:t>srand</a:t>
            </a:r>
            <a:r>
              <a:rPr lang="en-US" altLang="zh-CN" sz="2600" dirty="0"/>
              <a:t>   </a:t>
            </a:r>
            <a:r>
              <a:rPr lang="zh-CN" altLang="en-US" sz="2600" dirty="0"/>
              <a:t>设置随机种子</a:t>
            </a:r>
            <a:endParaRPr lang="en-US" altLang="zh-CN" sz="2600" dirty="0"/>
          </a:p>
          <a:p>
            <a:pPr lvl="1"/>
            <a:r>
              <a:rPr lang="en-US" altLang="zh-CN" sz="2600" dirty="0"/>
              <a:t>time    </a:t>
            </a:r>
            <a:r>
              <a:rPr lang="zh-CN" altLang="en-US" sz="2600" dirty="0"/>
              <a:t>时间</a:t>
            </a:r>
            <a:endParaRPr lang="zh-CN" altLang="en-US" sz="26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6717" y="2501009"/>
            <a:ext cx="1909861" cy="202788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/>
          <p:cNvSpPr/>
          <p:nvPr/>
        </p:nvSpPr>
        <p:spPr>
          <a:xfrm>
            <a:off x="31814" y="32475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7665" y="556032"/>
            <a:ext cx="309634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55718" y="1419622"/>
            <a:ext cx="272013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、选择题</a:t>
            </a:r>
            <a:endParaRPr lang="en-US" altLang="zh-CN" sz="20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一个字节（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Byte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）由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(  )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个二进制位组成。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lphaUcPeriod"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8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lphaUcPeriod"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4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lphaUcPeriod"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lphaUcPeriod"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16</a:t>
            </a:r>
            <a:endParaRPr lang="zh-CN" altLang="en-US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3759511" y="895028"/>
            <a:ext cx="3928190" cy="4248472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/>
              <a:t>2</a:t>
            </a:r>
            <a:r>
              <a:rPr lang="zh-CN" altLang="en-US" sz="2000" dirty="0"/>
              <a:t>、阅读程序写结果。</a:t>
            </a:r>
            <a:endParaRPr lang="en-US" altLang="zh-CN" sz="2000" dirty="0"/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altLang="zh-CN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iostream</a:t>
            </a: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#include&lt;</a:t>
            </a:r>
            <a:r>
              <a:rPr lang="en-US" altLang="zh-CN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ctime</a:t>
            </a: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en-US" altLang="zh-CN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inlclude</a:t>
            </a: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cstdlib</a:t>
            </a: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</a:t>
            </a:r>
            <a:r>
              <a:rPr lang="en-US" altLang="zh-CN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main()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x;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srand</a:t>
            </a: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(time(0));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x=rand()%10;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if(x&lt;10)  x=10;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if(x&gt;10)  x--;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if(x!=10)  x--;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&lt;&lt;x;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88555" y="1804401"/>
            <a:ext cx="1800200" cy="14773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      x             </a:t>
            </a:r>
            <a:endParaRPr lang="en-US" altLang="zh-CN" dirty="0"/>
          </a:p>
          <a:p>
            <a:r>
              <a:rPr lang="en-US" altLang="zh-CN" dirty="0"/>
              <a:t>----------------------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5203057" y="4155926"/>
            <a:ext cx="27709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输出</a:t>
            </a:r>
            <a:r>
              <a:rPr lang="en-US" altLang="zh-CN" dirty="0"/>
              <a:t>:____________</a:t>
            </a:r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7478" y="3413775"/>
            <a:ext cx="1098826" cy="130629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 animBg="1"/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555779"/>
            <a:ext cx="3672408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719471" y="1501048"/>
            <a:ext cx="2808312" cy="3384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prstClr val="black"/>
                </a:solidFill>
              </a:rPr>
              <a:t>3</a:t>
            </a:r>
            <a:r>
              <a:rPr lang="zh-CN" altLang="en-US" sz="2000" dirty="0">
                <a:solidFill>
                  <a:prstClr val="black"/>
                </a:solidFill>
              </a:rPr>
              <a:t>、完善程序。</a:t>
            </a:r>
            <a:endParaRPr lang="en-US" altLang="zh-CN" sz="1800" dirty="0">
              <a:solidFill>
                <a:prstClr val="black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800" b="0" dirty="0">
                <a:solidFill>
                  <a:prstClr val="black"/>
                </a:solidFill>
              </a:rPr>
              <a:t>一道两位数加法运算题：第一步，由计算机产生两个两位数；第二步，输出题目，如</a:t>
            </a:r>
            <a:r>
              <a:rPr lang="en-US" altLang="zh-CN" sz="1800" b="0" dirty="0">
                <a:solidFill>
                  <a:prstClr val="black"/>
                </a:solidFill>
              </a:rPr>
              <a:t>“45+78=”;</a:t>
            </a:r>
            <a:r>
              <a:rPr lang="zh-CN" altLang="en-US" sz="1800" b="0" dirty="0">
                <a:solidFill>
                  <a:prstClr val="black"/>
                </a:solidFill>
              </a:rPr>
              <a:t>第三步，输入答案</a:t>
            </a:r>
            <a:r>
              <a:rPr lang="zh-CN" altLang="en-US" sz="1800" b="0">
                <a:solidFill>
                  <a:prstClr val="black"/>
                </a:solidFill>
              </a:rPr>
              <a:t>；第四步，</a:t>
            </a:r>
            <a:r>
              <a:rPr lang="zh-CN" altLang="en-US" sz="1800" b="0" dirty="0">
                <a:solidFill>
                  <a:prstClr val="black"/>
                </a:solidFill>
              </a:rPr>
              <a:t>判断答案是否正确。</a:t>
            </a:r>
            <a:endParaRPr lang="en-US" altLang="zh-CN" sz="1800" b="0" dirty="0">
              <a:solidFill>
                <a:prstClr val="black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1800" b="0" dirty="0">
              <a:solidFill>
                <a:prstClr val="black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3923928" y="556285"/>
            <a:ext cx="4680520" cy="403187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600" dirty="0">
                <a:cs typeface="Times New Roman" panose="02020603050405020304" pitchFamily="18" charset="0"/>
              </a:rPr>
              <a:t>#include &lt;</a:t>
            </a:r>
            <a:r>
              <a:rPr lang="en-US" altLang="zh-CN" sz="1600" dirty="0" err="1">
                <a:cs typeface="Times New Roman" panose="02020603050405020304" pitchFamily="18" charset="0"/>
              </a:rPr>
              <a:t>iostream</a:t>
            </a:r>
            <a:r>
              <a:rPr lang="en-US" altLang="zh-CN" sz="1600" dirty="0">
                <a:cs typeface="Times New Roman" panose="02020603050405020304" pitchFamily="18" charset="0"/>
              </a:rPr>
              <a:t>&gt;</a:t>
            </a:r>
            <a:endParaRPr lang="en-US" altLang="zh-CN" sz="1600" dirty="0">
              <a:cs typeface="Times New Roman" panose="02020603050405020304" pitchFamily="18" charset="0"/>
            </a:endParaRPr>
          </a:p>
          <a:p>
            <a:r>
              <a:rPr lang="en-US" altLang="zh-CN" sz="1600" dirty="0">
                <a:cs typeface="Times New Roman" panose="02020603050405020304" pitchFamily="18" charset="0"/>
              </a:rPr>
              <a:t>#include&lt;</a:t>
            </a:r>
            <a:r>
              <a:rPr lang="en-US" altLang="zh-CN" sz="1600" dirty="0" err="1">
                <a:cs typeface="Times New Roman" panose="02020603050405020304" pitchFamily="18" charset="0"/>
              </a:rPr>
              <a:t>ctime</a:t>
            </a:r>
            <a:r>
              <a:rPr lang="en-US" altLang="zh-CN" sz="1600" dirty="0">
                <a:cs typeface="Times New Roman" panose="02020603050405020304" pitchFamily="18" charset="0"/>
              </a:rPr>
              <a:t>&gt;</a:t>
            </a:r>
            <a:endParaRPr lang="en-US" altLang="zh-CN" sz="1600" dirty="0">
              <a:cs typeface="Times New Roman" panose="02020603050405020304" pitchFamily="18" charset="0"/>
            </a:endParaRPr>
          </a:p>
          <a:p>
            <a:r>
              <a:rPr lang="en-US" altLang="zh-CN" sz="1600" dirty="0">
                <a:cs typeface="Times New Roman" panose="02020603050405020304" pitchFamily="18" charset="0"/>
              </a:rPr>
              <a:t>#</a:t>
            </a:r>
            <a:r>
              <a:rPr lang="en-US" altLang="zh-CN" sz="1600" dirty="0" err="1">
                <a:cs typeface="Times New Roman" panose="02020603050405020304" pitchFamily="18" charset="0"/>
              </a:rPr>
              <a:t>inlclude</a:t>
            </a:r>
            <a:r>
              <a:rPr lang="en-US" altLang="zh-CN" sz="1600" dirty="0">
                <a:cs typeface="Times New Roman" panose="02020603050405020304" pitchFamily="18" charset="0"/>
              </a:rPr>
              <a:t>&lt;</a:t>
            </a:r>
            <a:r>
              <a:rPr lang="en-US" altLang="zh-CN" sz="1600" dirty="0" err="1">
                <a:cs typeface="Times New Roman" panose="02020603050405020304" pitchFamily="18" charset="0"/>
              </a:rPr>
              <a:t>cstdlib</a:t>
            </a:r>
            <a:r>
              <a:rPr lang="en-US" altLang="zh-CN" sz="1600" dirty="0">
                <a:cs typeface="Times New Roman" panose="02020603050405020304" pitchFamily="18" charset="0"/>
              </a:rPr>
              <a:t>&gt;</a:t>
            </a:r>
            <a:endParaRPr lang="en-US" altLang="zh-CN" sz="1600" dirty="0">
              <a:cs typeface="Times New Roman" panose="02020603050405020304" pitchFamily="18" charset="0"/>
            </a:endParaRPr>
          </a:p>
          <a:p>
            <a:r>
              <a:rPr lang="en-US" altLang="zh-CN" sz="1600" dirty="0">
                <a:cs typeface="Times New Roman" panose="02020603050405020304" pitchFamily="18" charset="0"/>
              </a:rPr>
              <a:t>using namespace </a:t>
            </a:r>
            <a:r>
              <a:rPr lang="en-US" altLang="zh-CN" sz="1600" dirty="0" err="1">
                <a:cs typeface="Times New Roman" panose="02020603050405020304" pitchFamily="18" charset="0"/>
              </a:rPr>
              <a:t>std</a:t>
            </a:r>
            <a:r>
              <a:rPr lang="en-US" altLang="zh-CN" sz="1600" dirty="0">
                <a:cs typeface="Times New Roman" panose="02020603050405020304" pitchFamily="18" charset="0"/>
              </a:rPr>
              <a:t>;</a:t>
            </a:r>
            <a:endParaRPr lang="en-US" altLang="zh-CN" sz="1600" dirty="0">
              <a:cs typeface="Times New Roman" panose="02020603050405020304" pitchFamily="18" charset="0"/>
            </a:endParaRPr>
          </a:p>
          <a:p>
            <a:r>
              <a:rPr lang="en-US" altLang="zh-CN" sz="1600" dirty="0" err="1">
                <a:cs typeface="Times New Roman" panose="02020603050405020304" pitchFamily="18" charset="0"/>
              </a:rPr>
              <a:t>int</a:t>
            </a:r>
            <a:r>
              <a:rPr lang="en-US" altLang="zh-CN" sz="1600" dirty="0">
                <a:cs typeface="Times New Roman" panose="02020603050405020304" pitchFamily="18" charset="0"/>
              </a:rPr>
              <a:t> main()</a:t>
            </a:r>
            <a:endParaRPr lang="en-US" altLang="zh-CN" sz="1600" dirty="0">
              <a:cs typeface="Times New Roman" panose="02020603050405020304" pitchFamily="18" charset="0"/>
            </a:endParaRPr>
          </a:p>
          <a:p>
            <a:r>
              <a:rPr lang="en-US" altLang="zh-CN" sz="1600" dirty="0">
                <a:cs typeface="Times New Roman" panose="02020603050405020304" pitchFamily="18" charset="0"/>
              </a:rPr>
              <a:t>{</a:t>
            </a:r>
            <a:endParaRPr lang="en-US" altLang="zh-CN" sz="1600" dirty="0">
              <a:cs typeface="Times New Roman" panose="02020603050405020304" pitchFamily="18" charset="0"/>
            </a:endParaRPr>
          </a:p>
          <a:p>
            <a:r>
              <a:rPr lang="en-US" altLang="zh-CN" sz="1600" dirty="0">
                <a:cs typeface="Times New Roman" panose="02020603050405020304" pitchFamily="18" charset="0"/>
              </a:rPr>
              <a:t>    </a:t>
            </a:r>
            <a:r>
              <a:rPr lang="en-US" altLang="zh-CN" sz="1600" dirty="0" err="1">
                <a:cs typeface="Times New Roman" panose="02020603050405020304" pitchFamily="18" charset="0"/>
              </a:rPr>
              <a:t>int</a:t>
            </a:r>
            <a:r>
              <a:rPr lang="en-US" altLang="zh-CN" sz="1600" dirty="0">
                <a:cs typeface="Times New Roman" panose="02020603050405020304" pitchFamily="18" charset="0"/>
              </a:rPr>
              <a:t>  </a:t>
            </a:r>
            <a:r>
              <a:rPr lang="en-US" altLang="zh-CN" sz="1600" dirty="0" err="1">
                <a:cs typeface="Times New Roman" panose="02020603050405020304" pitchFamily="18" charset="0"/>
              </a:rPr>
              <a:t>n,a,b</a:t>
            </a:r>
            <a:r>
              <a:rPr lang="en-US" altLang="zh-CN" sz="1600" dirty="0">
                <a:cs typeface="Times New Roman" panose="02020603050405020304" pitchFamily="18" charset="0"/>
              </a:rPr>
              <a:t>;</a:t>
            </a:r>
            <a:endParaRPr lang="en-US" altLang="zh-CN" sz="1600" dirty="0">
              <a:cs typeface="Times New Roman" panose="02020603050405020304" pitchFamily="18" charset="0"/>
            </a:endParaRPr>
          </a:p>
          <a:p>
            <a:r>
              <a:rPr lang="en-US" altLang="zh-CN" sz="1600" dirty="0">
                <a:cs typeface="Times New Roman" panose="02020603050405020304" pitchFamily="18" charset="0"/>
              </a:rPr>
              <a:t>    </a:t>
            </a:r>
            <a:r>
              <a:rPr lang="en-US" altLang="zh-CN" sz="1600" dirty="0" err="1">
                <a:cs typeface="Times New Roman" panose="02020603050405020304" pitchFamily="18" charset="0"/>
              </a:rPr>
              <a:t>srand</a:t>
            </a:r>
            <a:r>
              <a:rPr lang="en-US" altLang="zh-CN" sz="1600" dirty="0">
                <a:cs typeface="Times New Roman" panose="02020603050405020304" pitchFamily="18" charset="0"/>
              </a:rPr>
              <a:t>(time(0));</a:t>
            </a:r>
            <a:endParaRPr lang="en-US" altLang="zh-CN" sz="1600" dirty="0">
              <a:cs typeface="Times New Roman" panose="02020603050405020304" pitchFamily="18" charset="0"/>
            </a:endParaRPr>
          </a:p>
          <a:p>
            <a:r>
              <a:rPr lang="en-US" altLang="zh-CN" sz="1600" dirty="0">
                <a:cs typeface="Times New Roman" panose="02020603050405020304" pitchFamily="18" charset="0"/>
              </a:rPr>
              <a:t>    a=______________;</a:t>
            </a:r>
            <a:endParaRPr lang="en-US" altLang="zh-CN" sz="1600" dirty="0">
              <a:cs typeface="Times New Roman" panose="02020603050405020304" pitchFamily="18" charset="0"/>
            </a:endParaRPr>
          </a:p>
          <a:p>
            <a:r>
              <a:rPr lang="en-US" altLang="zh-CN" sz="1600" dirty="0">
                <a:cs typeface="Times New Roman" panose="02020603050405020304" pitchFamily="18" charset="0"/>
              </a:rPr>
              <a:t>    b=______________;</a:t>
            </a:r>
            <a:endParaRPr lang="en-US" altLang="zh-CN" sz="1600" dirty="0">
              <a:cs typeface="Times New Roman" panose="02020603050405020304" pitchFamily="18" charset="0"/>
            </a:endParaRPr>
          </a:p>
          <a:p>
            <a:r>
              <a:rPr lang="en-US" altLang="zh-CN" sz="1600" dirty="0">
                <a:cs typeface="Times New Roman" panose="02020603050405020304" pitchFamily="18" charset="0"/>
              </a:rPr>
              <a:t>    </a:t>
            </a:r>
            <a:r>
              <a:rPr lang="en-US" altLang="zh-CN" sz="1600" dirty="0" err="1">
                <a:cs typeface="Times New Roman" panose="02020603050405020304" pitchFamily="18" charset="0"/>
              </a:rPr>
              <a:t>cout</a:t>
            </a:r>
            <a:r>
              <a:rPr lang="en-US" altLang="zh-CN" sz="1600" dirty="0">
                <a:cs typeface="Times New Roman" panose="02020603050405020304" pitchFamily="18" charset="0"/>
              </a:rPr>
              <a:t>&lt;&lt;a&lt;&lt;'+'&lt;&lt;b&lt;&lt;'=';</a:t>
            </a:r>
            <a:endParaRPr lang="en-US" altLang="zh-CN" sz="1600" dirty="0">
              <a:cs typeface="Times New Roman" panose="02020603050405020304" pitchFamily="18" charset="0"/>
            </a:endParaRPr>
          </a:p>
          <a:p>
            <a:r>
              <a:rPr lang="en-US" altLang="zh-CN" sz="1600" dirty="0">
                <a:cs typeface="Times New Roman" panose="02020603050405020304" pitchFamily="18" charset="0"/>
              </a:rPr>
              <a:t>    </a:t>
            </a:r>
            <a:r>
              <a:rPr lang="en-US" altLang="zh-CN" sz="1600" dirty="0" err="1">
                <a:cs typeface="Times New Roman" panose="02020603050405020304" pitchFamily="18" charset="0"/>
              </a:rPr>
              <a:t>cin</a:t>
            </a:r>
            <a:r>
              <a:rPr lang="en-US" altLang="zh-CN" sz="1600" dirty="0">
                <a:cs typeface="Times New Roman" panose="02020603050405020304" pitchFamily="18" charset="0"/>
              </a:rPr>
              <a:t>&gt;&gt;n;</a:t>
            </a:r>
            <a:endParaRPr lang="en-US" altLang="zh-CN" sz="1600" dirty="0">
              <a:cs typeface="Times New Roman" panose="02020603050405020304" pitchFamily="18" charset="0"/>
            </a:endParaRPr>
          </a:p>
          <a:p>
            <a:r>
              <a:rPr lang="en-US" altLang="zh-CN" sz="1600" dirty="0">
                <a:cs typeface="Times New Roman" panose="02020603050405020304" pitchFamily="18" charset="0"/>
              </a:rPr>
              <a:t>    if(________)  </a:t>
            </a:r>
            <a:r>
              <a:rPr lang="en-US" altLang="zh-CN" sz="1600" dirty="0" err="1">
                <a:cs typeface="Times New Roman" panose="02020603050405020304" pitchFamily="18" charset="0"/>
              </a:rPr>
              <a:t>cout</a:t>
            </a:r>
            <a:r>
              <a:rPr lang="en-US" altLang="zh-CN" sz="1600" dirty="0">
                <a:cs typeface="Times New Roman" panose="02020603050405020304" pitchFamily="18" charset="0"/>
              </a:rPr>
              <a:t>&lt;&lt;"</a:t>
            </a:r>
            <a:r>
              <a:rPr lang="zh-CN" altLang="en-US" sz="1600" dirty="0">
                <a:cs typeface="Times New Roman" panose="02020603050405020304" pitchFamily="18" charset="0"/>
              </a:rPr>
              <a:t>对</a:t>
            </a:r>
            <a:r>
              <a:rPr lang="en-US" altLang="zh-CN" sz="1600" dirty="0">
                <a:cs typeface="Times New Roman" panose="02020603050405020304" pitchFamily="18" charset="0"/>
              </a:rPr>
              <a:t>";</a:t>
            </a:r>
            <a:endParaRPr lang="en-US" altLang="zh-CN" sz="1600" dirty="0">
              <a:cs typeface="Times New Roman" panose="02020603050405020304" pitchFamily="18" charset="0"/>
            </a:endParaRPr>
          </a:p>
          <a:p>
            <a:r>
              <a:rPr lang="en-US" altLang="zh-CN" sz="1600" dirty="0">
                <a:cs typeface="Times New Roman" panose="02020603050405020304" pitchFamily="18" charset="0"/>
              </a:rPr>
              <a:t>    else   </a:t>
            </a:r>
            <a:r>
              <a:rPr lang="en-US" altLang="zh-CN" sz="1600" dirty="0" err="1">
                <a:cs typeface="Times New Roman" panose="02020603050405020304" pitchFamily="18" charset="0"/>
              </a:rPr>
              <a:t>cout</a:t>
            </a:r>
            <a:r>
              <a:rPr lang="en-US" altLang="zh-CN" sz="1600" dirty="0">
                <a:cs typeface="Times New Roman" panose="02020603050405020304" pitchFamily="18" charset="0"/>
              </a:rPr>
              <a:t>&lt;&lt;"</a:t>
            </a:r>
            <a:r>
              <a:rPr lang="zh-CN" altLang="en-US" sz="1600" dirty="0">
                <a:cs typeface="Times New Roman" panose="02020603050405020304" pitchFamily="18" charset="0"/>
              </a:rPr>
              <a:t>错</a:t>
            </a:r>
            <a:r>
              <a:rPr lang="en-US" altLang="zh-CN" sz="1600" dirty="0">
                <a:cs typeface="Times New Roman" panose="02020603050405020304" pitchFamily="18" charset="0"/>
              </a:rPr>
              <a:t>";</a:t>
            </a:r>
            <a:endParaRPr lang="en-US" altLang="zh-CN" sz="1600" dirty="0">
              <a:cs typeface="Times New Roman" panose="02020603050405020304" pitchFamily="18" charset="0"/>
            </a:endParaRPr>
          </a:p>
          <a:p>
            <a:r>
              <a:rPr lang="en-US" altLang="zh-CN" sz="1600" dirty="0">
                <a:cs typeface="Times New Roman" panose="02020603050405020304" pitchFamily="18" charset="0"/>
              </a:rPr>
              <a:t>    return 0;</a:t>
            </a:r>
            <a:endParaRPr lang="en-US" altLang="zh-CN" sz="1600" dirty="0">
              <a:cs typeface="Times New Roman" panose="02020603050405020304" pitchFamily="18" charset="0"/>
            </a:endParaRPr>
          </a:p>
          <a:p>
            <a:r>
              <a:rPr lang="en-US" altLang="zh-CN" sz="1600" dirty="0">
                <a:cs typeface="Times New Roman" panose="02020603050405020304" pitchFamily="18" charset="0"/>
              </a:rPr>
              <a:t>}</a:t>
            </a:r>
            <a:endParaRPr lang="en-US" altLang="zh-CN" sz="2400" dirty="0">
              <a:cs typeface="Times New Roman" panose="02020603050405020304" pitchFamily="18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8304" y="3216562"/>
            <a:ext cx="1098826" cy="130629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/>
          <p:nvPr/>
        </p:nvSpPr>
        <p:spPr>
          <a:xfrm>
            <a:off x="4067943" y="313756"/>
            <a:ext cx="4012253" cy="245867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4"/>
          <p:cNvSpPr txBox="1">
            <a:spLocks noGrp="1"/>
          </p:cNvSpPr>
          <p:nvPr>
            <p:ph type="title"/>
          </p:nvPr>
        </p:nvSpPr>
        <p:spPr>
          <a:xfrm>
            <a:off x="4283968" y="915566"/>
            <a:ext cx="401225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 err="1">
                <a:solidFill>
                  <a:srgbClr val="00B0F0"/>
                </a:solidFill>
              </a:rPr>
              <a:t>下课</a:t>
            </a:r>
            <a:r>
              <a:rPr lang="zh-CN" altLang="en-US" sz="7200" dirty="0">
                <a:solidFill>
                  <a:srgbClr val="00B0F0"/>
                </a:solidFill>
              </a:rPr>
              <a:t>啦</a:t>
            </a:r>
            <a:r>
              <a:rPr sz="7200" dirty="0">
                <a:solidFill>
                  <a:srgbClr val="00B0F0"/>
                </a:solidFill>
              </a:rPr>
              <a:t>！</a:t>
            </a:r>
            <a:endParaRPr sz="7200" dirty="0">
              <a:solidFill>
                <a:srgbClr val="00B0F0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524" y="1744580"/>
            <a:ext cx="3697191" cy="34042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1491</Words>
  <Application>WPS 演示</Application>
  <PresentationFormat>全屏显示(16:9)</PresentationFormat>
  <Paragraphs>150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3" baseType="lpstr">
      <vt:lpstr>Arial</vt:lpstr>
      <vt:lpstr>宋体</vt:lpstr>
      <vt:lpstr>Wingdings</vt:lpstr>
      <vt:lpstr>黑体</vt:lpstr>
      <vt:lpstr>仿宋</vt:lpstr>
      <vt:lpstr>微软雅黑</vt:lpstr>
      <vt:lpstr>Calibri</vt:lpstr>
      <vt:lpstr>楷体</vt:lpstr>
      <vt:lpstr>Times New Roman</vt:lpstr>
      <vt:lpstr>Consolas</vt:lpstr>
      <vt:lpstr>Arial Unicode MS</vt:lpstr>
      <vt:lpstr>Office 主题</vt:lpstr>
      <vt:lpstr>PowerPoint 演示文稿</vt:lpstr>
      <vt:lpstr>抽奖——随机函数rand()</vt:lpstr>
      <vt:lpstr> </vt:lpstr>
      <vt:lpstr> </vt:lpstr>
      <vt:lpstr> </vt:lpstr>
      <vt:lpstr> </vt:lpstr>
      <vt:lpstr> </vt:lpstr>
      <vt:lpstr>编程小词典 </vt:lpstr>
      <vt:lpstr>课后作业</vt:lpstr>
      <vt:lpstr>课后作业</vt:lpstr>
      <vt:lpstr>下课啦！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叮咚</cp:lastModifiedBy>
  <cp:revision>110</cp:revision>
  <dcterms:created xsi:type="dcterms:W3CDTF">2018-07-03T13:24:00Z</dcterms:created>
  <dcterms:modified xsi:type="dcterms:W3CDTF">2021-04-13T03:15:39Z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2052-11.1.0.10314</vt:lpwstr>
  </property>
</Properties>
</file>