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80" r:id="rId3"/>
    <p:sldId id="276" r:id="rId4"/>
    <p:sldId id="269" r:id="rId5"/>
    <p:sldId id="278" r:id="rId6"/>
    <p:sldId id="279" r:id="rId7"/>
    <p:sldId id="275" r:id="rId8"/>
    <p:sldId id="277" r:id="rId9"/>
    <p:sldId id="268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457200" y="-257175"/>
            <a:ext cx="10058400" cy="56578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-5588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755576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454912" y="23557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47664" y="325582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春晓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altLang="zh-CN" sz="4000" dirty="0" err="1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cout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语句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424" y="529791"/>
            <a:ext cx="8229600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春晓</a:t>
            </a:r>
            <a:r>
              <a:rPr lang="en-US" altLang="zh-CN" dirty="0">
                <a:solidFill>
                  <a:srgbClr val="00B0F0"/>
                </a:solidFill>
              </a:rPr>
              <a:t>  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en-US" altLang="zh-CN" sz="2400" dirty="0" err="1">
                <a:solidFill>
                  <a:srgbClr val="00B0F0"/>
                </a:solidFill>
              </a:rPr>
              <a:t>cout</a:t>
            </a:r>
            <a:r>
              <a:rPr lang="zh-CN" altLang="en-US" sz="2400" dirty="0">
                <a:solidFill>
                  <a:srgbClr val="00B0F0"/>
                </a:solidFill>
              </a:rPr>
              <a:t>语句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3" name="内容占位符 12"/>
          <p:cNvSpPr>
            <a:spLocks noGrp="1"/>
          </p:cNvSpPr>
          <p:nvPr>
            <p:ph idx="1"/>
          </p:nvPr>
        </p:nvSpPr>
        <p:spPr>
          <a:xfrm>
            <a:off x="457200" y="1347614"/>
            <a:ext cx="5698976" cy="3034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000" dirty="0"/>
              <a:t>唐代诗人孟浩然的</a:t>
            </a:r>
            <a:r>
              <a:rPr lang="en-US" altLang="zh-CN" sz="2000" dirty="0"/>
              <a:t>《</a:t>
            </a:r>
            <a:r>
              <a:rPr lang="zh-CN" altLang="en-US" sz="2000" dirty="0"/>
              <a:t>春晓</a:t>
            </a:r>
            <a:r>
              <a:rPr lang="en-US" altLang="zh-CN" sz="2000" dirty="0"/>
              <a:t>》</a:t>
            </a:r>
            <a:r>
              <a:rPr lang="zh-CN" altLang="en-US" sz="2000" dirty="0"/>
              <a:t>是一首家喻户晓的诗，但校园里更流行的是孩子们自编的</a:t>
            </a:r>
            <a:r>
              <a:rPr lang="en-US" altLang="zh-CN" sz="2000" dirty="0"/>
              <a:t>《</a:t>
            </a:r>
            <a:r>
              <a:rPr lang="zh-CN" altLang="en-US" sz="2000" dirty="0"/>
              <a:t>春晓</a:t>
            </a:r>
            <a:r>
              <a:rPr lang="en-US" altLang="zh-CN" sz="2000" dirty="0"/>
              <a:t>》</a:t>
            </a:r>
            <a:r>
              <a:rPr lang="zh-CN" altLang="en-US" sz="2000" dirty="0"/>
              <a:t>。</a:t>
            </a:r>
            <a:endParaRPr lang="zh-CN" altLang="en-US" sz="2000" dirty="0"/>
          </a:p>
        </p:txBody>
      </p:sp>
      <p:pic>
        <p:nvPicPr>
          <p:cNvPr id="37" name="图片 36"/>
          <p:cNvPicPr/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8027"/>
            <a:ext cx="2714432" cy="1924782"/>
          </a:xfrm>
          <a:prstGeom prst="rect">
            <a:avLst/>
          </a:prstGeom>
          <a:ln>
            <a:noFill/>
          </a:ln>
          <a:effectLst>
            <a:softEdge rad="0"/>
          </a:effectLst>
        </p:spPr>
      </p:pic>
      <p:sp>
        <p:nvSpPr>
          <p:cNvPr id="36" name="TextBox 35"/>
          <p:cNvSpPr txBox="1"/>
          <p:nvPr/>
        </p:nvSpPr>
        <p:spPr>
          <a:xfrm>
            <a:off x="6876256" y="843558"/>
            <a:ext cx="1569660" cy="212237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       春晓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春眠不觉晓，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处处蚊子咬。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夜来嗡嗡声，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脓包知多少。</a:t>
            </a:r>
            <a:endParaRPr lang="zh-CN" altLang="en-US" dirty="0"/>
          </a:p>
        </p:txBody>
      </p:sp>
      <p:sp>
        <p:nvSpPr>
          <p:cNvPr id="39" name="矩形: 圆角 6"/>
          <p:cNvSpPr>
            <a:spLocks noChangeArrowheads="1"/>
          </p:cNvSpPr>
          <p:nvPr/>
        </p:nvSpPr>
        <p:spPr bwMode="auto">
          <a:xfrm>
            <a:off x="1915509" y="2427734"/>
            <a:ext cx="3157583" cy="1250423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0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试编一程序，</a:t>
            </a:r>
            <a:r>
              <a:rPr lang="zh-CN" altLang="en-US" sz="20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输出</a:t>
            </a:r>
            <a:r>
              <a:rPr lang="zh-CN" sz="2000" kern="100" dirty="0">
                <a:effectLst/>
                <a:latin typeface="Calibri" panose="020F0502020204030204" pitchFamily="34" charset="0"/>
                <a:ea typeface="楷体" panose="02010609060101010101" pitchFamily="49" charset="-122"/>
                <a:cs typeface="Times New Roman" panose="02020603050405020304" pitchFamily="18" charset="0"/>
              </a:rPr>
              <a:t>此首诗中的一句，如“春眠不觉晓，处处蚊子咬。”</a:t>
            </a:r>
            <a:endParaRPr lang="zh-CN" sz="20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2508250"/>
            <a:ext cx="2151455" cy="216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3" grpId="0" build="p"/>
      <p:bldP spid="36" grpId="0" animBg="1"/>
      <p:bldP spid="3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28132" y="384921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55764" y="44948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矩形 40"/>
          <p:cNvSpPr/>
          <p:nvPr/>
        </p:nvSpPr>
        <p:spPr>
          <a:xfrm>
            <a:off x="827584" y="1059582"/>
            <a:ext cx="7056784" cy="33239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3580"/>
              </a:lnSpc>
            </a:pPr>
            <a:r>
              <a:rPr lang="zh-CN" altLang="en-US" sz="20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#include&lt;iostream&gt;    </a:t>
            </a:r>
            <a:endParaRPr lang="zh-CN" altLang="en-US" sz="20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ts val="3580"/>
              </a:lnSpc>
            </a:pPr>
            <a:r>
              <a:rPr lang="zh-CN" altLang="en-US" sz="20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using namespace std;                  </a:t>
            </a:r>
            <a:endParaRPr lang="zh-CN" altLang="en-US" sz="20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ts val="3580"/>
              </a:lnSpc>
            </a:pPr>
            <a:r>
              <a:rPr lang="zh-CN" altLang="en-US" sz="20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int main()</a:t>
            </a:r>
            <a:endParaRPr lang="zh-CN" altLang="en-US" sz="20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ts val="3580"/>
              </a:lnSpc>
            </a:pPr>
            <a:r>
              <a:rPr lang="zh-CN" altLang="en-US" sz="20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{</a:t>
            </a:r>
            <a:endParaRPr lang="zh-CN" altLang="en-US" sz="20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ts val="3580"/>
              </a:lnSpc>
            </a:pPr>
            <a:r>
              <a:rPr lang="zh-CN" altLang="en-US" sz="20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cout&lt;&lt;"春眠不觉晓，处处蚊子咬。";</a:t>
            </a:r>
            <a:endParaRPr lang="zh-CN" altLang="en-US" sz="20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ts val="3580"/>
              </a:lnSpc>
            </a:pPr>
            <a:r>
              <a:rPr lang="zh-CN" altLang="en-US" sz="20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  return 0;</a:t>
            </a:r>
            <a:endParaRPr lang="zh-CN" altLang="en-US" sz="20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  <a:p>
            <a:pPr>
              <a:lnSpc>
                <a:spcPts val="3580"/>
              </a:lnSpc>
            </a:pPr>
            <a:r>
              <a:rPr lang="zh-CN" altLang="en-US" sz="2000" dirty="0">
                <a:latin typeface="Consolas" panose="020B0609020204030204" pitchFamily="49" charset="0"/>
                <a:ea typeface="楷体" panose="02010609060101010101" pitchFamily="49" charset="-122"/>
                <a:cs typeface="Calibri" panose="020F0502020204030204" pitchFamily="34" charset="0"/>
              </a:rPr>
              <a:t>}</a:t>
            </a:r>
            <a:endParaRPr lang="zh-CN" altLang="en-US" sz="2000" dirty="0">
              <a:latin typeface="Consolas" panose="020B0609020204030204" pitchFamily="49" charset="0"/>
              <a:ea typeface="楷体" panose="02010609060101010101" pitchFamily="49" charset="-122"/>
              <a:cs typeface="Calibri" panose="020F050202020403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843808" y="4230605"/>
            <a:ext cx="5618910" cy="36933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一般一个</a:t>
            </a:r>
            <a:r>
              <a:rPr lang="en-US" altLang="zh-CN" dirty="0"/>
              <a:t>C++</a:t>
            </a:r>
            <a:r>
              <a:rPr lang="zh-CN" altLang="en-US" dirty="0"/>
              <a:t>程序由头文件、命名空间和主函数构成。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6136" y="1026869"/>
            <a:ext cx="2981559" cy="22304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9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5" name="矩形 4"/>
          <p:cNvSpPr/>
          <p:nvPr/>
        </p:nvSpPr>
        <p:spPr>
          <a:xfrm>
            <a:off x="467544" y="1419622"/>
            <a:ext cx="249299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6000" kern="100" dirty="0">
                <a:ea typeface="楷体" panose="02010609060101010101" pitchFamily="49" charset="-122"/>
                <a:cs typeface="Times New Roman" panose="02020603050405020304" pitchFamily="18" charset="0"/>
              </a:rPr>
              <a:t>“流”</a:t>
            </a:r>
            <a:endParaRPr lang="zh-CN" altLang="en-US" sz="6000" dirty="0"/>
          </a:p>
        </p:txBody>
      </p:sp>
      <p:sp>
        <p:nvSpPr>
          <p:cNvPr id="6" name="矩形 5"/>
          <p:cNvSpPr/>
          <p:nvPr/>
        </p:nvSpPr>
        <p:spPr>
          <a:xfrm>
            <a:off x="496144" y="2715766"/>
            <a:ext cx="272382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6000" dirty="0" err="1">
                <a:latin typeface="Consolas" panose="020B0609020204030204" pitchFamily="49" charset="0"/>
                <a:cs typeface="Calibri" panose="020F0502020204030204" pitchFamily="34" charset="0"/>
              </a:rPr>
              <a:t>cout</a:t>
            </a:r>
            <a:r>
              <a:rPr lang="en-US" altLang="zh-CN" sz="6000" dirty="0">
                <a:latin typeface="Consolas" panose="020B0609020204030204" pitchFamily="49" charset="0"/>
                <a:cs typeface="Calibri" panose="020F0502020204030204" pitchFamily="34" charset="0"/>
              </a:rPr>
              <a:t>&lt;&lt;</a:t>
            </a:r>
            <a:endParaRPr lang="zh-CN" altLang="en-US" sz="6000" dirty="0">
              <a:latin typeface="Consolas" panose="020B0609020204030204" pitchFamily="49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779912" y="1727398"/>
            <a:ext cx="4544834" cy="40011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sz="2000" dirty="0"/>
              <a:t>输入和输出是用“流”的方式实现的。</a:t>
            </a:r>
            <a:endParaRPr lang="zh-CN" altLang="en-US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3779912" y="2931790"/>
            <a:ext cx="3775393" cy="96295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/>
              <a:t>将输出流的内容输出到设备上。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(</a:t>
            </a:r>
            <a:r>
              <a:rPr lang="zh-CN" altLang="en-US" sz="2000" dirty="0"/>
              <a:t>一般指标准输出设备：显示器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3601821"/>
            <a:ext cx="1224136" cy="12241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3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"/>
          <p:cNvSpPr/>
          <p:nvPr/>
        </p:nvSpPr>
        <p:spPr>
          <a:xfrm>
            <a:off x="28132" y="261697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1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矩形 3"/>
          <p:cNvSpPr/>
          <p:nvPr/>
        </p:nvSpPr>
        <p:spPr>
          <a:xfrm>
            <a:off x="755576" y="1433138"/>
            <a:ext cx="3384376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春 晓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 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春眠不觉晓，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处处蚊子咬。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夜来嗡嗡声，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脓包知多少。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return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sp>
        <p:nvSpPr>
          <p:cNvPr id="7" name="TextBox 6"/>
          <p:cNvSpPr txBox="1"/>
          <p:nvPr/>
        </p:nvSpPr>
        <p:spPr>
          <a:xfrm>
            <a:off x="4355976" y="1150575"/>
            <a:ext cx="3855105" cy="15696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编程提示</a:t>
            </a:r>
            <a:endParaRPr lang="en-US" altLang="zh-CN" sz="2400" dirty="0">
              <a:solidFill>
                <a:srgbClr val="C00000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solidFill>
                  <a:srgbClr val="C00000"/>
                </a:solidFill>
              </a:rPr>
              <a:t>双引号和分号，都是英文符号，不是中文符号。</a:t>
            </a:r>
            <a:endParaRPr lang="en-US" altLang="zh-CN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solidFill>
                  <a:srgbClr val="C00000"/>
                </a:solidFill>
              </a:rPr>
              <a:t>各输入法切换：</a:t>
            </a:r>
            <a:r>
              <a:rPr lang="en-US" altLang="zh-CN" dirty="0" err="1">
                <a:solidFill>
                  <a:srgbClr val="C00000"/>
                </a:solidFill>
              </a:rPr>
              <a:t>Ctrl+Shift</a:t>
            </a:r>
            <a:endParaRPr lang="en-US" altLang="zh-CN" dirty="0">
              <a:solidFill>
                <a:srgbClr val="C0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zh-CN" altLang="en-US" dirty="0">
                <a:solidFill>
                  <a:srgbClr val="C00000"/>
                </a:solidFill>
              </a:rPr>
              <a:t>中英文切换：</a:t>
            </a:r>
            <a:r>
              <a:rPr lang="en-US" altLang="zh-CN" dirty="0">
                <a:solidFill>
                  <a:srgbClr val="C00000"/>
                </a:solidFill>
              </a:rPr>
              <a:t>Ctrl+</a:t>
            </a:r>
            <a:r>
              <a:rPr lang="zh-CN" altLang="en-US" dirty="0">
                <a:solidFill>
                  <a:srgbClr val="C00000"/>
                </a:solidFill>
              </a:rPr>
              <a:t>空格</a:t>
            </a: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52120" y="3238949"/>
            <a:ext cx="2492990" cy="120032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CN" altLang="en-US" dirty="0"/>
              <a:t>把标点符号写错，</a:t>
            </a:r>
            <a:endParaRPr lang="en-US" altLang="zh-CN" dirty="0"/>
          </a:p>
          <a:p>
            <a:r>
              <a:rPr lang="zh-CN" altLang="en-US" dirty="0"/>
              <a:t>造成程序语法错误，</a:t>
            </a:r>
            <a:endParaRPr lang="en-US" altLang="zh-CN" dirty="0"/>
          </a:p>
          <a:p>
            <a:r>
              <a:rPr lang="zh-CN" altLang="en-US" dirty="0"/>
              <a:t>是初学者最易犯的毛病</a:t>
            </a:r>
            <a:endParaRPr lang="en-US" altLang="zh-CN" dirty="0"/>
          </a:p>
          <a:p>
            <a:r>
              <a:rPr lang="en-US" altLang="zh-CN" dirty="0"/>
              <a:t>(</a:t>
            </a:r>
            <a:r>
              <a:rPr lang="zh-CN" altLang="en-US" dirty="0"/>
              <a:t>没有之一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pic>
        <p:nvPicPr>
          <p:cNvPr id="3" name="图片 2" descr="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0200" y="2939415"/>
            <a:ext cx="1272984" cy="180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28132" y="313166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769665"/>
            <a:ext cx="8229600" cy="857250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31640" y="1419622"/>
            <a:ext cx="7416824" cy="2958976"/>
          </a:xfrm>
        </p:spPr>
        <p:txBody>
          <a:bodyPr>
            <a:noAutofit/>
          </a:bodyPr>
          <a:lstStyle/>
          <a:p>
            <a:pPr lvl="1"/>
            <a:r>
              <a:rPr lang="en-US" altLang="zh-CN" sz="2400" dirty="0"/>
              <a:t>include  </a:t>
            </a:r>
            <a:r>
              <a:rPr lang="zh-CN" altLang="en-US" sz="2400" dirty="0"/>
              <a:t>包含，包括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iostream</a:t>
            </a:r>
            <a:r>
              <a:rPr lang="en-US" altLang="zh-CN" sz="2400" dirty="0"/>
              <a:t>  </a:t>
            </a:r>
            <a:r>
              <a:rPr lang="zh-CN" altLang="en-US" sz="2400" dirty="0"/>
              <a:t>输入输出流</a:t>
            </a:r>
            <a:endParaRPr lang="en-US" altLang="zh-CN" sz="2400" dirty="0"/>
          </a:p>
          <a:p>
            <a:pPr lvl="1"/>
            <a:r>
              <a:rPr lang="en-US" altLang="zh-CN" sz="2400" dirty="0"/>
              <a:t>using  </a:t>
            </a:r>
            <a:r>
              <a:rPr lang="zh-CN" altLang="en-US" sz="2400" dirty="0"/>
              <a:t>使用</a:t>
            </a:r>
            <a:endParaRPr lang="en-US" altLang="zh-CN" sz="2400" dirty="0"/>
          </a:p>
          <a:p>
            <a:pPr lvl="1"/>
            <a:r>
              <a:rPr lang="en-US" altLang="zh-CN" sz="2400" dirty="0"/>
              <a:t>namespace  </a:t>
            </a:r>
            <a:r>
              <a:rPr lang="zh-CN" altLang="en-US" sz="2400" dirty="0"/>
              <a:t>命名空间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std</a:t>
            </a:r>
            <a:r>
              <a:rPr lang="en-US" altLang="zh-CN" sz="2400" dirty="0"/>
              <a:t>  standard</a:t>
            </a:r>
            <a:r>
              <a:rPr lang="zh-CN" altLang="en-US" sz="2400" dirty="0"/>
              <a:t>的缩写，标准的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cout</a:t>
            </a:r>
            <a:r>
              <a:rPr lang="en-US" altLang="zh-CN" sz="2400" dirty="0"/>
              <a:t>  </a:t>
            </a:r>
            <a:r>
              <a:rPr lang="zh-CN" altLang="en-US" sz="2400" dirty="0"/>
              <a:t>输出流</a:t>
            </a:r>
            <a:endParaRPr lang="en-US" altLang="zh-CN" sz="2400" dirty="0"/>
          </a:p>
          <a:p>
            <a:pPr lvl="1"/>
            <a:r>
              <a:rPr lang="en-US" altLang="zh-CN" sz="2400" dirty="0" err="1"/>
              <a:t>endl</a:t>
            </a:r>
            <a:r>
              <a:rPr lang="en-US" altLang="zh-CN" sz="2400" dirty="0"/>
              <a:t>  end line</a:t>
            </a:r>
            <a:r>
              <a:rPr lang="zh-CN" altLang="en-US" sz="2400" dirty="0"/>
              <a:t>的缩写，换行</a:t>
            </a:r>
            <a:endParaRPr lang="en-US" altLang="zh-CN" sz="2400" dirty="0"/>
          </a:p>
          <a:p>
            <a:pPr marL="457200" lvl="1" indent="0">
              <a:buNone/>
            </a:pPr>
            <a:endParaRPr lang="zh-CN" altLang="en-US" sz="16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087120"/>
            <a:ext cx="2546614" cy="24125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28132" y="196498"/>
            <a:ext cx="9080372" cy="4659981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317204"/>
            <a:ext cx="8824928" cy="4446721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518" y="655433"/>
            <a:ext cx="8229600" cy="497210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牛刀“大”试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87824" y="1275605"/>
            <a:ext cx="2623497" cy="33354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pPr marL="0" indent="0">
              <a:buNone/>
            </a:pPr>
            <a:r>
              <a:rPr lang="zh-CN" altLang="en-US" sz="2000" dirty="0"/>
              <a:t>输出</a:t>
            </a:r>
            <a:r>
              <a:rPr lang="en-US" altLang="zh-CN" sz="2000" dirty="0"/>
              <a:t>:____________</a:t>
            </a:r>
            <a:endParaRPr lang="en-US" altLang="zh-CN" sz="2000" dirty="0"/>
          </a:p>
        </p:txBody>
      </p:sp>
      <p:sp>
        <p:nvSpPr>
          <p:cNvPr id="4" name="TextBox 3"/>
          <p:cNvSpPr txBox="1"/>
          <p:nvPr/>
        </p:nvSpPr>
        <p:spPr>
          <a:xfrm>
            <a:off x="251520" y="1293767"/>
            <a:ext cx="2448272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计算机系统由（  ）组成。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主板、显示器、键盘、鼠标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操作系统和应用软件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主机、输出设备、输入设备</a:t>
            </a:r>
            <a:endParaRPr lang="en-US" altLang="zh-CN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zh-CN" altLang="en-US" sz="1600" dirty="0">
                <a:latin typeface="仿宋" panose="02010609060101010101" pitchFamily="49" charset="-122"/>
                <a:ea typeface="仿宋" panose="02010609060101010101" pitchFamily="49" charset="-122"/>
              </a:rPr>
              <a:t>硬件系统和软件系统</a:t>
            </a:r>
            <a:endParaRPr lang="zh-CN" altLang="en-US" sz="1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5940152" y="1275606"/>
            <a:ext cx="2623497" cy="27363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/>
              <a:t>3</a:t>
            </a:r>
            <a:r>
              <a:rPr lang="zh-CN" altLang="en-US" sz="2000" dirty="0"/>
              <a:t>、完善程序。</a:t>
            </a:r>
            <a:endParaRPr lang="en-US" altLang="zh-CN" sz="2000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000" dirty="0"/>
              <a:t>编个程序，来做个自我介绍吧。</a:t>
            </a:r>
            <a:endParaRPr lang="en-US" altLang="zh-CN" sz="2000" dirty="0"/>
          </a:p>
        </p:txBody>
      </p:sp>
      <p:sp>
        <p:nvSpPr>
          <p:cNvPr id="7" name="矩形 6"/>
          <p:cNvSpPr/>
          <p:nvPr/>
        </p:nvSpPr>
        <p:spPr>
          <a:xfrm>
            <a:off x="3219452" y="1775319"/>
            <a:ext cx="216024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&lt;&lt;"99+1=";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&lt;&lt;100;</a:t>
            </a:r>
            <a:endParaRPr lang="en-US" altLang="zh-CN" sz="1600" dirty="0"/>
          </a:p>
          <a:p>
            <a:r>
              <a:rPr lang="en-US" altLang="zh-CN" sz="1600" dirty="0"/>
              <a:t>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sp>
        <p:nvSpPr>
          <p:cNvPr id="8" name="矩形 7"/>
          <p:cNvSpPr/>
          <p:nvPr/>
        </p:nvSpPr>
        <p:spPr>
          <a:xfrm>
            <a:off x="5620875" y="2525291"/>
            <a:ext cx="3343613" cy="18466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600" dirty="0"/>
              <a:t>#include &lt;</a:t>
            </a:r>
            <a:r>
              <a:rPr lang="en-US" altLang="zh-CN" sz="1600" dirty="0" err="1"/>
              <a:t>iostream</a:t>
            </a:r>
            <a:r>
              <a:rPr lang="en-US" altLang="zh-CN" sz="1600" dirty="0"/>
              <a:t>&gt;</a:t>
            </a:r>
            <a:endParaRPr lang="en-US" altLang="zh-CN" sz="1600" dirty="0"/>
          </a:p>
          <a:p>
            <a:r>
              <a:rPr lang="en-US" altLang="zh-CN" sz="1600" dirty="0"/>
              <a:t>using namespace </a:t>
            </a:r>
            <a:r>
              <a:rPr lang="en-US" altLang="zh-CN" sz="1600" dirty="0" err="1"/>
              <a:t>std</a:t>
            </a:r>
            <a:r>
              <a:rPr lang="en-US" altLang="zh-CN" sz="1600" dirty="0"/>
              <a:t>;</a:t>
            </a:r>
            <a:endParaRPr lang="en-US" altLang="zh-CN" sz="1600" dirty="0"/>
          </a:p>
          <a:p>
            <a:r>
              <a:rPr lang="en-US" altLang="zh-CN" sz="1600" dirty="0" err="1"/>
              <a:t>int</a:t>
            </a:r>
            <a:r>
              <a:rPr lang="en-US" altLang="zh-CN" sz="1600" dirty="0"/>
              <a:t> main()</a:t>
            </a:r>
            <a:endParaRPr lang="en-US" altLang="zh-CN" sz="1600" dirty="0"/>
          </a:p>
          <a:p>
            <a:r>
              <a:rPr lang="en-US" altLang="zh-CN" sz="1600" dirty="0"/>
              <a:t>{</a:t>
            </a:r>
            <a:endParaRPr lang="en-US" altLang="zh-CN" sz="1600" dirty="0"/>
          </a:p>
          <a:p>
            <a:r>
              <a:rPr lang="en-US" altLang="zh-CN" sz="1600" dirty="0"/>
              <a:t>    </a:t>
            </a:r>
            <a:r>
              <a:rPr lang="en-US" altLang="zh-CN" sz="1600" dirty="0" err="1"/>
              <a:t>cout</a:t>
            </a:r>
            <a:r>
              <a:rPr lang="en-US" altLang="zh-CN" sz="1600" dirty="0"/>
              <a:t>&lt;&lt;"</a:t>
            </a:r>
            <a:r>
              <a:rPr lang="zh-CN" altLang="en-US" sz="1600" dirty="0"/>
              <a:t>大家好，</a:t>
            </a:r>
            <a:r>
              <a:rPr lang="en-US" altLang="zh-CN" sz="1600" dirty="0"/>
              <a:t>____________";</a:t>
            </a:r>
            <a:endParaRPr lang="en-US" altLang="zh-CN" sz="1600" dirty="0"/>
          </a:p>
          <a:p>
            <a:r>
              <a:rPr lang="en-US" altLang="zh-CN" sz="1600" dirty="0"/>
              <a:t>    return 0;</a:t>
            </a:r>
            <a:endParaRPr lang="en-US" altLang="zh-CN" sz="1600" dirty="0"/>
          </a:p>
          <a:p>
            <a:r>
              <a:rPr lang="en-US" altLang="zh-CN" sz="1600" dirty="0"/>
              <a:t>}</a:t>
            </a:r>
            <a:endParaRPr lang="zh-CN" alt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25659" y="3724620"/>
            <a:ext cx="1039501" cy="10395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4" grpId="0"/>
      <p:bldP spid="6" grpId="0"/>
      <p:bldP spid="7" grpId="0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139952" y="483519"/>
            <a:ext cx="4553609" cy="2304255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 rot="291428">
            <a:off x="4363133" y="941863"/>
            <a:ext cx="447285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r>
              <a:rPr lang="en-US" altLang="zh-CN" sz="7200" dirty="0">
                <a:solidFill>
                  <a:srgbClr val="00B0F0"/>
                </a:solidFill>
              </a:rPr>
              <a:t>  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337" y="1502273"/>
            <a:ext cx="3384376" cy="331849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996</Words>
  <Application>WPS 演示</Application>
  <PresentationFormat>全屏显示(16:9)</PresentationFormat>
  <Paragraphs>114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黑体</vt:lpstr>
      <vt:lpstr>仿宋</vt:lpstr>
      <vt:lpstr>微软雅黑</vt:lpstr>
      <vt:lpstr>Calibri</vt:lpstr>
      <vt:lpstr>楷体</vt:lpstr>
      <vt:lpstr>Times New Roman</vt:lpstr>
      <vt:lpstr>Consolas</vt:lpstr>
      <vt:lpstr>Arial Unicode MS</vt:lpstr>
      <vt:lpstr>Office 主题</vt:lpstr>
      <vt:lpstr>PowerPoint 演示文稿</vt:lpstr>
      <vt:lpstr>春晓  ——cout语句</vt:lpstr>
      <vt:lpstr>PowerPoint 演示文稿</vt:lpstr>
      <vt:lpstr> </vt:lpstr>
      <vt:lpstr> </vt:lpstr>
      <vt:lpstr>编程小词典</vt:lpstr>
      <vt:lpstr>牛刀“大”试</vt:lpstr>
      <vt:lpstr>下课啦！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68</cp:revision>
  <dcterms:created xsi:type="dcterms:W3CDTF">2018-07-03T13:24:00Z</dcterms:created>
  <dcterms:modified xsi:type="dcterms:W3CDTF">2021-04-12T07:17:15Z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