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2" r:id="rId3"/>
    <p:sldId id="269" r:id="rId4"/>
    <p:sldId id="281" r:id="rId5"/>
    <p:sldId id="267" r:id="rId6"/>
    <p:sldId id="280" r:id="rId7"/>
    <p:sldId id="284" r:id="rId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58" y="19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角谷猜想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(while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语句的应用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1743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372" y="641853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角谷猜想</a:t>
            </a:r>
            <a:r>
              <a:rPr lang="en-US" altLang="zh-CN" sz="2400" dirty="0">
                <a:solidFill>
                  <a:srgbClr val="00B0F0"/>
                </a:solidFill>
              </a:rPr>
              <a:t>——while</a:t>
            </a:r>
            <a:r>
              <a:rPr lang="zh-CN" altLang="en-US" sz="2400" dirty="0">
                <a:solidFill>
                  <a:srgbClr val="00B0F0"/>
                </a:solidFill>
              </a:rPr>
              <a:t>语句的应用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5576" y="1275606"/>
            <a:ext cx="7725192" cy="12958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角谷猜想</a:t>
            </a:r>
            <a:r>
              <a:rPr lang="en-US" altLang="zh-CN" dirty="0"/>
              <a:t>(3n+1</a:t>
            </a:r>
            <a:r>
              <a:rPr lang="zh-CN" altLang="en-US" dirty="0"/>
              <a:t>猜想</a:t>
            </a:r>
            <a:r>
              <a:rPr lang="en-US" altLang="zh-CN" dirty="0"/>
              <a:t>)</a:t>
            </a:r>
            <a:r>
              <a:rPr lang="zh-CN" altLang="en-US" dirty="0"/>
              <a:t>：对于任一正整数，如果它是奇数，则对它乘</a:t>
            </a:r>
            <a:r>
              <a:rPr lang="en-US" altLang="zh-CN" dirty="0"/>
              <a:t>3</a:t>
            </a:r>
            <a:r>
              <a:rPr lang="zh-CN" altLang="en-US" dirty="0"/>
              <a:t>再加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如果它是偶数，则对它除以</a:t>
            </a:r>
            <a:r>
              <a:rPr lang="en-US" altLang="zh-CN" dirty="0"/>
              <a:t>2</a:t>
            </a:r>
            <a:r>
              <a:rPr lang="zh-CN" altLang="en-US" dirty="0"/>
              <a:t>，如此循环，最终都能够得到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6" name="AutoShape 737"/>
          <p:cNvSpPr>
            <a:spLocks noChangeArrowheads="1"/>
          </p:cNvSpPr>
          <p:nvPr/>
        </p:nvSpPr>
        <p:spPr bwMode="auto">
          <a:xfrm>
            <a:off x="3131840" y="2787774"/>
            <a:ext cx="3930307" cy="139882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试编一程序，验证角谷猜想。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92" y="2108075"/>
            <a:ext cx="4351397" cy="381033"/>
          </a:xfrm>
          <a:prstGeom prst="rect">
            <a:avLst/>
          </a:prstGeom>
        </p:spPr>
      </p:pic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2741930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8158" y="692929"/>
            <a:ext cx="2807221" cy="395011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191105" y="578342"/>
            <a:ext cx="354695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#include&lt;</a:t>
            </a:r>
            <a:r>
              <a:rPr lang="en-US" altLang="zh-CN" sz="1400" dirty="0" err="1"/>
              <a:t>iostream</a:t>
            </a:r>
            <a:r>
              <a:rPr lang="en-US" altLang="zh-CN" sz="1400" dirty="0"/>
              <a:t>&gt; </a:t>
            </a:r>
            <a:endParaRPr lang="en-US" altLang="zh-CN" sz="1400" dirty="0"/>
          </a:p>
          <a:p>
            <a:r>
              <a:rPr lang="en-US" altLang="zh-CN" sz="1400" dirty="0"/>
              <a:t>using namespace </a:t>
            </a:r>
            <a:r>
              <a:rPr lang="en-US" altLang="zh-CN" sz="1400" dirty="0" err="1"/>
              <a:t>std</a:t>
            </a:r>
            <a:r>
              <a:rPr lang="en-US" altLang="zh-CN" sz="1400" dirty="0"/>
              <a:t>; </a:t>
            </a:r>
            <a:endParaRPr lang="en-US" altLang="zh-CN" sz="1400" dirty="0"/>
          </a:p>
          <a:p>
            <a:r>
              <a:rPr lang="en-US" altLang="zh-CN" sz="1400" dirty="0" err="1"/>
              <a:t>int</a:t>
            </a:r>
            <a:r>
              <a:rPr lang="en-US" altLang="zh-CN" sz="1400" dirty="0"/>
              <a:t> main()</a:t>
            </a:r>
            <a:endParaRPr lang="en-US" altLang="zh-CN" sz="1400" dirty="0"/>
          </a:p>
          <a:p>
            <a:r>
              <a:rPr lang="en-US" altLang="zh-CN" sz="1400" dirty="0"/>
              <a:t>{</a:t>
            </a:r>
            <a:endParaRPr lang="en-US" altLang="zh-CN" sz="1400" dirty="0"/>
          </a:p>
          <a:p>
            <a:r>
              <a:rPr lang="en-US" altLang="zh-CN" sz="1400" dirty="0"/>
              <a:t>    long </a:t>
            </a:r>
            <a:r>
              <a:rPr lang="en-US" altLang="zh-CN" sz="1400" dirty="0" err="1"/>
              <a:t>long</a:t>
            </a:r>
            <a:r>
              <a:rPr lang="en-US" altLang="zh-CN" sz="1400" dirty="0"/>
              <a:t>  </a:t>
            </a:r>
            <a:r>
              <a:rPr lang="en-US" altLang="zh-CN" sz="1400" dirty="0" err="1"/>
              <a:t>x,count</a:t>
            </a:r>
            <a:r>
              <a:rPr lang="en-US" altLang="zh-CN" sz="1400" dirty="0"/>
              <a:t>=0;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&lt;&lt;"x=";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cin</a:t>
            </a:r>
            <a:r>
              <a:rPr lang="en-US" altLang="zh-CN" sz="1400" dirty="0"/>
              <a:t>&gt;&gt;x;</a:t>
            </a:r>
            <a:endParaRPr lang="en-US" altLang="zh-CN" sz="1400" dirty="0"/>
          </a:p>
          <a:p>
            <a:r>
              <a:rPr lang="en-US" altLang="zh-CN" sz="1400" dirty="0"/>
              <a:t>    while(x!=1)</a:t>
            </a:r>
            <a:endParaRPr lang="en-US" altLang="zh-CN" sz="1400" dirty="0"/>
          </a:p>
          <a:p>
            <a:r>
              <a:rPr lang="en-US" altLang="zh-CN" sz="1400" dirty="0"/>
              <a:t>    {</a:t>
            </a:r>
            <a:endParaRPr lang="en-US" altLang="zh-CN" sz="1400" dirty="0"/>
          </a:p>
          <a:p>
            <a:r>
              <a:rPr lang="en-US" altLang="zh-CN" sz="1400" dirty="0"/>
              <a:t>     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&lt;&lt;x&lt;&lt;"----&gt;";</a:t>
            </a:r>
            <a:endParaRPr lang="en-US" altLang="zh-CN" sz="1400" dirty="0"/>
          </a:p>
          <a:p>
            <a:r>
              <a:rPr lang="en-US" altLang="zh-CN" sz="1400" dirty="0"/>
              <a:t>         if(x%2==1) x=x*3+1;</a:t>
            </a:r>
            <a:endParaRPr lang="en-US" altLang="zh-CN" sz="1400" dirty="0"/>
          </a:p>
          <a:p>
            <a:r>
              <a:rPr lang="en-US" altLang="zh-CN" sz="1400" dirty="0"/>
              <a:t>         else x/=2;</a:t>
            </a:r>
            <a:endParaRPr lang="en-US" altLang="zh-CN" sz="1400" dirty="0"/>
          </a:p>
          <a:p>
            <a:r>
              <a:rPr lang="en-US" altLang="zh-CN" sz="1400" dirty="0"/>
              <a:t>         count++;</a:t>
            </a:r>
            <a:endParaRPr lang="en-US" altLang="zh-CN" sz="1400" dirty="0"/>
          </a:p>
          <a:p>
            <a:r>
              <a:rPr lang="en-US" altLang="zh-CN" sz="1400" dirty="0"/>
              <a:t>    }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&lt;&lt;x&lt;&lt;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</a:t>
            </a:r>
            <a:r>
              <a:rPr lang="en-US" altLang="zh-CN" sz="1400" dirty="0" err="1"/>
              <a:t>cout</a:t>
            </a:r>
            <a:r>
              <a:rPr lang="en-US" altLang="zh-CN" sz="1400" dirty="0"/>
              <a:t>&lt;&lt;"</a:t>
            </a:r>
            <a:r>
              <a:rPr lang="zh-CN" altLang="en-US" sz="1400" dirty="0"/>
              <a:t>步数</a:t>
            </a:r>
            <a:r>
              <a:rPr lang="en-US" altLang="zh-CN" sz="1400" dirty="0"/>
              <a:t>:"&lt;&lt;count&lt;&lt;</a:t>
            </a:r>
            <a:r>
              <a:rPr lang="en-US" altLang="zh-CN" sz="1400" dirty="0" err="1"/>
              <a:t>endl</a:t>
            </a:r>
            <a:r>
              <a:rPr lang="en-US" altLang="zh-CN" sz="1400" dirty="0"/>
              <a:t>;</a:t>
            </a:r>
            <a:endParaRPr lang="en-US" altLang="zh-CN" sz="1400" dirty="0"/>
          </a:p>
          <a:p>
            <a:r>
              <a:rPr lang="en-US" altLang="zh-CN" sz="1400" dirty="0"/>
              <a:t>    return 0;   </a:t>
            </a:r>
            <a:endParaRPr lang="en-US" altLang="zh-CN" sz="1400" dirty="0"/>
          </a:p>
          <a:p>
            <a:r>
              <a:rPr lang="en-US" altLang="zh-CN" sz="1400" dirty="0"/>
              <a:t>}</a:t>
            </a:r>
            <a:endParaRPr lang="en-US" altLang="zh-CN" sz="1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56535"/>
            <a:ext cx="2263224" cy="2263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6697" y="64418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304056"/>
            <a:ext cx="2792145" cy="3276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、美美在参加信息学社团的学习过程中，想通过因特网与他人进行即时讨论交流，则下列工具中最合适的是（  ）。</a:t>
            </a:r>
            <a:endParaRPr lang="zh-CN" altLang="en-US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+mn-ea"/>
              </a:rPr>
              <a:t>E-mail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+mn-ea"/>
              </a:rPr>
              <a:t>BBS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+mn-ea"/>
              </a:rPr>
              <a:t>QQ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zh-CN" altLang="en-US" dirty="0">
                <a:latin typeface="+mn-ea"/>
              </a:rPr>
              <a:t>博客</a:t>
            </a:r>
            <a:endParaRPr lang="en-US" altLang="zh-CN" dirty="0">
              <a:latin typeface="+mn-ea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19872" y="593329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1304056"/>
            <a:ext cx="1944216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n     x       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426010" y="4066912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8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034683"/>
            <a:ext cx="2718106" cy="3696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build="p"/>
      <p:bldP spid="8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53224" y="561463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5576" y="1267530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计算：</a:t>
            </a:r>
            <a:endParaRPr lang="en-US" altLang="zh-CN" sz="20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prstClr val="black"/>
                </a:solidFill>
              </a:rPr>
              <a:t>2020-1+2-3+4-5+…±n</a:t>
            </a:r>
            <a:endParaRPr lang="en-US" altLang="zh-CN" sz="20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的值。</a:t>
            </a:r>
            <a:endParaRPr lang="en-US" altLang="zh-CN" sz="20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b="0" dirty="0">
                <a:solidFill>
                  <a:prstClr val="black"/>
                </a:solidFill>
              </a:rPr>
              <a:t>(n</a:t>
            </a:r>
            <a:r>
              <a:rPr lang="zh-CN" altLang="en-US" sz="2000" b="0" dirty="0">
                <a:solidFill>
                  <a:prstClr val="black"/>
                </a:solidFill>
              </a:rPr>
              <a:t>为奇数时减，偶数时加）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3795886"/>
            <a:ext cx="2251710" cy="64516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注：所有程序作业，</a:t>
            </a:r>
            <a:endParaRPr lang="en-US" altLang="zh-CN" b="1" dirty="0">
              <a:solidFill>
                <a:prstClr val="black"/>
              </a:solidFill>
              <a:latin typeface="宋体" panose="02010600030101010101" pitchFamily="2" charset="-122"/>
            </a:endParaRPr>
          </a:p>
          <a:p>
            <a:r>
              <a:rPr lang="zh-CN" altLang="en-US" b="1" dirty="0">
                <a:solidFill>
                  <a:prstClr val="black"/>
                </a:solidFill>
                <a:latin typeface="宋体" panose="02010600030101010101" pitchFamily="2" charset="-122"/>
              </a:rPr>
              <a:t>必须上机完成！</a:t>
            </a:r>
            <a:endParaRPr lang="zh-CN" altLang="en-US" b="1" dirty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312" y="628293"/>
            <a:ext cx="2887881" cy="4010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WPS 演示</Application>
  <PresentationFormat>全屏显示(16:9)</PresentationFormat>
  <Paragraphs>67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角谷猜想——while语句的应用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78</cp:revision>
  <dcterms:created xsi:type="dcterms:W3CDTF">2018-07-03T13:24:00Z</dcterms:created>
  <dcterms:modified xsi:type="dcterms:W3CDTF">2021-06-19T06:34:41Z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37D5503AE5E1458FBF68F4F359328A92</vt:lpwstr>
  </property>
  <property fmtid="{D5CDD505-2E9C-101B-9397-08002B2CF9AE}" pid="3" name="KSOProductBuildVer">
    <vt:lpwstr>2052-11.1.0.10577</vt:lpwstr>
  </property>
</Properties>
</file>