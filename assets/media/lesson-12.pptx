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76" r:id="rId4"/>
    <p:sldId id="298" r:id="rId5"/>
    <p:sldId id="299" r:id="rId6"/>
    <p:sldId id="300" r:id="rId7"/>
    <p:sldId id="275" r:id="rId8"/>
    <p:sldId id="277" r:id="rId9"/>
    <p:sldId id="282" r:id="rId10"/>
    <p:sldId id="301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2730" cy="5142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明明与强盗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整除与求余运算符）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77116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明明与强盗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整除及求余运算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2" name="矩形: 圆角 4"/>
          <p:cNvSpPr>
            <a:spLocks noChangeArrowheads="1"/>
          </p:cNvSpPr>
          <p:nvPr/>
        </p:nvSpPr>
        <p:spPr bwMode="auto">
          <a:xfrm>
            <a:off x="1117616" y="2067694"/>
            <a:ext cx="4276090" cy="182029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试编一程序，输入一个两位数，交换十位与个位上的数字，并输出。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697" y="1504142"/>
            <a:ext cx="2232687" cy="309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组合 2"/>
          <p:cNvGrpSpPr/>
          <p:nvPr/>
        </p:nvGrpSpPr>
        <p:grpSpPr>
          <a:xfrm>
            <a:off x="1331640" y="1133621"/>
            <a:ext cx="6133245" cy="1028628"/>
            <a:chOff x="1900512" y="1618703"/>
            <a:chExt cx="6133245" cy="1028628"/>
          </a:xfrm>
        </p:grpSpPr>
        <p:grpSp>
          <p:nvGrpSpPr>
            <p:cNvPr id="5" name="组合 33"/>
            <p:cNvGrpSpPr/>
            <p:nvPr/>
          </p:nvGrpSpPr>
          <p:grpSpPr bwMode="auto">
            <a:xfrm>
              <a:off x="1900512" y="1618703"/>
              <a:ext cx="1223991" cy="1028628"/>
              <a:chOff x="0" y="0"/>
              <a:chExt cx="1800200" cy="1512252"/>
            </a:xfrm>
          </p:grpSpPr>
          <p:pic>
            <p:nvPicPr>
              <p:cNvPr id="6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矩形 35"/>
              <p:cNvSpPr/>
              <p:nvPr/>
            </p:nvSpPr>
            <p:spPr>
              <a:xfrm>
                <a:off x="652913" y="484056"/>
                <a:ext cx="648821" cy="588227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zh-CN" sz="2000" b="1" kern="100" dirty="0">
                    <a:latin typeface="Calibri" panose="020F0502020204030204" pitchFamily="34" charset="0"/>
                    <a:ea typeface="楷体" panose="02010609060101010101" pitchFamily="49" charset="-122"/>
                    <a:cs typeface="Calibri" panose="020F0502020204030204" pitchFamily="34" charset="0"/>
                  </a:rPr>
                  <a:t>整</a:t>
                </a:r>
                <a:endParaRPr lang="zh-CN" altLang="en-US" sz="2000" b="1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8" name="组合 33"/>
            <p:cNvGrpSpPr/>
            <p:nvPr/>
          </p:nvGrpSpPr>
          <p:grpSpPr bwMode="auto">
            <a:xfrm>
              <a:off x="3536930" y="1618703"/>
              <a:ext cx="1223991" cy="1028628"/>
              <a:chOff x="-248495" y="51673"/>
              <a:chExt cx="1800200" cy="1512252"/>
            </a:xfrm>
          </p:grpSpPr>
          <p:pic>
            <p:nvPicPr>
              <p:cNvPr id="9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48495" y="51673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矩形 35"/>
              <p:cNvSpPr/>
              <p:nvPr/>
            </p:nvSpPr>
            <p:spPr>
              <a:xfrm>
                <a:off x="433995" y="507139"/>
                <a:ext cx="648821" cy="588227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zh-CN" sz="2000" b="1" kern="100" dirty="0">
                    <a:latin typeface="Calibri" panose="020F0502020204030204" pitchFamily="34" charset="0"/>
                    <a:ea typeface="楷体" panose="02010609060101010101" pitchFamily="49" charset="-122"/>
                    <a:cs typeface="Calibri" panose="020F0502020204030204" pitchFamily="34" charset="0"/>
                  </a:rPr>
                  <a:t>除</a:t>
                </a:r>
                <a:endParaRPr lang="zh-CN" altLang="en-US" sz="2000" b="1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3" name="组合 33"/>
            <p:cNvGrpSpPr/>
            <p:nvPr/>
          </p:nvGrpSpPr>
          <p:grpSpPr bwMode="auto">
            <a:xfrm>
              <a:off x="5173348" y="1618703"/>
              <a:ext cx="1223991" cy="1028628"/>
              <a:chOff x="-383480" y="37696"/>
              <a:chExt cx="1800200" cy="1512252"/>
            </a:xfrm>
          </p:grpSpPr>
          <p:pic>
            <p:nvPicPr>
              <p:cNvPr id="14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83480" y="37696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矩形 35"/>
              <p:cNvSpPr/>
              <p:nvPr/>
            </p:nvSpPr>
            <p:spPr>
              <a:xfrm>
                <a:off x="286405" y="488210"/>
                <a:ext cx="648821" cy="588227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zh-CN" sz="2000" b="1" kern="100" dirty="0">
                    <a:latin typeface="Calibri" panose="020F0502020204030204" pitchFamily="34" charset="0"/>
                    <a:ea typeface="楷体" panose="02010609060101010101" pitchFamily="49" charset="-122"/>
                    <a:cs typeface="Calibri" panose="020F0502020204030204" pitchFamily="34" charset="0"/>
                  </a:rPr>
                  <a:t>求</a:t>
                </a:r>
                <a:endParaRPr lang="zh-CN" altLang="en-US" sz="2000" b="1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6" name="组合 33"/>
            <p:cNvGrpSpPr/>
            <p:nvPr/>
          </p:nvGrpSpPr>
          <p:grpSpPr bwMode="auto">
            <a:xfrm>
              <a:off x="6809766" y="1618703"/>
              <a:ext cx="1223991" cy="1028628"/>
              <a:chOff x="0" y="0"/>
              <a:chExt cx="1800200" cy="1512252"/>
            </a:xfrm>
          </p:grpSpPr>
          <p:pic>
            <p:nvPicPr>
              <p:cNvPr id="17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矩形 35"/>
              <p:cNvSpPr/>
              <p:nvPr/>
            </p:nvSpPr>
            <p:spPr>
              <a:xfrm>
                <a:off x="700648" y="441598"/>
                <a:ext cx="648821" cy="588227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zh-CN" sz="2000" b="1" kern="100" dirty="0">
                    <a:latin typeface="Calibri" panose="020F0502020204030204" pitchFamily="34" charset="0"/>
                    <a:ea typeface="楷体" panose="02010609060101010101" pitchFamily="49" charset="-122"/>
                    <a:cs typeface="Calibri" panose="020F0502020204030204" pitchFamily="34" charset="0"/>
                  </a:rPr>
                  <a:t>余</a:t>
                </a:r>
                <a:endParaRPr lang="zh-CN" altLang="en-US" sz="2000" b="1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1619672" y="2427734"/>
            <a:ext cx="572624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  整除运算，舍弃小数部分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%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整除后的余数部分，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又称为“模运算”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216" y="3005810"/>
            <a:ext cx="1172729" cy="156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9552" y="1275606"/>
            <a:ext cx="2847254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000" dirty="0"/>
              <a:t>15/2  --------  7</a:t>
            </a:r>
            <a:endParaRPr lang="en-US" altLang="zh-CN" sz="2000" dirty="0"/>
          </a:p>
          <a:p>
            <a:r>
              <a:rPr lang="en-US" altLang="zh-CN" sz="2000" dirty="0"/>
              <a:t>15%2 -------  1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14%2  ------- 0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38/10  ------- 3</a:t>
            </a:r>
            <a:endParaRPr lang="en-US" altLang="zh-CN" sz="2000" dirty="0"/>
          </a:p>
          <a:p>
            <a:r>
              <a:rPr lang="en-US" altLang="zh-CN" sz="2000" dirty="0"/>
              <a:t>38%10 -------8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n%10   ---n</a:t>
            </a:r>
            <a:r>
              <a:rPr lang="zh-CN" altLang="en-US" sz="2000" dirty="0"/>
              <a:t>除以</a:t>
            </a:r>
            <a:r>
              <a:rPr lang="en-US" altLang="zh-CN" sz="2000" dirty="0"/>
              <a:t>10</a:t>
            </a:r>
            <a:r>
              <a:rPr lang="zh-CN" altLang="en-US" sz="2000" dirty="0"/>
              <a:t>的余数</a:t>
            </a:r>
            <a:endParaRPr lang="zh-CN" altLang="en-US" sz="2000" dirty="0"/>
          </a:p>
        </p:txBody>
      </p:sp>
      <p:sp>
        <p:nvSpPr>
          <p:cNvPr id="19" name="矩形 18"/>
          <p:cNvSpPr/>
          <p:nvPr/>
        </p:nvSpPr>
        <p:spPr>
          <a:xfrm>
            <a:off x="5148064" y="2211710"/>
            <a:ext cx="33123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n=62;</a:t>
            </a:r>
            <a:endParaRPr lang="pt-BR" altLang="zh-CN" sz="3600" kern="1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r>
              <a:rPr lang="pt-BR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shi=n/10;</a:t>
            </a:r>
            <a:endParaRPr lang="pt-BR" altLang="zh-CN" sz="3600" kern="1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r>
              <a:rPr lang="pt-BR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ge=n%10;</a:t>
            </a:r>
            <a:endParaRPr lang="pt-BR" altLang="zh-CN" sz="3600" kern="1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r>
              <a:rPr lang="pt-BR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n=ge*10+shi;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20" name="圆角矩形标注 19"/>
          <p:cNvSpPr/>
          <p:nvPr/>
        </p:nvSpPr>
        <p:spPr>
          <a:xfrm>
            <a:off x="5360309" y="987573"/>
            <a:ext cx="2956107" cy="1037695"/>
          </a:xfrm>
          <a:prstGeom prst="wedgeRoundRectCallout">
            <a:avLst>
              <a:gd name="adj1" fmla="val -65958"/>
              <a:gd name="adj2" fmla="val -4496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如何分解出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的个位数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和十位数呢？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 descr="图片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7090" y="1849755"/>
            <a:ext cx="1877695" cy="1877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827584" y="1083146"/>
            <a:ext cx="5400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n,ge,shi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请输入一个两位数：</a:t>
            </a:r>
            <a:r>
              <a:rPr lang="en-US" altLang="zh-CN" dirty="0"/>
              <a:t>";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&gt;&gt;n;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shi</a:t>
            </a:r>
            <a:r>
              <a:rPr lang="en-US" altLang="zh-CN" dirty="0"/>
              <a:t>=n/10;	//</a:t>
            </a:r>
            <a:r>
              <a:rPr lang="zh-CN" altLang="en-US" dirty="0"/>
              <a:t>分解出十位数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ge</a:t>
            </a:r>
            <a:r>
              <a:rPr lang="en-US" altLang="zh-CN" dirty="0"/>
              <a:t>=n%10;	//</a:t>
            </a:r>
            <a:r>
              <a:rPr lang="zh-CN" altLang="en-US" dirty="0"/>
              <a:t>分解出个位数</a:t>
            </a:r>
            <a:endParaRPr lang="en-US" altLang="zh-CN" dirty="0"/>
          </a:p>
          <a:p>
            <a:r>
              <a:rPr lang="en-US" altLang="zh-CN" dirty="0"/>
              <a:t>    n=</a:t>
            </a:r>
            <a:r>
              <a:rPr lang="en-US" altLang="zh-CN" dirty="0" err="1"/>
              <a:t>ge</a:t>
            </a:r>
            <a:r>
              <a:rPr lang="en-US" altLang="zh-CN" dirty="0"/>
              <a:t>*10+shi;	//</a:t>
            </a:r>
            <a:r>
              <a:rPr lang="zh-CN" altLang="en-US" dirty="0"/>
              <a:t>重新组成一个新的两位数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&lt;&lt;n&lt;&lt;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880421"/>
            <a:ext cx="4202486" cy="2730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9915" y="627787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204357"/>
            <a:ext cx="7416824" cy="295897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800" dirty="0"/>
              <a:t>float  </a:t>
            </a:r>
            <a:r>
              <a:rPr lang="zh-CN" altLang="en-US" sz="2800" dirty="0"/>
              <a:t>实数、浮点数</a:t>
            </a:r>
            <a:endParaRPr lang="zh-CN" alt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281" y="1908562"/>
            <a:ext cx="2813298" cy="272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80528" y="600034"/>
            <a:ext cx="41764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9634" y="627787"/>
            <a:ext cx="4936302" cy="41764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#include 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iostream</a:t>
            </a:r>
            <a:r>
              <a:rPr lang="en-US" altLang="zh-CN" sz="1400" b="0" dirty="0">
                <a:latin typeface="Cambria" panose="02040503050406030204" pitchFamily="18" charset="0"/>
              </a:rPr>
              <a:t>&gt;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using namespace </a:t>
            </a:r>
            <a:r>
              <a:rPr lang="en-US" altLang="zh-CN" sz="1400" b="0" dirty="0" err="1">
                <a:latin typeface="Cambria" panose="02040503050406030204" pitchFamily="18" charset="0"/>
              </a:rPr>
              <a:t>std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main()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{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</a:t>
            </a:r>
            <a:r>
              <a:rPr lang="en-US" altLang="zh-CN" sz="1400" b="0" dirty="0" err="1">
                <a:latin typeface="Cambria" panose="02040503050406030204" pitchFamily="18" charset="0"/>
              </a:rPr>
              <a:t>a,b,c,d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&lt;&lt;"input  </a:t>
            </a:r>
            <a:r>
              <a:rPr lang="en-US" altLang="zh-CN" sz="1400" b="0" dirty="0" err="1">
                <a:latin typeface="Cambria" panose="02040503050406030204" pitchFamily="18" charset="0"/>
              </a:rPr>
              <a:t>a,b</a:t>
            </a:r>
            <a:r>
              <a:rPr lang="en-US" altLang="zh-CN" sz="1400" b="0" dirty="0">
                <a:latin typeface="Cambria" panose="02040503050406030204" pitchFamily="18" charset="0"/>
              </a:rPr>
              <a:t>:";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cin</a:t>
            </a:r>
            <a:r>
              <a:rPr lang="en-US" altLang="zh-CN" sz="1400" b="0" dirty="0">
                <a:latin typeface="Cambria" panose="02040503050406030204" pitchFamily="18" charset="0"/>
              </a:rPr>
              <a:t>&gt;&gt;a&gt;&gt;b;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c=a/b;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d=</a:t>
            </a:r>
            <a:r>
              <a:rPr lang="en-US" altLang="zh-CN" sz="1400" b="0" dirty="0" err="1">
                <a:latin typeface="Cambria" panose="02040503050406030204" pitchFamily="18" charset="0"/>
              </a:rPr>
              <a:t>a%b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&lt;&lt;a&lt;&lt;'/'&lt;&lt;b&lt;&lt;'=';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&lt;&lt;c&lt;&lt;"……"&lt;&lt;d&lt;&lt;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endl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return 0;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}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zh-CN" altLang="en-US" sz="2000" dirty="0"/>
              <a:t>         输入：</a:t>
            </a:r>
            <a:r>
              <a:rPr lang="en-US" altLang="zh-CN" sz="2000" dirty="0"/>
              <a:t>17 5</a:t>
            </a:r>
            <a:r>
              <a:rPr lang="zh-CN" altLang="en-US" sz="2000" dirty="0"/>
              <a:t>      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输出</a:t>
            </a:r>
            <a:r>
              <a:rPr lang="en-US" altLang="zh-CN" sz="2000" dirty="0"/>
              <a:t>:____________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53772" y="1696373"/>
            <a:ext cx="2592288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C++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中，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315%2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的运算结果是（ ）。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315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-157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-1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a     b     c      d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8723" y="3450122"/>
            <a:ext cx="1316940" cy="11762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80528" y="885295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53711" y="1734157"/>
            <a:ext cx="2952328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/>
              <a:t>3</a:t>
            </a:r>
            <a:r>
              <a:rPr lang="zh-CN" altLang="en-US" sz="2000" dirty="0"/>
              <a:t>、完善程序。</a:t>
            </a:r>
            <a:endParaRPr lang="en-US" altLang="zh-CN" sz="18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/>
              <a:t>输入一个三位数，输出它的各个位数之和。</a:t>
            </a:r>
            <a:endParaRPr lang="en-US" altLang="zh-CN" sz="2000" b="0" dirty="0"/>
          </a:p>
        </p:txBody>
      </p:sp>
      <p:sp>
        <p:nvSpPr>
          <p:cNvPr id="7" name="矩形 6"/>
          <p:cNvSpPr/>
          <p:nvPr/>
        </p:nvSpPr>
        <p:spPr>
          <a:xfrm>
            <a:off x="4237370" y="641347"/>
            <a:ext cx="4511094" cy="35394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</a:t>
            </a:r>
            <a:r>
              <a:rPr lang="en-US" altLang="zh-CN" sz="1600" dirty="0" err="1"/>
              <a:t>n,ge,shi,bai,he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请输入一个三位数：</a:t>
            </a:r>
            <a:r>
              <a:rPr lang="en-US" altLang="zh-CN" sz="1600" dirty="0"/>
              <a:t>";</a:t>
            </a:r>
            <a:endParaRPr lang="en-US" altLang="zh-CN" sz="1600" dirty="0"/>
          </a:p>
          <a:p>
            <a:r>
              <a:rPr lang="en-US" altLang="zh-CN" sz="1600" dirty="0"/>
              <a:t>      ________________;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ge</a:t>
            </a:r>
            <a:r>
              <a:rPr lang="en-US" altLang="zh-CN" sz="1600" dirty="0"/>
              <a:t>=n%10;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shi</a:t>
            </a:r>
            <a:r>
              <a:rPr lang="en-US" altLang="zh-CN" sz="1600" dirty="0"/>
              <a:t>=(n/10)%10;</a:t>
            </a:r>
            <a:endParaRPr lang="en-US" altLang="zh-CN" sz="1600" dirty="0"/>
          </a:p>
          <a:p>
            <a:r>
              <a:rPr lang="en-US" altLang="zh-CN" sz="1600" dirty="0"/>
              <a:t>      _________________;</a:t>
            </a:r>
            <a:endParaRPr lang="en-US" altLang="zh-CN" sz="1600" dirty="0"/>
          </a:p>
          <a:p>
            <a:r>
              <a:rPr lang="en-US" altLang="zh-CN" sz="1600" dirty="0"/>
              <a:t>      he=</a:t>
            </a:r>
            <a:r>
              <a:rPr lang="en-US" altLang="zh-CN" sz="1600" dirty="0" err="1"/>
              <a:t>ge+</a:t>
            </a:r>
            <a:r>
              <a:rPr lang="en-US" altLang="zh-CN" sz="1600" err="1"/>
              <a:t>shi</a:t>
            </a:r>
            <a:r>
              <a:rPr lang="en-US" altLang="zh-CN" sz="1600"/>
              <a:t>+bai;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各个位数之和是：</a:t>
            </a:r>
            <a:r>
              <a:rPr lang="en-US" altLang="zh-CN" sz="1600" dirty="0"/>
              <a:t>"&lt;&lt;he&lt;&lt;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259632" y="4324164"/>
            <a:ext cx="5955476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latin typeface="+mj-ea"/>
                <a:ea typeface="+mj-ea"/>
              </a:rPr>
              <a:t>注：所有程序作业，必须上机完成，不能只写在教材上！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</Words>
  <Application>WPS 演示</Application>
  <PresentationFormat>全屏显示(16:9)</PresentationFormat>
  <Paragraphs>112</Paragraphs>
  <Slides>9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隶书</vt:lpstr>
      <vt:lpstr>Consolas</vt:lpstr>
      <vt:lpstr>Cambria</vt:lpstr>
      <vt:lpstr>Arial Unicode MS</vt:lpstr>
      <vt:lpstr>Office 主题</vt:lpstr>
      <vt:lpstr>PowerPoint 演示文稿</vt:lpstr>
      <vt:lpstr>明明与强盗——整除及求余运算</vt:lpstr>
      <vt:lpstr>PowerPoint 演示文稿</vt:lpstr>
      <vt:lpstr>PowerPoint 演示文稿</vt:lpstr>
      <vt:lpstr>PowerPoint 演示文稿</vt:lpstr>
      <vt:lpstr>编程小词典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88</cp:revision>
  <dcterms:created xsi:type="dcterms:W3CDTF">2018-07-03T13:24:00Z</dcterms:created>
  <dcterms:modified xsi:type="dcterms:W3CDTF">2021-04-13T02:18:45Z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