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02" r:id="rId3"/>
    <p:sldId id="269" r:id="rId4"/>
    <p:sldId id="299" r:id="rId5"/>
    <p:sldId id="300" r:id="rId6"/>
    <p:sldId id="301" r:id="rId7"/>
    <p:sldId id="275" r:id="rId8"/>
    <p:sldId id="267" r:id="rId9"/>
    <p:sldId id="280" r:id="rId10"/>
    <p:sldId id="304" r:id="rId11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23" autoAdjust="0"/>
    <p:restoredTop sz="94660"/>
  </p:normalViewPr>
  <p:slideViewPr>
    <p:cSldViewPr>
      <p:cViewPr varScale="1">
        <p:scale>
          <a:sx n="108" d="100"/>
          <a:sy n="108" d="100"/>
        </p:scale>
        <p:origin x="883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图片背景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37465"/>
            <a:ext cx="9210040" cy="51809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体重指数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BMI(bug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debug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612828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体质指数</a:t>
            </a:r>
            <a:r>
              <a:rPr lang="en-US" altLang="zh-CN" dirty="0">
                <a:solidFill>
                  <a:srgbClr val="00B0F0"/>
                </a:solidFill>
              </a:rPr>
              <a:t>BMI</a:t>
            </a:r>
            <a:r>
              <a:rPr lang="en-US" altLang="zh-CN" sz="2400" dirty="0">
                <a:solidFill>
                  <a:srgbClr val="00B0F0"/>
                </a:solidFill>
              </a:rPr>
              <a:t>——bug</a:t>
            </a:r>
            <a:r>
              <a:rPr lang="zh-CN" altLang="en-US" sz="2400" dirty="0">
                <a:solidFill>
                  <a:srgbClr val="00B0F0"/>
                </a:solidFill>
              </a:rPr>
              <a:t>与</a:t>
            </a:r>
            <a:r>
              <a:rPr lang="en-US" altLang="zh-CN" sz="2400" dirty="0">
                <a:solidFill>
                  <a:srgbClr val="00B0F0"/>
                </a:solidFill>
              </a:rPr>
              <a:t>debug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3568" y="1491630"/>
            <a:ext cx="4685898" cy="9233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>
                <a:latin typeface="+mn-ea"/>
              </a:rPr>
              <a:t>体质指数</a:t>
            </a:r>
            <a:r>
              <a:rPr lang="en-US" altLang="zh-CN" dirty="0">
                <a:latin typeface="+mn-ea"/>
              </a:rPr>
              <a:t>(BMI)=</a:t>
            </a:r>
            <a:r>
              <a:rPr lang="zh-CN" altLang="en-US" dirty="0">
                <a:latin typeface="+mn-ea"/>
              </a:rPr>
              <a:t>体重</a:t>
            </a:r>
            <a:r>
              <a:rPr lang="en-US" altLang="zh-CN" dirty="0">
                <a:latin typeface="+mn-ea"/>
              </a:rPr>
              <a:t>(kg)÷</a:t>
            </a:r>
            <a:r>
              <a:rPr lang="zh-CN" altLang="en-US" dirty="0">
                <a:latin typeface="+mn-ea"/>
              </a:rPr>
              <a:t>身高</a:t>
            </a:r>
            <a:r>
              <a:rPr lang="en-US" altLang="zh-CN" dirty="0">
                <a:latin typeface="+mn-ea"/>
              </a:rPr>
              <a:t>(m)</a:t>
            </a:r>
            <a:r>
              <a:rPr lang="zh-CN" altLang="en-US" dirty="0">
                <a:latin typeface="+mn-ea"/>
              </a:rPr>
              <a:t>的平方。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如：一个成年人的体重是</a:t>
            </a:r>
            <a:r>
              <a:rPr lang="en-US" altLang="zh-CN" dirty="0">
                <a:latin typeface="+mn-ea"/>
              </a:rPr>
              <a:t>62kg</a:t>
            </a:r>
            <a:r>
              <a:rPr lang="zh-CN" altLang="en-US" dirty="0">
                <a:latin typeface="+mn-ea"/>
              </a:rPr>
              <a:t>，身高</a:t>
            </a:r>
            <a:r>
              <a:rPr lang="en-US" altLang="zh-CN" dirty="0">
                <a:latin typeface="+mn-ea"/>
              </a:rPr>
              <a:t>1.67m</a:t>
            </a:r>
            <a:r>
              <a:rPr lang="zh-CN" altLang="en-US" dirty="0">
                <a:latin typeface="+mn-ea"/>
              </a:rPr>
              <a:t>，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那么</a:t>
            </a:r>
            <a:r>
              <a:rPr lang="en-US" altLang="zh-CN" dirty="0">
                <a:latin typeface="+mn-ea"/>
              </a:rPr>
              <a:t>BMI</a:t>
            </a:r>
            <a:r>
              <a:rPr lang="zh-CN" altLang="en-US" dirty="0">
                <a:latin typeface="+mn-ea"/>
              </a:rPr>
              <a:t>为</a:t>
            </a:r>
            <a:r>
              <a:rPr lang="en-US" altLang="zh-CN" dirty="0">
                <a:latin typeface="+mn-ea"/>
              </a:rPr>
              <a:t>62÷(1.67×1.67)=22.23.</a:t>
            </a:r>
            <a:endParaRPr lang="zh-CN" altLang="en-US" dirty="0">
              <a:latin typeface="+mn-ea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5220072" y="1275606"/>
          <a:ext cx="3572798" cy="1800198"/>
        </p:xfrm>
        <a:graphic>
          <a:graphicData uri="http://schemas.openxmlformats.org/drawingml/2006/table">
            <a:tbl>
              <a:tblPr firstRow="1" firstCol="1" bandRow="1" bandCol="1">
                <a:tableStyleId>{93296810-A885-4BE3-A3E7-6D5BEEA58F35}</a:tableStyleId>
              </a:tblPr>
              <a:tblGrid>
                <a:gridCol w="1934735"/>
                <a:gridCol w="1638063"/>
              </a:tblGrid>
              <a:tr h="30003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</a:rPr>
                        <a:t>　</a:t>
                      </a:r>
                      <a:endParaRPr lang="zh-CN" sz="1800" b="0" i="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</a:rPr>
                        <a:t>中国标准</a:t>
                      </a:r>
                      <a:endParaRPr lang="zh-CN" sz="1800" b="0" i="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30003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</a:rPr>
                        <a:t>偏瘦</a:t>
                      </a:r>
                      <a:endParaRPr lang="zh-CN" sz="1800" b="0" i="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&lt;18.5</a:t>
                      </a:r>
                      <a:endParaRPr lang="zh-CN" sz="1800" b="0" i="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30003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</a:rPr>
                        <a:t>正常</a:t>
                      </a:r>
                      <a:endParaRPr lang="zh-CN" sz="1800" b="0" i="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18.5～23.9</a:t>
                      </a:r>
                      <a:endParaRPr lang="zh-CN" sz="1800" b="0" i="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30003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</a:rPr>
                        <a:t>偏胖</a:t>
                      </a:r>
                      <a:endParaRPr lang="zh-CN" sz="1800" b="0" i="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24</a:t>
                      </a:r>
                      <a:r>
                        <a:rPr lang="zh-CN" sz="1800" kern="0">
                          <a:effectLst/>
                        </a:rPr>
                        <a:t>～</a:t>
                      </a:r>
                      <a:r>
                        <a:rPr lang="en-US" sz="1800" kern="0">
                          <a:effectLst/>
                        </a:rPr>
                        <a:t>27.9</a:t>
                      </a:r>
                      <a:endParaRPr lang="zh-CN" sz="1800" b="0" i="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30003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</a:rPr>
                        <a:t>肥胖</a:t>
                      </a:r>
                      <a:endParaRPr lang="zh-CN" sz="1800" b="0" i="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28</a:t>
                      </a:r>
                      <a:r>
                        <a:rPr lang="zh-CN" altLang="zh-CN" sz="1400" kern="1200">
                          <a:effectLst/>
                        </a:rPr>
                        <a:t>～</a:t>
                      </a:r>
                      <a:r>
                        <a:rPr lang="en-US" sz="1800" kern="0">
                          <a:effectLst/>
                        </a:rPr>
                        <a:t>39.9</a:t>
                      </a:r>
                      <a:endParaRPr lang="zh-CN" sz="1800" b="0" i="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30003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</a:rPr>
                        <a:t>极重度肥胖</a:t>
                      </a:r>
                      <a:endParaRPr lang="zh-CN" sz="1800" b="0" i="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</a:rPr>
                        <a:t>≥</a:t>
                      </a:r>
                      <a:r>
                        <a:rPr lang="en-US" sz="1800" kern="0" dirty="0">
                          <a:effectLst/>
                        </a:rPr>
                        <a:t>40.0</a:t>
                      </a:r>
                      <a:endParaRPr lang="zh-CN" sz="1800" b="0" i="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9" name="矩形: 圆角 4"/>
          <p:cNvSpPr>
            <a:spLocks noChangeArrowheads="1"/>
          </p:cNvSpPr>
          <p:nvPr/>
        </p:nvSpPr>
        <p:spPr bwMode="auto">
          <a:xfrm>
            <a:off x="2411760" y="3363838"/>
            <a:ext cx="4828645" cy="1166834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20090" algn="just">
              <a:spcAft>
                <a:spcPts val="0"/>
              </a:spcAft>
            </a:pPr>
            <a:r>
              <a:rPr lang="zh-CN" sz="2800" kern="100">
                <a:effectLst/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试编一程序，根据体重、身高，判断其胖瘦程</a:t>
            </a:r>
            <a:r>
              <a:rPr lang="zh-CN" altLang="en-US" sz="2800" kern="100">
                <a:effectLst/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度</a:t>
            </a:r>
            <a:r>
              <a:rPr lang="zh-CN" sz="2800" kern="100">
                <a:effectLst/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sz="2800" kern="10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820" y="2896870"/>
            <a:ext cx="1438910" cy="14446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592" y="484277"/>
            <a:ext cx="6552728" cy="426076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41015" y="1131590"/>
            <a:ext cx="3877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这个标准只适用于成年人哦！</a:t>
            </a:r>
            <a:endParaRPr lang="en-US" altLang="zh-CN" dirty="0"/>
          </a:p>
          <a:p>
            <a:r>
              <a:rPr lang="zh-CN" altLang="en-US" dirty="0"/>
              <a:t>小朋友们不要拿这个标准作为参考！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矩形 2"/>
          <p:cNvSpPr/>
          <p:nvPr/>
        </p:nvSpPr>
        <p:spPr>
          <a:xfrm>
            <a:off x="323528" y="1344950"/>
            <a:ext cx="345638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#include&lt;</a:t>
            </a:r>
            <a:r>
              <a:rPr lang="en-US" altLang="zh-CN" dirty="0" err="1"/>
              <a:t>iostream</a:t>
            </a:r>
            <a:r>
              <a:rPr lang="en-US" altLang="zh-CN" dirty="0"/>
              <a:t>&gt;</a:t>
            </a:r>
            <a:endParaRPr lang="en-US" altLang="zh-CN" dirty="0"/>
          </a:p>
          <a:p>
            <a:r>
              <a:rPr lang="en-US" altLang="zh-CN" dirty="0"/>
              <a:t>using namespace </a:t>
            </a:r>
            <a:r>
              <a:rPr lang="en-US" altLang="zh-CN" dirty="0" err="1"/>
              <a:t>std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 err="1"/>
              <a:t>int</a:t>
            </a:r>
            <a:r>
              <a:rPr lang="en-US" altLang="zh-CN" dirty="0"/>
              <a:t> main()</a:t>
            </a:r>
            <a:endParaRPr lang="en-US" altLang="zh-CN" dirty="0"/>
          </a:p>
          <a:p>
            <a:r>
              <a:rPr lang="en-US" altLang="zh-CN" dirty="0"/>
              <a:t>{</a:t>
            </a:r>
            <a:endParaRPr lang="en-US" altLang="zh-CN" dirty="0"/>
          </a:p>
          <a:p>
            <a:r>
              <a:rPr lang="en-US" altLang="zh-CN" dirty="0"/>
              <a:t>  float </a:t>
            </a:r>
            <a:r>
              <a:rPr lang="en-US" altLang="zh-CN" dirty="0" err="1"/>
              <a:t>height,weight,bmi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en-US" altLang="zh-CN" dirty="0" err="1"/>
              <a:t>cout</a:t>
            </a:r>
            <a:r>
              <a:rPr lang="en-US" altLang="zh-CN" dirty="0"/>
              <a:t>&lt;&lt;"</a:t>
            </a:r>
            <a:r>
              <a:rPr lang="zh-CN" altLang="en-US" dirty="0"/>
              <a:t>身体</a:t>
            </a:r>
            <a:r>
              <a:rPr lang="en-US" altLang="zh-CN" dirty="0"/>
              <a:t>(</a:t>
            </a:r>
            <a:r>
              <a:rPr lang="zh-CN" altLang="en-US" dirty="0"/>
              <a:t>米</a:t>
            </a:r>
            <a:r>
              <a:rPr lang="en-US" altLang="zh-CN" dirty="0"/>
              <a:t>)</a:t>
            </a:r>
            <a:r>
              <a:rPr lang="zh-CN" altLang="en-US" dirty="0"/>
              <a:t>：</a:t>
            </a:r>
            <a:r>
              <a:rPr lang="en-US" altLang="zh-CN" dirty="0"/>
              <a:t>";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en-US" altLang="zh-CN" dirty="0" err="1"/>
              <a:t>cin</a:t>
            </a:r>
            <a:r>
              <a:rPr lang="en-US" altLang="zh-CN" dirty="0"/>
              <a:t>&gt;&gt;height;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en-US" altLang="zh-CN" dirty="0" err="1"/>
              <a:t>cout</a:t>
            </a:r>
            <a:r>
              <a:rPr lang="en-US" altLang="zh-CN" dirty="0"/>
              <a:t>&lt;&lt;"</a:t>
            </a:r>
            <a:r>
              <a:rPr lang="zh-CN" altLang="en-US" dirty="0"/>
              <a:t>体重</a:t>
            </a:r>
            <a:r>
              <a:rPr lang="en-US" altLang="zh-CN" dirty="0"/>
              <a:t>(</a:t>
            </a:r>
            <a:r>
              <a:rPr lang="zh-CN" altLang="en-US" dirty="0"/>
              <a:t>公斤</a:t>
            </a:r>
            <a:r>
              <a:rPr lang="en-US" altLang="zh-CN" dirty="0"/>
              <a:t>)</a:t>
            </a:r>
            <a:r>
              <a:rPr lang="zh-CN" altLang="en-US" dirty="0"/>
              <a:t>：</a:t>
            </a:r>
            <a:r>
              <a:rPr lang="en-US" altLang="zh-CN" dirty="0"/>
              <a:t>";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en-US" altLang="zh-CN" dirty="0" err="1"/>
              <a:t>cin</a:t>
            </a:r>
            <a:r>
              <a:rPr lang="en-US" altLang="zh-CN" dirty="0"/>
              <a:t>&gt;&gt;weight;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en-US" altLang="zh-CN" dirty="0" err="1"/>
              <a:t>bmi</a:t>
            </a:r>
            <a:r>
              <a:rPr lang="en-US" altLang="zh-CN" dirty="0"/>
              <a:t>=weight/(height*height);</a:t>
            </a:r>
            <a:endParaRPr lang="en-US" altLang="zh-CN" dirty="0"/>
          </a:p>
        </p:txBody>
      </p:sp>
      <p:sp>
        <p:nvSpPr>
          <p:cNvPr id="4" name="矩形 3"/>
          <p:cNvSpPr/>
          <p:nvPr/>
        </p:nvSpPr>
        <p:spPr>
          <a:xfrm>
            <a:off x="3635896" y="1242565"/>
            <a:ext cx="374441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 if(</a:t>
            </a:r>
            <a:r>
              <a:rPr lang="en-US" altLang="zh-CN" dirty="0" err="1"/>
              <a:t>bmi</a:t>
            </a:r>
            <a:r>
              <a:rPr lang="en-US" altLang="zh-CN" dirty="0"/>
              <a:t>&lt;18.5) </a:t>
            </a:r>
            <a:endParaRPr lang="en-US" altLang="zh-CN" dirty="0"/>
          </a:p>
          <a:p>
            <a:r>
              <a:rPr lang="en-US" altLang="zh-CN" dirty="0"/>
              <a:t>     </a:t>
            </a:r>
            <a:r>
              <a:rPr lang="en-US" altLang="zh-CN" dirty="0" err="1"/>
              <a:t>cout</a:t>
            </a:r>
            <a:r>
              <a:rPr lang="en-US" altLang="zh-CN" dirty="0"/>
              <a:t>&lt;&lt;"</a:t>
            </a:r>
            <a:r>
              <a:rPr lang="zh-CN" altLang="en-US" dirty="0"/>
              <a:t>偏瘦</a:t>
            </a:r>
            <a:r>
              <a:rPr lang="en-US" altLang="zh-CN" dirty="0"/>
              <a:t>";</a:t>
            </a:r>
            <a:endParaRPr lang="en-US" altLang="zh-CN" dirty="0"/>
          </a:p>
          <a:p>
            <a:r>
              <a:rPr lang="en-US" altLang="zh-CN" dirty="0"/>
              <a:t>  else if(</a:t>
            </a:r>
            <a:r>
              <a:rPr lang="en-US" altLang="zh-CN" dirty="0" err="1"/>
              <a:t>bmi</a:t>
            </a:r>
            <a:r>
              <a:rPr lang="en-US" altLang="zh-CN" dirty="0"/>
              <a:t>&lt;24)</a:t>
            </a:r>
            <a:endParaRPr lang="en-US" altLang="zh-CN" dirty="0"/>
          </a:p>
          <a:p>
            <a:r>
              <a:rPr lang="en-US" altLang="zh-CN" dirty="0"/>
              <a:t>          </a:t>
            </a:r>
            <a:r>
              <a:rPr lang="en-US" altLang="zh-CN" dirty="0" err="1"/>
              <a:t>cout</a:t>
            </a:r>
            <a:r>
              <a:rPr lang="en-US" altLang="zh-CN" dirty="0"/>
              <a:t>&lt;&lt;"</a:t>
            </a:r>
            <a:r>
              <a:rPr lang="zh-CN" altLang="en-US" dirty="0"/>
              <a:t>正常</a:t>
            </a:r>
            <a:r>
              <a:rPr lang="en-US" altLang="zh-CN" dirty="0"/>
              <a:t>";</a:t>
            </a:r>
            <a:endParaRPr lang="en-US" altLang="zh-CN" dirty="0"/>
          </a:p>
          <a:p>
            <a:r>
              <a:rPr lang="en-US" altLang="zh-CN" dirty="0"/>
              <a:t>       else if(</a:t>
            </a:r>
            <a:r>
              <a:rPr lang="en-US" altLang="zh-CN" dirty="0" err="1"/>
              <a:t>bmi</a:t>
            </a:r>
            <a:r>
              <a:rPr lang="en-US" altLang="zh-CN" dirty="0"/>
              <a:t>&lt;28)</a:t>
            </a:r>
            <a:endParaRPr lang="en-US" altLang="zh-CN" dirty="0"/>
          </a:p>
          <a:p>
            <a:r>
              <a:rPr lang="en-US" altLang="zh-CN" dirty="0"/>
              <a:t>               </a:t>
            </a:r>
            <a:r>
              <a:rPr lang="en-US" altLang="zh-CN" dirty="0" err="1"/>
              <a:t>cout</a:t>
            </a:r>
            <a:r>
              <a:rPr lang="en-US" altLang="zh-CN" dirty="0"/>
              <a:t>&lt;&lt;"</a:t>
            </a:r>
            <a:r>
              <a:rPr lang="zh-CN" altLang="en-US" dirty="0"/>
              <a:t>偏胖</a:t>
            </a:r>
            <a:r>
              <a:rPr lang="en-US" altLang="zh-CN" dirty="0"/>
              <a:t>";</a:t>
            </a:r>
            <a:endParaRPr lang="en-US" altLang="zh-CN" dirty="0"/>
          </a:p>
          <a:p>
            <a:r>
              <a:rPr lang="en-US" altLang="zh-CN" dirty="0"/>
              <a:t>            else if(</a:t>
            </a:r>
            <a:r>
              <a:rPr lang="en-US" altLang="zh-CN" dirty="0" err="1"/>
              <a:t>bmi</a:t>
            </a:r>
            <a:r>
              <a:rPr lang="en-US" altLang="zh-CN" dirty="0"/>
              <a:t>&lt;40)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&lt;&lt;"</a:t>
            </a:r>
            <a:r>
              <a:rPr lang="zh-CN" altLang="en-US" dirty="0"/>
              <a:t>肥胖</a:t>
            </a:r>
            <a:r>
              <a:rPr lang="en-US" altLang="zh-CN" dirty="0"/>
              <a:t>";</a:t>
            </a:r>
            <a:endParaRPr lang="en-US" altLang="zh-CN" dirty="0"/>
          </a:p>
          <a:p>
            <a:r>
              <a:rPr lang="en-US" altLang="zh-CN" dirty="0"/>
              <a:t>                    else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&lt;&lt;"</a:t>
            </a:r>
            <a:r>
              <a:rPr lang="zh-CN" altLang="en-US" dirty="0"/>
              <a:t>极重度肥胖</a:t>
            </a:r>
            <a:r>
              <a:rPr lang="en-US" altLang="zh-CN" dirty="0"/>
              <a:t>";</a:t>
            </a:r>
            <a:endParaRPr lang="en-US" altLang="zh-CN" dirty="0"/>
          </a:p>
          <a:p>
            <a:r>
              <a:rPr lang="en-US" altLang="zh-CN" dirty="0"/>
              <a:t>   return 0;</a:t>
            </a:r>
            <a:endParaRPr lang="en-US" altLang="zh-CN" dirty="0"/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6616" y="3039366"/>
            <a:ext cx="1615352" cy="16153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1347614"/>
            <a:ext cx="1572768" cy="236829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060088"/>
            <a:ext cx="4503041" cy="3548086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5508104" y="4155926"/>
            <a:ext cx="2840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kern="100" dirty="0">
                <a:ea typeface="楷体" panose="02010609060101010101" pitchFamily="49" charset="-122"/>
                <a:cs typeface="Times New Roman" panose="02020603050405020304" pitchFamily="18" charset="0"/>
              </a:rPr>
              <a:t>葛丽丝·霍波</a:t>
            </a:r>
            <a:r>
              <a:rPr lang="en-US" altLang="zh-CN" kern="100" dirty="0">
                <a:ea typeface="楷体" panose="02010609060101010101" pitchFamily="49" charset="-122"/>
                <a:cs typeface="Times New Roman" panose="02020603050405020304" pitchFamily="18" charset="0"/>
              </a:rPr>
              <a:t>(Grace Hopper)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138436"/>
            <a:ext cx="8229600" cy="569218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solidFill>
                  <a:srgbClr val="00B0F0"/>
                </a:solidFill>
              </a:rPr>
              <a:t>编程小词典</a:t>
            </a:r>
            <a:br>
              <a:rPr lang="en-US" altLang="zh-CN" dirty="0">
                <a:solidFill>
                  <a:srgbClr val="00B0F0"/>
                </a:solidFill>
              </a:rPr>
            </a:b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15616" y="1707654"/>
            <a:ext cx="6408712" cy="1800200"/>
          </a:xfrm>
        </p:spPr>
        <p:txBody>
          <a:bodyPr>
            <a:normAutofit/>
          </a:bodyPr>
          <a:lstStyle/>
          <a:p>
            <a:pPr lvl="1"/>
            <a:r>
              <a:rPr lang="en-US" altLang="zh-CN" sz="2600" dirty="0"/>
              <a:t>bug    </a:t>
            </a:r>
            <a:r>
              <a:rPr lang="zh-CN" altLang="en-US" sz="2600" dirty="0"/>
              <a:t>计算机程序中的漏洞或错误</a:t>
            </a:r>
            <a:endParaRPr lang="en-US" altLang="zh-CN" sz="2600" dirty="0"/>
          </a:p>
          <a:p>
            <a:pPr lvl="1"/>
            <a:r>
              <a:rPr lang="en-US" altLang="zh-CN" sz="2600" dirty="0"/>
              <a:t>debug   </a:t>
            </a:r>
            <a:r>
              <a:rPr lang="zh-CN" altLang="en-US" sz="2600" dirty="0"/>
              <a:t>排除程序漏洞或故障</a:t>
            </a:r>
            <a:endParaRPr lang="zh-CN" altLang="en-US" sz="26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083" y="2891825"/>
            <a:ext cx="1367769" cy="14522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59574" y="41202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7665" y="676890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5718" y="1419622"/>
            <a:ext cx="272013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、选择题</a:t>
            </a:r>
            <a:endParaRPr lang="en-US" altLang="zh-CN" sz="2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下面（  ）公司制造了全球第一枚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CPU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。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腾讯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英特尔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威盛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AMD</a:t>
            </a:r>
            <a:endParaRPr lang="zh-CN" altLang="en-US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812162" y="627534"/>
            <a:ext cx="4288230" cy="4248472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2</a:t>
            </a:r>
            <a:r>
              <a:rPr lang="zh-CN" altLang="en-US" sz="2000" dirty="0"/>
              <a:t>、阅读程序写结果。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a,b,c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&gt;&gt;a&gt;&gt;b&gt;&gt;c;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if(b!=0)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if(a/b&gt;c)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&lt;&lt;a&lt;&lt;'/'&lt;&lt;b&lt;&lt;'-'&lt;&lt;c&lt;&lt;'='&lt;&lt;a/b-c&lt;&lt;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else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&lt;&lt;c&lt;&lt;'-'&lt;&lt;a&lt;&lt;'/'&lt;&lt;b&lt;&lt;'='&lt;&lt;c-a/b&lt;&lt;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1022" y="940801"/>
            <a:ext cx="1800200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      a      b       c             </a:t>
            </a:r>
            <a:endParaRPr lang="en-US" altLang="zh-CN" dirty="0"/>
          </a:p>
          <a:p>
            <a:r>
              <a:rPr lang="en-US" altLang="zh-CN" dirty="0"/>
              <a:t>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5203057" y="4012416"/>
            <a:ext cx="27709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输入：  </a:t>
            </a:r>
            <a:r>
              <a:rPr lang="en-US" altLang="zh-CN" dirty="0"/>
              <a:t>10  5  1</a:t>
            </a:r>
            <a:endParaRPr lang="en-US" altLang="zh-CN" dirty="0"/>
          </a:p>
          <a:p>
            <a:r>
              <a:rPr lang="zh-CN" altLang="en-US" dirty="0"/>
              <a:t>输出</a:t>
            </a:r>
            <a:r>
              <a:rPr lang="en-US" altLang="zh-CN" dirty="0"/>
              <a:t>:____________</a:t>
            </a:r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894" y="3976831"/>
            <a:ext cx="649328" cy="77192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build="allAtOnce"/>
      <p:bldP spid="8" grpId="0" animBg="1" build="allAtOnce"/>
      <p:bldP spid="3" grpId="0" build="allAtOnce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563252"/>
            <a:ext cx="3672408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683568" y="1281993"/>
            <a:ext cx="280831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prstClr val="black"/>
                </a:solidFill>
              </a:rPr>
              <a:t>3</a:t>
            </a:r>
            <a:r>
              <a:rPr lang="zh-CN" altLang="en-US" sz="2000" dirty="0">
                <a:solidFill>
                  <a:prstClr val="black"/>
                </a:solidFill>
              </a:rPr>
              <a:t>、完善程序。</a:t>
            </a:r>
            <a:endParaRPr lang="en-US" altLang="zh-CN" sz="1800" dirty="0">
              <a:solidFill>
                <a:prstClr val="black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800" b="0" dirty="0">
                <a:solidFill>
                  <a:prstClr val="black"/>
                </a:solidFill>
              </a:rPr>
              <a:t>洗衣机故障代码：</a:t>
            </a:r>
            <a:endParaRPr lang="en-US" altLang="zh-CN" sz="1800" b="0" dirty="0">
              <a:solidFill>
                <a:prstClr val="black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b="0" dirty="0">
                <a:solidFill>
                  <a:prstClr val="black"/>
                </a:solidFill>
              </a:rPr>
              <a:t>E1</a:t>
            </a:r>
            <a:r>
              <a:rPr lang="zh-CN" altLang="en-US" sz="1800" b="0" dirty="0">
                <a:solidFill>
                  <a:prstClr val="black"/>
                </a:solidFill>
              </a:rPr>
              <a:t>排水故障</a:t>
            </a:r>
            <a:endParaRPr lang="en-US" altLang="zh-CN" sz="1800" b="0" dirty="0">
              <a:solidFill>
                <a:prstClr val="black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b="0" dirty="0">
                <a:solidFill>
                  <a:prstClr val="black"/>
                </a:solidFill>
              </a:rPr>
              <a:t>E2</a:t>
            </a:r>
            <a:r>
              <a:rPr lang="zh-CN" altLang="en-US" sz="1800" b="0" dirty="0">
                <a:solidFill>
                  <a:prstClr val="black"/>
                </a:solidFill>
              </a:rPr>
              <a:t>未关好门</a:t>
            </a:r>
            <a:endParaRPr lang="en-US" altLang="zh-CN" sz="1800" b="0" dirty="0">
              <a:solidFill>
                <a:prstClr val="black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b="0" dirty="0">
                <a:solidFill>
                  <a:prstClr val="black"/>
                </a:solidFill>
              </a:rPr>
              <a:t>E4</a:t>
            </a:r>
            <a:r>
              <a:rPr lang="zh-CN" altLang="en-US" sz="1800" b="0" dirty="0">
                <a:solidFill>
                  <a:prstClr val="black"/>
                </a:solidFill>
              </a:rPr>
              <a:t>进水异常</a:t>
            </a:r>
            <a:endParaRPr lang="en-US" altLang="zh-CN" sz="1800" b="0" dirty="0">
              <a:solidFill>
                <a:prstClr val="black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b="0" dirty="0">
                <a:solidFill>
                  <a:prstClr val="black"/>
                </a:solidFill>
              </a:rPr>
              <a:t>E8</a:t>
            </a:r>
            <a:r>
              <a:rPr lang="zh-CN" altLang="en-US" sz="1800" b="0" dirty="0">
                <a:solidFill>
                  <a:prstClr val="black"/>
                </a:solidFill>
              </a:rPr>
              <a:t>超过报警水位</a:t>
            </a:r>
            <a:endParaRPr lang="en-US" altLang="zh-CN" sz="1800" b="0" dirty="0">
              <a:solidFill>
                <a:prstClr val="black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800" b="0" dirty="0">
                <a:solidFill>
                  <a:prstClr val="black"/>
                </a:solidFill>
              </a:rPr>
              <a:t>编写程序，实现故障代码查询功能。</a:t>
            </a:r>
            <a:endParaRPr lang="en-US" altLang="zh-CN" sz="1800" b="0" dirty="0">
              <a:solidFill>
                <a:prstClr val="black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1800" b="0" dirty="0">
              <a:solidFill>
                <a:prstClr val="black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3515605" y="575687"/>
            <a:ext cx="5328592" cy="397031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200" dirty="0">
                <a:cs typeface="Times New Roman" panose="02020603050405020304" pitchFamily="18" charset="0"/>
              </a:rPr>
              <a:t>#include &lt;</a:t>
            </a:r>
            <a:r>
              <a:rPr lang="en-US" altLang="zh-CN" sz="1200" dirty="0" err="1">
                <a:cs typeface="Times New Roman" panose="02020603050405020304" pitchFamily="18" charset="0"/>
              </a:rPr>
              <a:t>iostream</a:t>
            </a:r>
            <a:r>
              <a:rPr lang="en-US" altLang="zh-CN" sz="1200" dirty="0">
                <a:cs typeface="Times New Roman" panose="02020603050405020304" pitchFamily="18" charset="0"/>
              </a:rPr>
              <a:t>&gt;</a:t>
            </a:r>
            <a:endParaRPr lang="en-US" altLang="zh-CN" sz="1200" dirty="0">
              <a:cs typeface="Times New Roman" panose="02020603050405020304" pitchFamily="18" charset="0"/>
            </a:endParaRPr>
          </a:p>
          <a:p>
            <a:r>
              <a:rPr lang="en-US" altLang="zh-CN" sz="1200" dirty="0">
                <a:cs typeface="Times New Roman" panose="02020603050405020304" pitchFamily="18" charset="0"/>
              </a:rPr>
              <a:t>#include &lt;string&gt;</a:t>
            </a:r>
            <a:endParaRPr lang="en-US" altLang="zh-CN" sz="1200" dirty="0">
              <a:cs typeface="Times New Roman" panose="02020603050405020304" pitchFamily="18" charset="0"/>
            </a:endParaRPr>
          </a:p>
          <a:p>
            <a:r>
              <a:rPr lang="en-US" altLang="zh-CN" sz="1200" dirty="0">
                <a:cs typeface="Times New Roman" panose="02020603050405020304" pitchFamily="18" charset="0"/>
              </a:rPr>
              <a:t>using namespace </a:t>
            </a:r>
            <a:r>
              <a:rPr lang="en-US" altLang="zh-CN" sz="1200" dirty="0" err="1">
                <a:cs typeface="Times New Roman" panose="02020603050405020304" pitchFamily="18" charset="0"/>
              </a:rPr>
              <a:t>std</a:t>
            </a:r>
            <a:r>
              <a:rPr lang="en-US" altLang="zh-CN" sz="1200" dirty="0">
                <a:cs typeface="Times New Roman" panose="02020603050405020304" pitchFamily="18" charset="0"/>
              </a:rPr>
              <a:t>;</a:t>
            </a:r>
            <a:endParaRPr lang="en-US" altLang="zh-CN" sz="1200" dirty="0">
              <a:cs typeface="Times New Roman" panose="02020603050405020304" pitchFamily="18" charset="0"/>
            </a:endParaRPr>
          </a:p>
          <a:p>
            <a:r>
              <a:rPr lang="en-US" altLang="zh-CN" sz="1200" dirty="0" err="1">
                <a:cs typeface="Times New Roman" panose="02020603050405020304" pitchFamily="18" charset="0"/>
              </a:rPr>
              <a:t>int</a:t>
            </a:r>
            <a:r>
              <a:rPr lang="en-US" altLang="zh-CN" sz="1200" dirty="0">
                <a:cs typeface="Times New Roman" panose="02020603050405020304" pitchFamily="18" charset="0"/>
              </a:rPr>
              <a:t> main()</a:t>
            </a:r>
            <a:endParaRPr lang="en-US" altLang="zh-CN" sz="1200" dirty="0">
              <a:cs typeface="Times New Roman" panose="02020603050405020304" pitchFamily="18" charset="0"/>
            </a:endParaRPr>
          </a:p>
          <a:p>
            <a:r>
              <a:rPr lang="en-US" altLang="zh-CN" sz="1200" dirty="0">
                <a:cs typeface="Times New Roman" panose="02020603050405020304" pitchFamily="18" charset="0"/>
              </a:rPr>
              <a:t>{</a:t>
            </a:r>
            <a:endParaRPr lang="en-US" altLang="zh-CN" sz="1200" dirty="0">
              <a:cs typeface="Times New Roman" panose="02020603050405020304" pitchFamily="18" charset="0"/>
            </a:endParaRPr>
          </a:p>
          <a:p>
            <a:r>
              <a:rPr lang="en-US" altLang="zh-CN" sz="1200" dirty="0">
                <a:cs typeface="Times New Roman" panose="02020603050405020304" pitchFamily="18" charset="0"/>
              </a:rPr>
              <a:t>    string n;</a:t>
            </a:r>
            <a:endParaRPr lang="en-US" altLang="zh-CN" sz="1200" dirty="0">
              <a:cs typeface="Times New Roman" panose="02020603050405020304" pitchFamily="18" charset="0"/>
            </a:endParaRPr>
          </a:p>
          <a:p>
            <a:r>
              <a:rPr lang="en-US" altLang="zh-CN" sz="1200" dirty="0">
                <a:cs typeface="Times New Roman" panose="02020603050405020304" pitchFamily="18" charset="0"/>
              </a:rPr>
              <a:t>    </a:t>
            </a:r>
            <a:r>
              <a:rPr lang="en-US" altLang="zh-CN" sz="1200" dirty="0" err="1">
                <a:cs typeface="Times New Roman" panose="02020603050405020304" pitchFamily="18" charset="0"/>
              </a:rPr>
              <a:t>cout</a:t>
            </a:r>
            <a:r>
              <a:rPr lang="en-US" altLang="zh-CN" sz="1200" dirty="0">
                <a:cs typeface="Times New Roman" panose="02020603050405020304" pitchFamily="18" charset="0"/>
              </a:rPr>
              <a:t>&lt;&lt;"</a:t>
            </a:r>
            <a:r>
              <a:rPr lang="zh-CN" altLang="en-US" sz="1200" dirty="0">
                <a:cs typeface="Times New Roman" panose="02020603050405020304" pitchFamily="18" charset="0"/>
              </a:rPr>
              <a:t>海尔洗衣机故障代码查询系统：</a:t>
            </a:r>
            <a:r>
              <a:rPr lang="en-US" altLang="zh-CN" sz="1200" dirty="0">
                <a:cs typeface="Times New Roman" panose="02020603050405020304" pitchFamily="18" charset="0"/>
              </a:rPr>
              <a:t>"&lt;&lt;</a:t>
            </a:r>
            <a:r>
              <a:rPr lang="en-US" altLang="zh-CN" sz="1200" dirty="0" err="1">
                <a:cs typeface="Times New Roman" panose="02020603050405020304" pitchFamily="18" charset="0"/>
              </a:rPr>
              <a:t>endl</a:t>
            </a:r>
            <a:r>
              <a:rPr lang="en-US" altLang="zh-CN" sz="1200" dirty="0">
                <a:cs typeface="Times New Roman" panose="02020603050405020304" pitchFamily="18" charset="0"/>
              </a:rPr>
              <a:t>;</a:t>
            </a:r>
            <a:endParaRPr lang="en-US" altLang="zh-CN" sz="1200" dirty="0">
              <a:cs typeface="Times New Roman" panose="02020603050405020304" pitchFamily="18" charset="0"/>
            </a:endParaRPr>
          </a:p>
          <a:p>
            <a:r>
              <a:rPr lang="en-US" altLang="zh-CN" sz="1200" dirty="0">
                <a:cs typeface="Times New Roman" panose="02020603050405020304" pitchFamily="18" charset="0"/>
              </a:rPr>
              <a:t>    </a:t>
            </a:r>
            <a:r>
              <a:rPr lang="en-US" altLang="zh-CN" sz="1200" dirty="0" err="1">
                <a:cs typeface="Times New Roman" panose="02020603050405020304" pitchFamily="18" charset="0"/>
              </a:rPr>
              <a:t>cout</a:t>
            </a:r>
            <a:r>
              <a:rPr lang="en-US" altLang="zh-CN" sz="1200" dirty="0">
                <a:cs typeface="Times New Roman" panose="02020603050405020304" pitchFamily="18" charset="0"/>
              </a:rPr>
              <a:t>&lt;&lt;"</a:t>
            </a:r>
            <a:r>
              <a:rPr lang="zh-CN" altLang="en-US" sz="1200" dirty="0">
                <a:cs typeface="Times New Roman" panose="02020603050405020304" pitchFamily="18" charset="0"/>
              </a:rPr>
              <a:t>请输入代码：</a:t>
            </a:r>
            <a:r>
              <a:rPr lang="en-US" altLang="zh-CN" sz="1200" dirty="0">
                <a:cs typeface="Times New Roman" panose="02020603050405020304" pitchFamily="18" charset="0"/>
              </a:rPr>
              <a:t>";</a:t>
            </a:r>
            <a:endParaRPr lang="en-US" altLang="zh-CN" sz="1200" dirty="0">
              <a:cs typeface="Times New Roman" panose="02020603050405020304" pitchFamily="18" charset="0"/>
            </a:endParaRPr>
          </a:p>
          <a:p>
            <a:r>
              <a:rPr lang="en-US" altLang="zh-CN" sz="1200" dirty="0">
                <a:cs typeface="Times New Roman" panose="02020603050405020304" pitchFamily="18" charset="0"/>
              </a:rPr>
              <a:t>    ____________________;</a:t>
            </a:r>
            <a:endParaRPr lang="en-US" altLang="zh-CN" sz="1200" dirty="0">
              <a:cs typeface="Times New Roman" panose="02020603050405020304" pitchFamily="18" charset="0"/>
            </a:endParaRPr>
          </a:p>
          <a:p>
            <a:r>
              <a:rPr lang="en-US" altLang="zh-CN" sz="1200" dirty="0">
                <a:cs typeface="Times New Roman" panose="02020603050405020304" pitchFamily="18" charset="0"/>
              </a:rPr>
              <a:t>    if(n==“e1” ||n</a:t>
            </a:r>
            <a:r>
              <a:rPr lang="en-US" altLang="zh-CN" sz="1200">
                <a:cs typeface="Times New Roman" panose="02020603050405020304" pitchFamily="18" charset="0"/>
              </a:rPr>
              <a:t>==“E1”)</a:t>
            </a:r>
            <a:endParaRPr lang="en-US" altLang="zh-CN" sz="1200" dirty="0">
              <a:cs typeface="Times New Roman" panose="02020603050405020304" pitchFamily="18" charset="0"/>
            </a:endParaRPr>
          </a:p>
          <a:p>
            <a:r>
              <a:rPr lang="en-US" altLang="zh-CN" sz="1200" dirty="0">
                <a:cs typeface="Times New Roman" panose="02020603050405020304" pitchFamily="18" charset="0"/>
              </a:rPr>
              <a:t>          </a:t>
            </a:r>
            <a:r>
              <a:rPr lang="en-US" altLang="zh-CN" sz="1200" dirty="0" err="1">
                <a:cs typeface="Times New Roman" panose="02020603050405020304" pitchFamily="18" charset="0"/>
              </a:rPr>
              <a:t>cout</a:t>
            </a:r>
            <a:r>
              <a:rPr lang="en-US" altLang="zh-CN" sz="1200" dirty="0">
                <a:cs typeface="Times New Roman" panose="02020603050405020304" pitchFamily="18" charset="0"/>
              </a:rPr>
              <a:t>&lt;&lt;"</a:t>
            </a:r>
            <a:r>
              <a:rPr lang="zh-CN" altLang="en-US" sz="1200" dirty="0">
                <a:cs typeface="Times New Roman" panose="02020603050405020304" pitchFamily="18" charset="0"/>
              </a:rPr>
              <a:t>排水故障</a:t>
            </a:r>
            <a:r>
              <a:rPr lang="en-US" altLang="zh-CN" sz="1200" dirty="0">
                <a:cs typeface="Times New Roman" panose="02020603050405020304" pitchFamily="18" charset="0"/>
              </a:rPr>
              <a:t>"&lt;&lt;</a:t>
            </a:r>
            <a:r>
              <a:rPr lang="en-US" altLang="zh-CN" sz="1200" dirty="0" err="1">
                <a:cs typeface="Times New Roman" panose="02020603050405020304" pitchFamily="18" charset="0"/>
              </a:rPr>
              <a:t>endl</a:t>
            </a:r>
            <a:r>
              <a:rPr lang="en-US" altLang="zh-CN" sz="1200" dirty="0">
                <a:cs typeface="Times New Roman" panose="02020603050405020304" pitchFamily="18" charset="0"/>
              </a:rPr>
              <a:t>;</a:t>
            </a:r>
            <a:endParaRPr lang="en-US" altLang="zh-CN" sz="1200" dirty="0">
              <a:cs typeface="Times New Roman" panose="02020603050405020304" pitchFamily="18" charset="0"/>
            </a:endParaRPr>
          </a:p>
          <a:p>
            <a:r>
              <a:rPr lang="en-US" altLang="zh-CN" sz="1200" dirty="0">
                <a:cs typeface="Times New Roman" panose="02020603050405020304" pitchFamily="18" charset="0"/>
              </a:rPr>
              <a:t>    else  if(__________)</a:t>
            </a:r>
            <a:endParaRPr lang="en-US" altLang="zh-CN" sz="1200" dirty="0">
              <a:cs typeface="Times New Roman" panose="02020603050405020304" pitchFamily="18" charset="0"/>
            </a:endParaRPr>
          </a:p>
          <a:p>
            <a:r>
              <a:rPr lang="en-US" altLang="zh-CN" sz="1200" dirty="0">
                <a:cs typeface="Times New Roman" panose="02020603050405020304" pitchFamily="18" charset="0"/>
              </a:rPr>
              <a:t>                    </a:t>
            </a:r>
            <a:r>
              <a:rPr lang="en-US" altLang="zh-CN" sz="1200" dirty="0" err="1">
                <a:cs typeface="Times New Roman" panose="02020603050405020304" pitchFamily="18" charset="0"/>
              </a:rPr>
              <a:t>cout</a:t>
            </a:r>
            <a:r>
              <a:rPr lang="en-US" altLang="zh-CN" sz="1200" dirty="0">
                <a:cs typeface="Times New Roman" panose="02020603050405020304" pitchFamily="18" charset="0"/>
              </a:rPr>
              <a:t>&lt;&lt;"</a:t>
            </a:r>
            <a:r>
              <a:rPr lang="zh-CN" altLang="en-US" sz="1200" dirty="0">
                <a:cs typeface="Times New Roman" panose="02020603050405020304" pitchFamily="18" charset="0"/>
              </a:rPr>
              <a:t>未关好门</a:t>
            </a:r>
            <a:r>
              <a:rPr lang="en-US" altLang="zh-CN" sz="1200" dirty="0">
                <a:cs typeface="Times New Roman" panose="02020603050405020304" pitchFamily="18" charset="0"/>
              </a:rPr>
              <a:t>"&lt;&lt;</a:t>
            </a:r>
            <a:r>
              <a:rPr lang="en-US" altLang="zh-CN" sz="1200" dirty="0" err="1">
                <a:cs typeface="Times New Roman" panose="02020603050405020304" pitchFamily="18" charset="0"/>
              </a:rPr>
              <a:t>endl</a:t>
            </a:r>
            <a:r>
              <a:rPr lang="en-US" altLang="zh-CN" sz="1200" dirty="0">
                <a:cs typeface="Times New Roman" panose="02020603050405020304" pitchFamily="18" charset="0"/>
              </a:rPr>
              <a:t>;</a:t>
            </a:r>
            <a:endParaRPr lang="en-US" altLang="zh-CN" sz="1200" dirty="0">
              <a:cs typeface="Times New Roman" panose="02020603050405020304" pitchFamily="18" charset="0"/>
            </a:endParaRPr>
          </a:p>
          <a:p>
            <a:r>
              <a:rPr lang="en-US" altLang="zh-CN" sz="1200" dirty="0">
                <a:cs typeface="Times New Roman" panose="02020603050405020304" pitchFamily="18" charset="0"/>
              </a:rPr>
              <a:t>              else  if(n=="e4" ||n=="E4")</a:t>
            </a:r>
            <a:endParaRPr lang="en-US" altLang="zh-CN" sz="1200" dirty="0">
              <a:cs typeface="Times New Roman" panose="02020603050405020304" pitchFamily="18" charset="0"/>
            </a:endParaRPr>
          </a:p>
          <a:p>
            <a:r>
              <a:rPr lang="en-US" altLang="zh-CN" sz="1200" dirty="0">
                <a:cs typeface="Times New Roman" panose="02020603050405020304" pitchFamily="18" charset="0"/>
              </a:rPr>
              <a:t>                             </a:t>
            </a:r>
            <a:r>
              <a:rPr lang="en-US" altLang="zh-CN" sz="1200" dirty="0" err="1">
                <a:cs typeface="Times New Roman" panose="02020603050405020304" pitchFamily="18" charset="0"/>
              </a:rPr>
              <a:t>cout</a:t>
            </a:r>
            <a:r>
              <a:rPr lang="en-US" altLang="zh-CN" sz="1200" dirty="0">
                <a:cs typeface="Times New Roman" panose="02020603050405020304" pitchFamily="18" charset="0"/>
              </a:rPr>
              <a:t>&lt;&lt;"</a:t>
            </a:r>
            <a:r>
              <a:rPr lang="zh-CN" altLang="en-US" sz="1200" dirty="0">
                <a:cs typeface="Times New Roman" panose="02020603050405020304" pitchFamily="18" charset="0"/>
              </a:rPr>
              <a:t>进水异常</a:t>
            </a:r>
            <a:r>
              <a:rPr lang="en-US" altLang="zh-CN" sz="1200" dirty="0">
                <a:cs typeface="Times New Roman" panose="02020603050405020304" pitchFamily="18" charset="0"/>
              </a:rPr>
              <a:t>"&lt;&lt;</a:t>
            </a:r>
            <a:r>
              <a:rPr lang="en-US" altLang="zh-CN" sz="1200" dirty="0" err="1">
                <a:cs typeface="Times New Roman" panose="02020603050405020304" pitchFamily="18" charset="0"/>
              </a:rPr>
              <a:t>endl</a:t>
            </a:r>
            <a:r>
              <a:rPr lang="en-US" altLang="zh-CN" sz="1200" dirty="0">
                <a:cs typeface="Times New Roman" panose="02020603050405020304" pitchFamily="18" charset="0"/>
              </a:rPr>
              <a:t>;</a:t>
            </a:r>
            <a:endParaRPr lang="en-US" altLang="zh-CN" sz="1200" dirty="0">
              <a:cs typeface="Times New Roman" panose="02020603050405020304" pitchFamily="18" charset="0"/>
            </a:endParaRPr>
          </a:p>
          <a:p>
            <a:r>
              <a:rPr lang="en-US" altLang="zh-CN" sz="1200" dirty="0">
                <a:cs typeface="Times New Roman" panose="02020603050405020304" pitchFamily="18" charset="0"/>
              </a:rPr>
              <a:t>                       else  if(n=="e8" ||n=="E8")</a:t>
            </a:r>
            <a:endParaRPr lang="en-US" altLang="zh-CN" sz="1200" dirty="0">
              <a:cs typeface="Times New Roman" panose="02020603050405020304" pitchFamily="18" charset="0"/>
            </a:endParaRPr>
          </a:p>
          <a:p>
            <a:r>
              <a:rPr lang="en-US" altLang="zh-CN" sz="1200" dirty="0">
                <a:cs typeface="Times New Roman" panose="02020603050405020304" pitchFamily="18" charset="0"/>
              </a:rPr>
              <a:t>                                     </a:t>
            </a:r>
            <a:r>
              <a:rPr lang="en-US" altLang="zh-CN" sz="1200" dirty="0" err="1">
                <a:cs typeface="Times New Roman" panose="02020603050405020304" pitchFamily="18" charset="0"/>
              </a:rPr>
              <a:t>cout</a:t>
            </a:r>
            <a:r>
              <a:rPr lang="en-US" altLang="zh-CN" sz="1200" dirty="0">
                <a:cs typeface="Times New Roman" panose="02020603050405020304" pitchFamily="18" charset="0"/>
              </a:rPr>
              <a:t>&lt;&lt;"</a:t>
            </a:r>
            <a:r>
              <a:rPr lang="zh-CN" altLang="en-US" sz="1200" dirty="0">
                <a:cs typeface="Times New Roman" panose="02020603050405020304" pitchFamily="18" charset="0"/>
              </a:rPr>
              <a:t>超过报警水位</a:t>
            </a:r>
            <a:r>
              <a:rPr lang="en-US" altLang="zh-CN" sz="1200" dirty="0">
                <a:cs typeface="Times New Roman" panose="02020603050405020304" pitchFamily="18" charset="0"/>
              </a:rPr>
              <a:t>"&lt;&lt;</a:t>
            </a:r>
            <a:r>
              <a:rPr lang="en-US" altLang="zh-CN" sz="1200" dirty="0" err="1">
                <a:cs typeface="Times New Roman" panose="02020603050405020304" pitchFamily="18" charset="0"/>
              </a:rPr>
              <a:t>endl</a:t>
            </a:r>
            <a:r>
              <a:rPr lang="en-US" altLang="zh-CN" sz="1200" dirty="0">
                <a:cs typeface="Times New Roman" panose="02020603050405020304" pitchFamily="18" charset="0"/>
              </a:rPr>
              <a:t>;</a:t>
            </a:r>
            <a:endParaRPr lang="en-US" altLang="zh-CN" sz="1200" dirty="0">
              <a:cs typeface="Times New Roman" panose="02020603050405020304" pitchFamily="18" charset="0"/>
            </a:endParaRPr>
          </a:p>
          <a:p>
            <a:r>
              <a:rPr lang="en-US" altLang="zh-CN" sz="1200" dirty="0">
                <a:cs typeface="Times New Roman" panose="02020603050405020304" pitchFamily="18" charset="0"/>
              </a:rPr>
              <a:t>                                else</a:t>
            </a:r>
            <a:endParaRPr lang="en-US" altLang="zh-CN" sz="1200" dirty="0">
              <a:cs typeface="Times New Roman" panose="02020603050405020304" pitchFamily="18" charset="0"/>
            </a:endParaRPr>
          </a:p>
          <a:p>
            <a:r>
              <a:rPr lang="en-US" altLang="zh-CN" sz="1200" dirty="0">
                <a:cs typeface="Times New Roman" panose="02020603050405020304" pitchFamily="18" charset="0"/>
              </a:rPr>
              <a:t>                                      </a:t>
            </a:r>
            <a:r>
              <a:rPr lang="en-US" altLang="zh-CN" sz="1200" dirty="0" err="1">
                <a:cs typeface="Times New Roman" panose="02020603050405020304" pitchFamily="18" charset="0"/>
              </a:rPr>
              <a:t>cout</a:t>
            </a:r>
            <a:r>
              <a:rPr lang="en-US" altLang="zh-CN" sz="1200" dirty="0">
                <a:cs typeface="Times New Roman" panose="02020603050405020304" pitchFamily="18" charset="0"/>
              </a:rPr>
              <a:t>&lt;&lt;"</a:t>
            </a:r>
            <a:r>
              <a:rPr lang="zh-CN" altLang="en-US" sz="1200" dirty="0">
                <a:cs typeface="Times New Roman" panose="02020603050405020304" pitchFamily="18" charset="0"/>
              </a:rPr>
              <a:t>未查询到此错误代码，请联系当地经销商</a:t>
            </a:r>
            <a:r>
              <a:rPr lang="en-US" altLang="zh-CN" sz="1200" dirty="0">
                <a:cs typeface="Times New Roman" panose="02020603050405020304" pitchFamily="18" charset="0"/>
              </a:rPr>
              <a:t>"&lt;&lt;</a:t>
            </a:r>
            <a:r>
              <a:rPr lang="en-US" altLang="zh-CN" sz="1200" dirty="0" err="1">
                <a:cs typeface="Times New Roman" panose="02020603050405020304" pitchFamily="18" charset="0"/>
              </a:rPr>
              <a:t>endl</a:t>
            </a:r>
            <a:r>
              <a:rPr lang="en-US" altLang="zh-CN" sz="1200" dirty="0">
                <a:cs typeface="Times New Roman" panose="02020603050405020304" pitchFamily="18" charset="0"/>
              </a:rPr>
              <a:t>;</a:t>
            </a:r>
            <a:endParaRPr lang="en-US" altLang="zh-CN" sz="1200" dirty="0">
              <a:cs typeface="Times New Roman" panose="02020603050405020304" pitchFamily="18" charset="0"/>
            </a:endParaRPr>
          </a:p>
          <a:p>
            <a:r>
              <a:rPr lang="en-US" altLang="zh-CN" sz="1200" dirty="0">
                <a:cs typeface="Times New Roman" panose="02020603050405020304" pitchFamily="18" charset="0"/>
              </a:rPr>
              <a:t>    return 0;</a:t>
            </a:r>
            <a:endParaRPr lang="en-US" altLang="zh-CN" sz="1200" dirty="0">
              <a:cs typeface="Times New Roman" panose="02020603050405020304" pitchFamily="18" charset="0"/>
            </a:endParaRPr>
          </a:p>
          <a:p>
            <a:r>
              <a:rPr lang="en-US" altLang="zh-CN" sz="1200" dirty="0">
                <a:cs typeface="Times New Roman" panose="02020603050405020304" pitchFamily="18" charset="0"/>
              </a:rPr>
              <a:t>} </a:t>
            </a:r>
            <a:endParaRPr lang="en-US" altLang="zh-CN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1693</Words>
  <Application>WPS 演示</Application>
  <PresentationFormat>全屏显示(16:9)</PresentationFormat>
  <Paragraphs>139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宋体</vt:lpstr>
      <vt:lpstr>Wingdings</vt:lpstr>
      <vt:lpstr>黑体</vt:lpstr>
      <vt:lpstr>仿宋</vt:lpstr>
      <vt:lpstr>微软雅黑</vt:lpstr>
      <vt:lpstr>Times New Roman</vt:lpstr>
      <vt:lpstr>Calibri</vt:lpstr>
      <vt:lpstr>楷体</vt:lpstr>
      <vt:lpstr>Arial Unicode MS</vt:lpstr>
      <vt:lpstr>Office 主题</vt:lpstr>
      <vt:lpstr>PowerPoint 演示文稿</vt:lpstr>
      <vt:lpstr>体质指数BMI——bug与debug</vt:lpstr>
      <vt:lpstr>PowerPoint 演示文稿</vt:lpstr>
      <vt:lpstr>PowerPoint 演示文稿</vt:lpstr>
      <vt:lpstr>PowerPoint 演示文稿</vt:lpstr>
      <vt:lpstr>编程小词典 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叮咚</cp:lastModifiedBy>
  <cp:revision>102</cp:revision>
  <dcterms:created xsi:type="dcterms:W3CDTF">2018-07-03T13:24:00Z</dcterms:created>
  <dcterms:modified xsi:type="dcterms:W3CDTF">2021-04-13T03:22:16Z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