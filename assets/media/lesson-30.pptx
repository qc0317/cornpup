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3"/>
    <p:sldId id="269" r:id="rId4"/>
    <p:sldId id="281" r:id="rId5"/>
    <p:sldId id="283" r:id="rId6"/>
    <p:sldId id="282" r:id="rId7"/>
    <p:sldId id="267" r:id="rId8"/>
    <p:sldId id="280" r:id="rId9"/>
    <p:sldId id="286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2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布纳特老师出的难题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累加求和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73935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布纳特老师出的难题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累加求和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2460" y="1491630"/>
            <a:ext cx="787908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德国“数学王子”高斯三岁时便能纠正父亲的借债账目。十岁时，有一次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布纳特老师出了一道算术题：求</a:t>
            </a:r>
            <a:r>
              <a:rPr lang="en-US" altLang="zh-CN" dirty="0">
                <a:latin typeface="+mj-ea"/>
                <a:ea typeface="+mj-ea"/>
              </a:rPr>
              <a:t>1-100</a:t>
            </a:r>
            <a:r>
              <a:rPr lang="zh-CN" altLang="en-US" dirty="0">
                <a:latin typeface="+mj-ea"/>
                <a:ea typeface="+mj-ea"/>
              </a:rPr>
              <a:t>所有整数的和，老师刚刚叙述完题目，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高斯就算出了正确答案。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3" name="AutoShape 988"/>
          <p:cNvSpPr>
            <a:spLocks noChangeArrowheads="1"/>
          </p:cNvSpPr>
          <p:nvPr/>
        </p:nvSpPr>
        <p:spPr bwMode="auto">
          <a:xfrm>
            <a:off x="2627784" y="2811233"/>
            <a:ext cx="3888432" cy="11941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试编一程序，求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1+2+3+4+5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的和。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4672" y="2600900"/>
            <a:ext cx="2385267" cy="1950889"/>
          </a:xfrm>
          <a:prstGeom prst="rect">
            <a:avLst/>
          </a:prstGeom>
        </p:spPr>
      </p:pic>
      <p:pic>
        <p:nvPicPr>
          <p:cNvPr id="4" name="图片 3" descr="图片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7020560" y="2931795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3334" y="554729"/>
            <a:ext cx="2547943" cy="408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9661" y="1059582"/>
            <a:ext cx="4166525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解题思路：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用变量</a:t>
            </a:r>
            <a:r>
              <a:rPr lang="en-US" altLang="zh-CN" dirty="0">
                <a:latin typeface="+mj-ea"/>
                <a:ea typeface="+mj-ea"/>
              </a:rPr>
              <a:t>sum</a:t>
            </a:r>
            <a:r>
              <a:rPr lang="zh-CN" altLang="en-US" dirty="0">
                <a:latin typeface="+mj-ea"/>
                <a:ea typeface="+mj-ea"/>
              </a:rPr>
              <a:t>作为累加器，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初始值为</a:t>
            </a:r>
            <a:r>
              <a:rPr lang="en-US" altLang="zh-CN" dirty="0">
                <a:latin typeface="+mj-ea"/>
                <a:ea typeface="+mj-ea"/>
              </a:rPr>
              <a:t>0</a:t>
            </a:r>
            <a:r>
              <a:rPr lang="zh-CN" altLang="en-US" dirty="0">
                <a:latin typeface="+mj-ea"/>
                <a:ea typeface="+mj-ea"/>
              </a:rPr>
              <a:t>，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运用循环让</a:t>
            </a:r>
            <a:r>
              <a:rPr lang="en-US" altLang="zh-CN" dirty="0">
                <a:latin typeface="+mj-ea"/>
                <a:ea typeface="+mj-ea"/>
              </a:rPr>
              <a:t>sum</a:t>
            </a:r>
            <a:r>
              <a:rPr lang="zh-CN" altLang="en-US" dirty="0">
                <a:latin typeface="+mj-ea"/>
                <a:ea typeface="+mj-ea"/>
              </a:rPr>
              <a:t>依次加上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</a:rPr>
              <a:t>2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</a:rPr>
              <a:t>3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</a:rPr>
              <a:t>4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</a:rPr>
              <a:t>5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最终求出它们的和。</a:t>
            </a:r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710968"/>
            <a:ext cx="1809750" cy="1809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443612" y="1344950"/>
            <a:ext cx="626469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i,sum</a:t>
            </a:r>
            <a:r>
              <a:rPr lang="en-US" altLang="zh-CN" dirty="0"/>
              <a:t>=0;		//</a:t>
            </a:r>
            <a:r>
              <a:rPr lang="zh-CN" altLang="en-US" dirty="0"/>
              <a:t>累加器</a:t>
            </a:r>
            <a:r>
              <a:rPr lang="en-US" altLang="zh-CN" dirty="0"/>
              <a:t>sum</a:t>
            </a:r>
            <a:r>
              <a:rPr lang="zh-CN" altLang="en-US" dirty="0"/>
              <a:t>清零</a:t>
            </a:r>
            <a:endParaRPr lang="en-US" altLang="zh-CN" dirty="0"/>
          </a:p>
          <a:p>
            <a:r>
              <a:rPr lang="en-US" altLang="zh-CN" dirty="0"/>
              <a:t>    for(i=1;i&lt;=5;i++)		//</a:t>
            </a:r>
            <a:r>
              <a:rPr lang="zh-CN" altLang="en-US" dirty="0"/>
              <a:t>控制循环次数</a:t>
            </a:r>
            <a:endParaRPr lang="en-US" altLang="zh-CN" dirty="0"/>
          </a:p>
          <a:p>
            <a:r>
              <a:rPr lang="en-US" altLang="zh-CN" dirty="0"/>
              <a:t>        sum+=i; 		//</a:t>
            </a:r>
            <a:r>
              <a:rPr lang="zh-CN" altLang="en-US" dirty="0"/>
              <a:t>累加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&lt;&lt;"1+2+...+5="&lt;&lt;sum;	//</a:t>
            </a:r>
            <a:r>
              <a:rPr lang="zh-CN" altLang="en-US" dirty="0"/>
              <a:t>输出累加器</a:t>
            </a:r>
            <a:r>
              <a:rPr lang="en-US" altLang="zh-CN" dirty="0"/>
              <a:t>sum</a:t>
            </a:r>
            <a:r>
              <a:rPr lang="zh-CN" altLang="en-US" dirty="0"/>
              <a:t>的值</a:t>
            </a:r>
            <a:endParaRPr lang="en-US" altLang="zh-CN" dirty="0"/>
          </a:p>
          <a:p>
            <a:r>
              <a:rPr lang="en-US" altLang="zh-CN" dirty="0"/>
              <a:t>    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2343924"/>
            <a:ext cx="2314575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3275856" y="1374317"/>
            <a:ext cx="4320480" cy="943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+mj-ea"/>
                <a:ea typeface="+mj-ea"/>
              </a:rPr>
              <a:t>想一想：</a:t>
            </a:r>
            <a:endParaRPr lang="en-US" altLang="zh-CN" sz="20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j-ea"/>
                <a:ea typeface="+mj-ea"/>
              </a:rPr>
              <a:t>如何求</a:t>
            </a:r>
            <a:r>
              <a:rPr lang="en-US" altLang="zh-CN" sz="2000" dirty="0">
                <a:latin typeface="+mj-ea"/>
                <a:ea typeface="+mj-ea"/>
              </a:rPr>
              <a:t>1+2+3+4+5+</a:t>
            </a:r>
            <a:r>
              <a:rPr lang="zh-CN" altLang="en-US" sz="2000" dirty="0">
                <a:latin typeface="+mj-ea"/>
                <a:ea typeface="+mj-ea"/>
              </a:rPr>
              <a:t>。。。</a:t>
            </a:r>
            <a:r>
              <a:rPr lang="en-US" altLang="zh-CN" sz="2000" dirty="0">
                <a:latin typeface="+mj-ea"/>
                <a:ea typeface="+mj-ea"/>
              </a:rPr>
              <a:t>+100</a:t>
            </a:r>
            <a:r>
              <a:rPr lang="zh-CN" altLang="en-US" sz="2000" dirty="0">
                <a:latin typeface="+mj-ea"/>
                <a:ea typeface="+mj-ea"/>
              </a:rPr>
              <a:t>的和？</a:t>
            </a:r>
            <a:endParaRPr lang="en-US" altLang="zh-CN" sz="2000" dirty="0">
              <a:latin typeface="+mj-ea"/>
              <a:ea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642707"/>
            <a:ext cx="3086531" cy="29245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0506" y="741843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2982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计算机使用的键盘，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shift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键（  ）。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退格键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上档键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空格键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键盘类型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51329" y="856758"/>
            <a:ext cx="4936302" cy="313119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#include&lt;</a:t>
            </a:r>
            <a:r>
              <a:rPr lang="en-US" altLang="zh-CN" sz="1400" b="0" dirty="0" err="1">
                <a:latin typeface="+mn-lt"/>
              </a:rPr>
              <a:t>iostream</a:t>
            </a:r>
            <a:r>
              <a:rPr lang="en-US" altLang="zh-CN" sz="1400" b="0" dirty="0">
                <a:latin typeface="+mn-lt"/>
              </a:rPr>
              <a:t>&gt;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using namespace </a:t>
            </a:r>
            <a:r>
              <a:rPr lang="en-US" altLang="zh-CN" sz="1400" b="0" dirty="0" err="1">
                <a:latin typeface="+mn-lt"/>
              </a:rPr>
              <a:t>std</a:t>
            </a:r>
            <a:r>
              <a:rPr lang="en-US" altLang="zh-CN" sz="1400" b="0" dirty="0">
                <a:latin typeface="+mn-lt"/>
              </a:rPr>
              <a:t>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 err="1">
                <a:latin typeface="+mn-lt"/>
              </a:rPr>
              <a:t>int</a:t>
            </a:r>
            <a:r>
              <a:rPr lang="en-US" altLang="zh-CN" sz="1400" b="0" dirty="0">
                <a:latin typeface="+mn-lt"/>
              </a:rPr>
              <a:t> main()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{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</a:t>
            </a:r>
            <a:r>
              <a:rPr lang="nn-NO" altLang="zh-CN" sz="1400" b="0" dirty="0">
                <a:latin typeface="+mn-lt"/>
              </a:rPr>
              <a:t>int i;</a:t>
            </a:r>
            <a:endParaRPr lang="nn-NO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nn-NO" altLang="zh-CN" sz="1400" b="0" dirty="0">
                <a:latin typeface="+mn-lt"/>
              </a:rPr>
              <a:t>      int sum=0;</a:t>
            </a:r>
            <a:endParaRPr lang="nn-NO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nn-NO" altLang="zh-CN" sz="1400" b="0" dirty="0">
                <a:latin typeface="+mn-lt"/>
              </a:rPr>
              <a:t>      for(i=1;i&lt;=5;i++)</a:t>
            </a:r>
            <a:endParaRPr lang="nn-NO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nn-NO" altLang="zh-CN" sz="1400" b="0" dirty="0">
                <a:latin typeface="+mn-lt"/>
              </a:rPr>
              <a:t>	sum+=i*i;</a:t>
            </a:r>
            <a:endParaRPr lang="nn-NO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nn-NO" altLang="zh-CN" sz="1400" b="0" dirty="0">
                <a:latin typeface="+mn-lt"/>
              </a:rPr>
              <a:t>      cout&lt;&lt;sum&lt;&lt;endl;</a:t>
            </a:r>
            <a:r>
              <a:rPr lang="en-US" altLang="zh-CN" sz="1400" b="0" dirty="0">
                <a:latin typeface="+mn-lt"/>
              </a:rPr>
              <a:t>      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return 0;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}</a:t>
            </a: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i        sum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779912" y="4141741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761" y="3536571"/>
            <a:ext cx="991535" cy="11014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allAtOnce"/>
      <p:bldP spid="8" grpId="0" animBg="1" build="allAtOnce"/>
      <p:bldP spid="3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08520" y="705224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1057639" y="1679562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求</a:t>
            </a:r>
            <a:r>
              <a:rPr lang="en-US" altLang="zh-CN" sz="1800" b="0" dirty="0">
                <a:solidFill>
                  <a:prstClr val="black"/>
                </a:solidFill>
              </a:rPr>
              <a:t>1*2+2*3+3*4+4*5+…+99*100+100*101</a:t>
            </a:r>
            <a:r>
              <a:rPr lang="zh-CN" altLang="en-US" sz="1800" b="0" dirty="0">
                <a:solidFill>
                  <a:prstClr val="black"/>
                </a:solidFill>
              </a:rPr>
              <a:t>的和是多少？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37370" y="700048"/>
            <a:ext cx="4511094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sum,i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______________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for(i=1;i&lt;=100;i++)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____________;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&lt;&lt;sum&lt;&lt;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79467" y="4282574"/>
            <a:ext cx="3860800" cy="3683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072.2661417322834,&quot;width&quot;:3756.3259842519683}"/>
</p:tagLst>
</file>

<file path=ppt/tags/tag2.xml><?xml version="1.0" encoding="utf-8"?>
<p:tagLst xmlns:p="http://schemas.openxmlformats.org/presentationml/2006/main">
  <p:tag name="KSO_WM_UNIT_PLACING_PICTURE_USER_VIEWPORT" val="{&quot;height&quot;:2275,&quot;width&quot;:226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920</Words>
  <Application>WPS 演示</Application>
  <PresentationFormat>全屏显示(16:9)</PresentationFormat>
  <Paragraphs>91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布纳特老师出的难题——累加求和</vt:lpstr>
      <vt:lpstr> 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63</cp:revision>
  <dcterms:created xsi:type="dcterms:W3CDTF">2018-07-03T13:24:00Z</dcterms:created>
  <dcterms:modified xsi:type="dcterms:W3CDTF">2021-06-17T02:54:29Z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C28E88380D214456B2CEB8189A7135E1</vt:lpwstr>
  </property>
  <property fmtid="{D5CDD505-2E9C-101B-9397-08002B2CF9AE}" pid="3" name="KSOProductBuildVer">
    <vt:lpwstr>2052-11.1.0.10577</vt:lpwstr>
  </property>
</Properties>
</file>