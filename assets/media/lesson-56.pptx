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3"/>
    <p:sldId id="269" r:id="rId4"/>
    <p:sldId id="281" r:id="rId5"/>
    <p:sldId id="282" r:id="rId6"/>
    <p:sldId id="283" r:id="rId7"/>
    <p:sldId id="284" r:id="rId8"/>
    <p:sldId id="285" r:id="rId9"/>
    <p:sldId id="267" r:id="rId10"/>
    <p:sldId id="280" r:id="rId11"/>
    <p:sldId id="288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图形的窍门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双重循环的应用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5987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图形的窍门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双重循环的应用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AutoShape 884"/>
          <p:cNvSpPr>
            <a:spLocks noChangeArrowheads="1"/>
          </p:cNvSpPr>
          <p:nvPr/>
        </p:nvSpPr>
        <p:spPr bwMode="auto">
          <a:xfrm>
            <a:off x="3347864" y="1707654"/>
            <a:ext cx="4037285" cy="115212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试编一程序，输出一个三角形的图形。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60798" y="3397477"/>
            <a:ext cx="2211415" cy="120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4000" dirty="0"/>
              <a:t>*</a:t>
            </a:r>
            <a:endParaRPr lang="en-US" altLang="zh-CN" sz="4000" dirty="0"/>
          </a:p>
          <a:p>
            <a:pPr>
              <a:lnSpc>
                <a:spcPts val="1600"/>
              </a:lnSpc>
            </a:pPr>
            <a:r>
              <a:rPr lang="zh-CN" altLang="en-US" sz="4000" dirty="0"/>
              <a:t>**</a:t>
            </a:r>
            <a:endParaRPr lang="en-US" altLang="zh-CN" sz="4000" dirty="0"/>
          </a:p>
          <a:p>
            <a:pPr>
              <a:lnSpc>
                <a:spcPts val="1600"/>
              </a:lnSpc>
            </a:pPr>
            <a:r>
              <a:rPr lang="zh-CN" altLang="en-US" sz="4000" dirty="0"/>
              <a:t>***</a:t>
            </a:r>
            <a:endParaRPr lang="en-US" altLang="zh-CN" sz="4000" dirty="0"/>
          </a:p>
          <a:p>
            <a:pPr>
              <a:lnSpc>
                <a:spcPts val="1600"/>
              </a:lnSpc>
            </a:pPr>
            <a:r>
              <a:rPr lang="zh-CN" altLang="en-US" sz="4000" dirty="0"/>
              <a:t>****</a:t>
            </a:r>
            <a:endParaRPr lang="en-US" altLang="zh-CN" sz="4000" dirty="0"/>
          </a:p>
          <a:p>
            <a:pPr>
              <a:lnSpc>
                <a:spcPts val="1600"/>
              </a:lnSpc>
            </a:pPr>
            <a:r>
              <a:rPr lang="zh-CN" altLang="en-US" sz="4000" dirty="0"/>
              <a:t>*****</a:t>
            </a:r>
            <a:endParaRPr lang="en-US" altLang="zh-CN" sz="4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265" y="3018144"/>
            <a:ext cx="1274629" cy="1257048"/>
          </a:xfrm>
          <a:prstGeom prst="rect">
            <a:avLst/>
          </a:prstGeom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5" y="1565275"/>
            <a:ext cx="2727325" cy="2738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820232"/>
            <a:ext cx="2205199" cy="39825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47664" y="1347614"/>
            <a:ext cx="954107" cy="1148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2400" dirty="0"/>
              <a:t>*</a:t>
            </a:r>
            <a:endParaRPr lang="en-US" altLang="zh-CN" sz="2400" dirty="0"/>
          </a:p>
          <a:p>
            <a:pPr>
              <a:lnSpc>
                <a:spcPts val="1600"/>
              </a:lnSpc>
            </a:pPr>
            <a:r>
              <a:rPr lang="zh-CN" altLang="en-US" sz="2400" dirty="0"/>
              <a:t>**</a:t>
            </a:r>
            <a:endParaRPr lang="en-US" altLang="zh-CN" sz="2400" dirty="0"/>
          </a:p>
          <a:p>
            <a:pPr>
              <a:lnSpc>
                <a:spcPts val="1600"/>
              </a:lnSpc>
            </a:pPr>
            <a:r>
              <a:rPr lang="zh-CN" altLang="en-US" sz="2400" dirty="0"/>
              <a:t>***</a:t>
            </a:r>
            <a:endParaRPr lang="en-US" altLang="zh-CN" sz="2400" dirty="0"/>
          </a:p>
          <a:p>
            <a:pPr>
              <a:lnSpc>
                <a:spcPts val="1600"/>
              </a:lnSpc>
            </a:pPr>
            <a:r>
              <a:rPr lang="zh-CN" altLang="en-US" sz="2400" dirty="0"/>
              <a:t>****</a:t>
            </a:r>
            <a:endParaRPr lang="en-US" altLang="zh-CN" sz="2400" dirty="0"/>
          </a:p>
          <a:p>
            <a:pPr>
              <a:lnSpc>
                <a:spcPts val="1600"/>
              </a:lnSpc>
            </a:pPr>
            <a:r>
              <a:rPr lang="zh-CN" altLang="en-US" sz="2400" dirty="0"/>
              <a:t>*****</a:t>
            </a:r>
            <a:endParaRPr lang="en-US" altLang="zh-C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75979" y="2628669"/>
            <a:ext cx="4572085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行数是</a:t>
            </a:r>
            <a:r>
              <a:rPr lang="en-US" altLang="zh-CN" dirty="0"/>
              <a:t>5</a:t>
            </a:r>
            <a:r>
              <a:rPr lang="zh-CN" altLang="en-US" dirty="0"/>
              <a:t>，但每行“*”的个数不是固定值，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而是随着行的增加而增加。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i</a:t>
            </a:r>
            <a:r>
              <a:rPr lang="zh-CN" altLang="en-US" dirty="0"/>
              <a:t>行，输出</a:t>
            </a:r>
            <a:r>
              <a:rPr lang="en-US" altLang="zh-CN" dirty="0"/>
              <a:t>i</a:t>
            </a:r>
            <a:r>
              <a:rPr lang="zh-CN" altLang="en-US" dirty="0"/>
              <a:t>个“*”，可以用双重循环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来实现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755576" y="1059582"/>
            <a:ext cx="76328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 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for(i=1;i&lt;=5;i++)</a:t>
            </a:r>
            <a:endParaRPr lang="en-US" altLang="zh-CN" dirty="0"/>
          </a:p>
          <a:p>
            <a:r>
              <a:rPr lang="en-US" altLang="zh-CN" dirty="0"/>
              <a:t>    {</a:t>
            </a:r>
            <a:endParaRPr lang="en-US" altLang="zh-CN" dirty="0"/>
          </a:p>
          <a:p>
            <a:r>
              <a:rPr lang="en-US" altLang="zh-CN" dirty="0"/>
              <a:t>        for(j=1;j&lt;=</a:t>
            </a:r>
            <a:r>
              <a:rPr lang="en-US" altLang="zh-CN" dirty="0" err="1"/>
              <a:t>i;j</a:t>
            </a:r>
            <a:r>
              <a:rPr lang="en-US" altLang="zh-CN" dirty="0"/>
              <a:t>++)</a:t>
            </a: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C00000"/>
                </a:solidFill>
              </a:rPr>
              <a:t>//</a:t>
            </a:r>
            <a:r>
              <a:rPr lang="zh-CN" altLang="en-US" sz="1600" dirty="0">
                <a:solidFill>
                  <a:srgbClr val="C00000"/>
                </a:solidFill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</a:rPr>
              <a:t>i</a:t>
            </a:r>
            <a:r>
              <a:rPr lang="zh-CN" altLang="en-US" sz="1600" dirty="0">
                <a:solidFill>
                  <a:srgbClr val="C00000"/>
                </a:solidFill>
              </a:rPr>
              <a:t>行的时候，内层循环需执行</a:t>
            </a:r>
            <a:r>
              <a:rPr lang="en-US" altLang="zh-CN" sz="1600" dirty="0">
                <a:solidFill>
                  <a:srgbClr val="C00000"/>
                </a:solidFill>
              </a:rPr>
              <a:t>i</a:t>
            </a:r>
            <a:r>
              <a:rPr lang="zh-CN" altLang="en-US" sz="1600" dirty="0">
                <a:solidFill>
                  <a:srgbClr val="C00000"/>
                </a:solidFill>
              </a:rPr>
              <a:t>次，输出</a:t>
            </a:r>
            <a:r>
              <a:rPr lang="en-US" altLang="zh-CN" sz="1600" dirty="0">
                <a:solidFill>
                  <a:srgbClr val="C00000"/>
                </a:solidFill>
              </a:rPr>
              <a:t>i</a:t>
            </a:r>
            <a:r>
              <a:rPr lang="zh-CN" altLang="en-US" sz="1600" dirty="0">
                <a:solidFill>
                  <a:srgbClr val="C00000"/>
                </a:solidFill>
              </a:rPr>
              <a:t>个“*”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en-US" altLang="zh-CN" dirty="0"/>
              <a:t>  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&lt;&lt;'*';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endl</a:t>
            </a:r>
            <a:r>
              <a:rPr lang="en-US" altLang="zh-CN" dirty="0"/>
              <a:t>; 	</a:t>
            </a:r>
            <a:endParaRPr lang="en-US" altLang="zh-CN" dirty="0"/>
          </a:p>
          <a:p>
            <a:r>
              <a:rPr lang="en-US" altLang="zh-CN" dirty="0"/>
              <a:t>    } 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282" y="4033178"/>
            <a:ext cx="1398506" cy="6992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275606"/>
            <a:ext cx="1872209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884"/>
          <p:cNvSpPr>
            <a:spLocks noChangeArrowheads="1"/>
          </p:cNvSpPr>
          <p:nvPr/>
        </p:nvSpPr>
        <p:spPr bwMode="auto">
          <a:xfrm>
            <a:off x="3419872" y="3003798"/>
            <a:ext cx="4261379" cy="115212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我想输出如图所示的图形，有什么窍门吗？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61202"/>
            <a:ext cx="2950468" cy="323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259632" y="1491630"/>
            <a:ext cx="66527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每行输出的“*”号的个数与行数的关系：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假设第</a:t>
            </a:r>
            <a:r>
              <a:rPr lang="en-US" altLang="zh-CN" dirty="0"/>
              <a:t>1</a:t>
            </a:r>
            <a:r>
              <a:rPr lang="zh-CN" altLang="en-US" dirty="0"/>
              <a:t>行的“*”前有</a:t>
            </a:r>
            <a:r>
              <a:rPr lang="en-US" altLang="zh-CN" dirty="0"/>
              <a:t>40</a:t>
            </a:r>
            <a:r>
              <a:rPr lang="zh-CN" altLang="en-US" dirty="0"/>
              <a:t>个空格，行数与每行前的空格的关系：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16156" y="1995686"/>
          <a:ext cx="481202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748030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行数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个数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*</a:t>
                      </a:r>
                      <a:r>
                        <a:rPr lang="en-US" altLang="zh-CN" dirty="0"/>
                        <a:t>i-1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72576" y="3363838"/>
          <a:ext cx="600773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8268"/>
                <a:gridCol w="762000"/>
                <a:gridCol w="762000"/>
                <a:gridCol w="762000"/>
                <a:gridCol w="762000"/>
                <a:gridCol w="819468"/>
                <a:gridCol w="76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行数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前面的空格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40-i+1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1347614"/>
            <a:ext cx="1833761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1115616" y="1059582"/>
            <a:ext cx="698477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iomanip</a:t>
            </a:r>
            <a:r>
              <a:rPr lang="en-US" altLang="zh-CN" sz="1600" dirty="0"/>
              <a:t>&gt;         //</a:t>
            </a:r>
            <a:r>
              <a:rPr lang="zh-CN" altLang="en-US" sz="1600" dirty="0"/>
              <a:t>为了使用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()</a:t>
            </a:r>
            <a:r>
              <a:rPr lang="zh-CN" altLang="en-US" sz="1600" dirty="0"/>
              <a:t>来设置域宽</a:t>
            </a:r>
            <a:endParaRPr lang="zh-CN" altLang="en-US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i,j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for(i=1;i&lt;=5;i++)           	 //</a:t>
            </a:r>
            <a:r>
              <a:rPr lang="zh-CN" altLang="en-US" sz="1600" dirty="0"/>
              <a:t>外循环控制行数</a:t>
            </a:r>
            <a:endParaRPr lang="zh-CN" altLang="en-US" sz="1600" dirty="0"/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{ </a:t>
            </a:r>
            <a:endParaRPr lang="en-US" altLang="zh-CN" sz="1600" dirty="0"/>
          </a:p>
          <a:p>
            <a:r>
              <a:rPr lang="en-US" altLang="zh-CN" sz="1600" dirty="0"/>
              <a:t>   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setw</a:t>
            </a:r>
            <a:r>
              <a:rPr lang="en-US" altLang="zh-CN" sz="1600" dirty="0"/>
              <a:t>(41-i) &lt;&lt;' ';    	//</a:t>
            </a:r>
            <a:r>
              <a:rPr lang="zh-CN" altLang="en-US" sz="1600" dirty="0"/>
              <a:t>占位，右对齐，每行前面输出的空格</a:t>
            </a:r>
            <a:endParaRPr lang="en-US" altLang="zh-CN" sz="1600" dirty="0"/>
          </a:p>
          <a:p>
            <a:r>
              <a:rPr lang="zh-CN" altLang="en-US" sz="1600" dirty="0"/>
              <a:t>         </a:t>
            </a:r>
            <a:r>
              <a:rPr lang="en-US" altLang="zh-CN" sz="1600" dirty="0"/>
              <a:t>for(j=1;j&lt;=i*2-1;j++)     	//</a:t>
            </a:r>
            <a:r>
              <a:rPr lang="zh-CN" altLang="en-US" sz="1600" dirty="0"/>
              <a:t>内层循环控制每行的个数</a:t>
            </a:r>
            <a:endParaRPr lang="zh-CN" altLang="en-US" sz="1600" dirty="0"/>
          </a:p>
          <a:p>
            <a:r>
              <a:rPr lang="zh-CN" altLang="en-US" sz="1600" dirty="0"/>
              <a:t>        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&lt;&lt;'*';             	//</a:t>
            </a:r>
            <a:r>
              <a:rPr lang="zh-CN" altLang="en-US" sz="1600" dirty="0"/>
              <a:t>输出的内容</a:t>
            </a:r>
            <a:endParaRPr lang="zh-CN" altLang="en-US" sz="1600" dirty="0"/>
          </a:p>
          <a:p>
            <a:r>
              <a:rPr lang="zh-CN" altLang="en-US" sz="1600" dirty="0"/>
              <a:t>   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 	       	  //</a:t>
            </a:r>
            <a:r>
              <a:rPr lang="zh-CN" altLang="en-US" sz="1600" dirty="0"/>
              <a:t>换行</a:t>
            </a:r>
            <a:endParaRPr lang="zh-CN" altLang="en-US" sz="1600" dirty="0"/>
          </a:p>
          <a:p>
            <a:r>
              <a:rPr lang="zh-CN" altLang="en-US" sz="1600" dirty="0"/>
              <a:t>    </a:t>
            </a:r>
            <a:r>
              <a:rPr lang="en-US" altLang="zh-CN" sz="1600" dirty="0"/>
              <a:t>} </a:t>
            </a:r>
            <a:endParaRPr lang="en-US" altLang="zh-CN" sz="1600" dirty="0"/>
          </a:p>
          <a:p>
            <a:r>
              <a:rPr lang="en-US" altLang="zh-CN" sz="1600" dirty="0"/>
              <a:t>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787" y="3723878"/>
            <a:ext cx="1115194" cy="11151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414" y="57522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275606"/>
            <a:ext cx="25761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、家用扫地机器人具有自动避障、清扫、自动充电等功能。这主要是应用了信息技术中的（  ）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人工智能技术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网络技术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多媒体技术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数据管理技术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4" y="627534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i       j     t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270" y="1131590"/>
            <a:ext cx="2974887" cy="3589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711" y="575220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编程输出如图所示的图形。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728" y="2139702"/>
            <a:ext cx="80962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896" y="843558"/>
            <a:ext cx="2654508" cy="3962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11" y="3567751"/>
            <a:ext cx="1214088" cy="1206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WPS 演示</Application>
  <PresentationFormat>全屏显示(16:9)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图形的窍门——双重循环的应用</vt:lpstr>
      <vt:lpstr> </vt:lpstr>
      <vt:lpstr> 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87</cp:revision>
  <dcterms:created xsi:type="dcterms:W3CDTF">2018-07-03T13:24:00Z</dcterms:created>
  <dcterms:modified xsi:type="dcterms:W3CDTF">2021-09-28T09:34:49Z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DB50CBC9870C43C5ACD1BBFEE08F8420</vt:lpwstr>
  </property>
  <property fmtid="{D5CDD505-2E9C-101B-9397-08002B2CF9AE}" pid="3" name="KSOProductBuildVer">
    <vt:lpwstr>2052-11.1.0.10700</vt:lpwstr>
  </property>
</Properties>
</file>