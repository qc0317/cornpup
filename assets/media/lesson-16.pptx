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0" r:id="rId2"/>
    <p:sldId id="269" r:id="rId3"/>
    <p:sldId id="285" r:id="rId4"/>
    <p:sldId id="286" r:id="rId5"/>
    <p:sldId id="287" r:id="rId6"/>
    <p:sldId id="288" r:id="rId7"/>
    <p:sldId id="289" r:id="rId8"/>
    <p:sldId id="275" r:id="rId9"/>
    <p:sldId id="267" r:id="rId10"/>
    <p:sldId id="280" r:id="rId11"/>
    <p:sldId id="292" r:id="rId1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蘑菇庄园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(if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语句嵌套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35182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蘑菇庄园</a:t>
            </a:r>
            <a:r>
              <a:rPr lang="en-US" altLang="zh-CN" sz="2400" dirty="0">
                <a:solidFill>
                  <a:srgbClr val="00B0F0"/>
                </a:solidFill>
              </a:rPr>
              <a:t>——if</a:t>
            </a:r>
            <a:r>
              <a:rPr lang="zh-CN" altLang="en-US" sz="2400" dirty="0">
                <a:solidFill>
                  <a:srgbClr val="00B0F0"/>
                </a:solidFill>
              </a:rPr>
              <a:t>语句嵌套</a:t>
            </a:r>
          </a:p>
        </p:txBody>
      </p:sp>
      <p:sp>
        <p:nvSpPr>
          <p:cNvPr id="7" name="矩形: 圆角 4"/>
          <p:cNvSpPr>
            <a:spLocks noChangeArrowheads="1"/>
          </p:cNvSpPr>
          <p:nvPr/>
        </p:nvSpPr>
        <p:spPr bwMode="auto">
          <a:xfrm>
            <a:off x="2915816" y="1426303"/>
            <a:ext cx="5040560" cy="295232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133350"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试编一个模拟蘑菇庄园登录程序，输入正确的用户名和密码，输出欢迎语句“亲爱的小朋友欢迎</a:t>
            </a:r>
            <a:r>
              <a:rPr lang="zh-CN" alt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你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!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”，否则输出“用户名不正确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!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”或“密码错误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!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”。</a:t>
            </a:r>
            <a:endParaRPr 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45" y="2367915"/>
            <a:ext cx="2002155" cy="20104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502080"/>
            <a:ext cx="5933422" cy="4188298"/>
          </a:xfrm>
          <a:prstGeom prst="rect">
            <a:avLst/>
          </a:prstGeom>
        </p:spPr>
      </p:pic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90" y="2089785"/>
            <a:ext cx="1786255" cy="1793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291489" y="1347614"/>
            <a:ext cx="3196709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if (  )  </a:t>
            </a:r>
          </a:p>
          <a:p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if(  )</a:t>
            </a:r>
          </a:p>
          <a:p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2800" kern="100" dirty="0" err="1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cout</a:t>
            </a:r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&lt;&lt;"  ";</a:t>
            </a:r>
          </a:p>
          <a:p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else</a:t>
            </a:r>
          </a:p>
          <a:p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2800" kern="100" dirty="0" err="1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cout</a:t>
            </a:r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&lt;&lt;"</a:t>
            </a:r>
            <a:r>
              <a:rPr lang="zh-CN" altLang="en-US" sz="16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";</a:t>
            </a:r>
          </a:p>
          <a:p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else</a:t>
            </a:r>
          </a:p>
          <a:p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</a:t>
            </a:r>
            <a:r>
              <a:rPr lang="en-US" altLang="zh-CN" sz="2800" kern="100" dirty="0" err="1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cout</a:t>
            </a:r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&lt;&lt;"</a:t>
            </a:r>
            <a:r>
              <a:rPr lang="en-US" altLang="zh-CN" sz="16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28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" ; </a:t>
            </a:r>
          </a:p>
        </p:txBody>
      </p:sp>
      <p:sp>
        <p:nvSpPr>
          <p:cNvPr id="3" name="矩形 2"/>
          <p:cNvSpPr/>
          <p:nvPr/>
        </p:nvSpPr>
        <p:spPr>
          <a:xfrm>
            <a:off x="3563888" y="562905"/>
            <a:ext cx="3888432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#include&lt;</a:t>
            </a:r>
            <a:r>
              <a:rPr lang="en-US" altLang="zh-CN" sz="1400" dirty="0" err="1"/>
              <a:t>iostream</a:t>
            </a:r>
            <a:r>
              <a:rPr lang="en-US" altLang="zh-CN" sz="1400" dirty="0"/>
              <a:t>&gt;</a:t>
            </a:r>
          </a:p>
          <a:p>
            <a:r>
              <a:rPr lang="en-US" altLang="zh-CN" sz="1400" dirty="0"/>
              <a:t>using namespace </a:t>
            </a:r>
            <a:r>
              <a:rPr lang="en-US" altLang="zh-CN" sz="1400" dirty="0" err="1"/>
              <a:t>std</a:t>
            </a:r>
            <a:r>
              <a:rPr lang="en-US" altLang="zh-CN" sz="1400" dirty="0"/>
              <a:t>;</a:t>
            </a:r>
          </a:p>
          <a:p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</a:p>
          <a:p>
            <a:r>
              <a:rPr lang="en-US" altLang="zh-CN" sz="1400" dirty="0"/>
              <a:t>{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const</a:t>
            </a:r>
            <a:r>
              <a:rPr lang="en-US" altLang="zh-CN" sz="1400" dirty="0"/>
              <a:t>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 USER=201701,PSW=135790;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 </a:t>
            </a:r>
            <a:r>
              <a:rPr lang="en-US" altLang="zh-CN" sz="1400" dirty="0" err="1"/>
              <a:t>user,psw</a:t>
            </a:r>
            <a:r>
              <a:rPr lang="en-US" altLang="zh-CN" sz="1400" dirty="0"/>
              <a:t>;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用户名</a:t>
            </a:r>
            <a:r>
              <a:rPr lang="en-US" altLang="zh-CN" sz="1400" dirty="0"/>
              <a:t>:";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cin</a:t>
            </a:r>
            <a:r>
              <a:rPr lang="en-US" altLang="zh-CN" sz="1400" dirty="0"/>
              <a:t>&gt;&gt;user;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密码：</a:t>
            </a:r>
            <a:r>
              <a:rPr lang="en-US" altLang="zh-CN" sz="1400" dirty="0"/>
              <a:t>";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cin</a:t>
            </a:r>
            <a:r>
              <a:rPr lang="en-US" altLang="zh-CN" sz="1400" dirty="0"/>
              <a:t>&gt;&gt;</a:t>
            </a:r>
            <a:r>
              <a:rPr lang="en-US" altLang="zh-CN" sz="1400" dirty="0" err="1"/>
              <a:t>psw</a:t>
            </a:r>
            <a:r>
              <a:rPr lang="en-US" altLang="zh-CN" sz="1400" dirty="0"/>
              <a:t>;</a:t>
            </a:r>
          </a:p>
          <a:p>
            <a:r>
              <a:rPr lang="en-US" altLang="zh-CN" sz="1400" dirty="0"/>
              <a:t>    if (user==USER)  </a:t>
            </a:r>
          </a:p>
          <a:p>
            <a:r>
              <a:rPr lang="en-US" altLang="zh-CN" sz="1400" dirty="0"/>
              <a:t>        if(</a:t>
            </a:r>
            <a:r>
              <a:rPr lang="en-US" altLang="zh-CN" sz="1400" dirty="0" err="1"/>
              <a:t>psw</a:t>
            </a:r>
            <a:r>
              <a:rPr lang="en-US" altLang="zh-CN" sz="1400" dirty="0"/>
              <a:t>==PSW)</a:t>
            </a:r>
          </a:p>
          <a:p>
            <a:r>
              <a:rPr lang="en-US" altLang="zh-CN" sz="1400" dirty="0"/>
              <a:t>          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亲爱的小朋友欢迎您</a:t>
            </a:r>
            <a:r>
              <a:rPr lang="en-US" altLang="zh-CN" sz="1400" dirty="0"/>
              <a:t>!";</a:t>
            </a:r>
          </a:p>
          <a:p>
            <a:r>
              <a:rPr lang="en-US" altLang="zh-CN" sz="1400" dirty="0"/>
              <a:t>        else</a:t>
            </a:r>
          </a:p>
          <a:p>
            <a:r>
              <a:rPr lang="en-US" altLang="zh-CN" sz="1400" dirty="0"/>
              <a:t>          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密码错误</a:t>
            </a:r>
            <a:r>
              <a:rPr lang="en-US" altLang="zh-CN" sz="1400" dirty="0"/>
              <a:t>!";</a:t>
            </a:r>
          </a:p>
          <a:p>
            <a:r>
              <a:rPr lang="en-US" altLang="zh-CN" sz="1400" dirty="0"/>
              <a:t>      else</a:t>
            </a:r>
          </a:p>
          <a:p>
            <a:r>
              <a:rPr lang="en-US" altLang="zh-CN" sz="1400" dirty="0"/>
              <a:t>       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用户名不正确</a:t>
            </a:r>
            <a:r>
              <a:rPr lang="en-US" altLang="zh-CN" sz="1400" dirty="0"/>
              <a:t>!" ;  </a:t>
            </a:r>
          </a:p>
          <a:p>
            <a:r>
              <a:rPr lang="en-US" altLang="zh-CN" sz="1400" dirty="0"/>
              <a:t>      return 0;</a:t>
            </a:r>
          </a:p>
          <a:p>
            <a:r>
              <a:rPr lang="en-US" altLang="zh-CN" sz="1400" dirty="0"/>
              <a:t>}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062" y="2914944"/>
            <a:ext cx="2249672" cy="17329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2"/>
          <p:cNvSpPr/>
          <p:nvPr/>
        </p:nvSpPr>
        <p:spPr>
          <a:xfrm>
            <a:off x="63628" y="324572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grpSp>
        <p:nvGrpSpPr>
          <p:cNvPr id="4" name="组合 3"/>
          <p:cNvGrpSpPr/>
          <p:nvPr/>
        </p:nvGrpSpPr>
        <p:grpSpPr>
          <a:xfrm>
            <a:off x="494580" y="1705332"/>
            <a:ext cx="4464233" cy="1251802"/>
            <a:chOff x="531210" y="1014521"/>
            <a:chExt cx="5120647" cy="1512887"/>
          </a:xfrm>
        </p:grpSpPr>
        <p:grpSp>
          <p:nvGrpSpPr>
            <p:cNvPr id="5" name="组合 33"/>
            <p:cNvGrpSpPr/>
            <p:nvPr/>
          </p:nvGrpSpPr>
          <p:grpSpPr bwMode="auto">
            <a:xfrm>
              <a:off x="531210" y="1014521"/>
              <a:ext cx="1800225" cy="1512887"/>
              <a:chOff x="0" y="0"/>
              <a:chExt cx="1800200" cy="1512252"/>
            </a:xfrm>
          </p:grpSpPr>
          <p:pic>
            <p:nvPicPr>
              <p:cNvPr id="7" name="Picture 85" descr="png-144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" name="矩形 35"/>
              <p:cNvSpPr/>
              <p:nvPr/>
            </p:nvSpPr>
            <p:spPr>
              <a:xfrm>
                <a:off x="573080" y="403056"/>
                <a:ext cx="670013" cy="65819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200">
                    <a:latin typeface="楷体" panose="02010609060101010101" pitchFamily="49" charset="-122"/>
                    <a:ea typeface="楷体" panose="02010609060101010101" pitchFamily="49" charset="-122"/>
                  </a:rPr>
                  <a:t>常</a:t>
                </a:r>
                <a:endParaRPr lang="zh-CN" altLang="en-US" sz="32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9" name="组合 33"/>
            <p:cNvGrpSpPr/>
            <p:nvPr/>
          </p:nvGrpSpPr>
          <p:grpSpPr bwMode="auto">
            <a:xfrm>
              <a:off x="2191421" y="1014521"/>
              <a:ext cx="1800225" cy="1512887"/>
              <a:chOff x="585201" y="-1517760"/>
              <a:chExt cx="1800200" cy="1512252"/>
            </a:xfrm>
          </p:grpSpPr>
          <p:pic>
            <p:nvPicPr>
              <p:cNvPr id="10" name="Picture 85" descr="png-144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5201" y="-151776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矩形 35"/>
              <p:cNvSpPr/>
              <p:nvPr/>
            </p:nvSpPr>
            <p:spPr>
              <a:xfrm>
                <a:off x="1169806" y="-1080971"/>
                <a:ext cx="670013" cy="65819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200">
                    <a:latin typeface="楷体" panose="02010609060101010101" pitchFamily="49" charset="-122"/>
                    <a:ea typeface="楷体" panose="02010609060101010101" pitchFamily="49" charset="-122"/>
                  </a:rPr>
                  <a:t>变</a:t>
                </a:r>
                <a:endParaRPr lang="zh-CN" altLang="en-US" sz="32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2" name="组合 33"/>
            <p:cNvGrpSpPr/>
            <p:nvPr/>
          </p:nvGrpSpPr>
          <p:grpSpPr bwMode="auto">
            <a:xfrm>
              <a:off x="3851632" y="1014521"/>
              <a:ext cx="1800225" cy="1512887"/>
              <a:chOff x="0" y="0"/>
              <a:chExt cx="1800200" cy="1512252"/>
            </a:xfrm>
          </p:grpSpPr>
          <p:pic>
            <p:nvPicPr>
              <p:cNvPr id="13" name="Picture 85" descr="png-144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矩形 35"/>
              <p:cNvSpPr/>
              <p:nvPr/>
            </p:nvSpPr>
            <p:spPr>
              <a:xfrm>
                <a:off x="573080" y="403056"/>
                <a:ext cx="670013" cy="65819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200">
                    <a:latin typeface="楷体" panose="02010609060101010101" pitchFamily="49" charset="-122"/>
                    <a:ea typeface="楷体" panose="02010609060101010101" pitchFamily="49" charset="-122"/>
                  </a:rPr>
                  <a:t>量</a:t>
                </a:r>
                <a:endParaRPr lang="zh-CN" altLang="en-US" sz="32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</p:grpSp>
      <p:sp>
        <p:nvSpPr>
          <p:cNvPr id="15" name="矩形 14"/>
          <p:cNvSpPr/>
          <p:nvPr/>
        </p:nvSpPr>
        <p:spPr>
          <a:xfrm>
            <a:off x="755576" y="937212"/>
            <a:ext cx="6660413" cy="48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000"/>
              </a:lnSpc>
              <a:spcAft>
                <a:spcPts val="0"/>
              </a:spcAft>
            </a:pPr>
            <a:r>
              <a:rPr lang="en-US" altLang="zh-CN" sz="32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altLang="zh-CN" sz="3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altLang="zh-CN" sz="32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altLang="zh-CN" sz="3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 USER=201701,PSW=135790;</a:t>
            </a:r>
            <a:endParaRPr lang="zh-CN" altLang="zh-CN" sz="32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左大括号 15"/>
          <p:cNvSpPr/>
          <p:nvPr/>
        </p:nvSpPr>
        <p:spPr>
          <a:xfrm>
            <a:off x="5019305" y="1676334"/>
            <a:ext cx="648072" cy="165618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883401" y="1526959"/>
            <a:ext cx="263726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、修改方便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、可读性强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、常用大写字母表示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61" y="3079698"/>
            <a:ext cx="3030597" cy="15993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grpSp>
        <p:nvGrpSpPr>
          <p:cNvPr id="4" name="组合 3"/>
          <p:cNvGrpSpPr/>
          <p:nvPr/>
        </p:nvGrpSpPr>
        <p:grpSpPr>
          <a:xfrm>
            <a:off x="323528" y="1491755"/>
            <a:ext cx="4464233" cy="1251802"/>
            <a:chOff x="531210" y="1014521"/>
            <a:chExt cx="5120647" cy="1512887"/>
          </a:xfrm>
        </p:grpSpPr>
        <p:grpSp>
          <p:nvGrpSpPr>
            <p:cNvPr id="5" name="组合 33"/>
            <p:cNvGrpSpPr/>
            <p:nvPr/>
          </p:nvGrpSpPr>
          <p:grpSpPr bwMode="auto">
            <a:xfrm>
              <a:off x="531210" y="1014521"/>
              <a:ext cx="1800225" cy="1512887"/>
              <a:chOff x="0" y="0"/>
              <a:chExt cx="1800200" cy="1512252"/>
            </a:xfrm>
          </p:grpSpPr>
          <p:pic>
            <p:nvPicPr>
              <p:cNvPr id="7" name="Picture 85" descr="png-144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" name="矩形 35"/>
              <p:cNvSpPr/>
              <p:nvPr/>
            </p:nvSpPr>
            <p:spPr>
              <a:xfrm>
                <a:off x="573080" y="403056"/>
                <a:ext cx="682518" cy="70644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20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</a:rPr>
                  <a:t>字</a:t>
                </a:r>
              </a:p>
            </p:txBody>
          </p:sp>
        </p:grpSp>
        <p:grpSp>
          <p:nvGrpSpPr>
            <p:cNvPr id="9" name="组合 33"/>
            <p:cNvGrpSpPr/>
            <p:nvPr/>
          </p:nvGrpSpPr>
          <p:grpSpPr bwMode="auto">
            <a:xfrm>
              <a:off x="2191420" y="1014521"/>
              <a:ext cx="1800225" cy="1512887"/>
              <a:chOff x="585200" y="-1517760"/>
              <a:chExt cx="1800200" cy="1512252"/>
            </a:xfrm>
          </p:grpSpPr>
          <p:pic>
            <p:nvPicPr>
              <p:cNvPr id="10" name="Picture 85" descr="png-144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5200" y="-151776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矩形 35"/>
              <p:cNvSpPr/>
              <p:nvPr/>
            </p:nvSpPr>
            <p:spPr>
              <a:xfrm>
                <a:off x="1169806" y="-1080971"/>
                <a:ext cx="682518" cy="70644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20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</a:rPr>
                  <a:t>符</a:t>
                </a:r>
              </a:p>
            </p:txBody>
          </p:sp>
        </p:grpSp>
        <p:grpSp>
          <p:nvGrpSpPr>
            <p:cNvPr id="12" name="组合 33"/>
            <p:cNvGrpSpPr/>
            <p:nvPr/>
          </p:nvGrpSpPr>
          <p:grpSpPr bwMode="auto">
            <a:xfrm>
              <a:off x="3851632" y="1014521"/>
              <a:ext cx="1800225" cy="1512887"/>
              <a:chOff x="0" y="0"/>
              <a:chExt cx="1800200" cy="1512252"/>
            </a:xfrm>
          </p:grpSpPr>
          <p:pic>
            <p:nvPicPr>
              <p:cNvPr id="13" name="Picture 85" descr="png-144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矩形 35"/>
              <p:cNvSpPr/>
              <p:nvPr/>
            </p:nvSpPr>
            <p:spPr>
              <a:xfrm>
                <a:off x="573080" y="403056"/>
                <a:ext cx="682518" cy="70644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20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</a:rPr>
                  <a:t>串</a:t>
                </a:r>
              </a:p>
            </p:txBody>
          </p:sp>
        </p:grpSp>
      </p:grpSp>
      <p:sp>
        <p:nvSpPr>
          <p:cNvPr id="18" name="矩形 17"/>
          <p:cNvSpPr/>
          <p:nvPr/>
        </p:nvSpPr>
        <p:spPr>
          <a:xfrm>
            <a:off x="447328" y="3318126"/>
            <a:ext cx="6170664" cy="12464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000"/>
              </a:lnSpc>
              <a:spcAft>
                <a:spcPts val="0"/>
              </a:spcAft>
            </a:pPr>
            <a:r>
              <a:rPr lang="en-US" altLang="zh-CN" sz="28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 string  PSW="apple132@#APPLE";</a:t>
            </a:r>
          </a:p>
          <a:p>
            <a:pPr algn="just">
              <a:lnSpc>
                <a:spcPts val="3000"/>
              </a:lnSpc>
              <a:spcAft>
                <a:spcPts val="0"/>
              </a:spcAft>
            </a:pPr>
            <a:endParaRPr lang="en-US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3000"/>
              </a:lnSpc>
              <a:spcAft>
                <a:spcPts val="0"/>
              </a:spcAft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string  </a:t>
            </a:r>
            <a:r>
              <a:rPr lang="en-US" altLang="zh-CN" sz="28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psw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9" name="左大括号 18"/>
          <p:cNvSpPr/>
          <p:nvPr/>
        </p:nvSpPr>
        <p:spPr>
          <a:xfrm>
            <a:off x="4716016" y="1424981"/>
            <a:ext cx="648072" cy="165618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508104" y="987574"/>
            <a:ext cx="3111749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双引号括起来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个、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个或多个字符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和字符型的区别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空字符串和空格字符串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#include&lt;string&gt;</a:t>
            </a:r>
            <a:endParaRPr lang="zh-CN" altLang="en-US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321" y="3316860"/>
            <a:ext cx="1379897" cy="13628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21" name="矩形: 圆角 4"/>
          <p:cNvSpPr>
            <a:spLocks noChangeArrowheads="1"/>
          </p:cNvSpPr>
          <p:nvPr/>
        </p:nvSpPr>
        <p:spPr bwMode="auto">
          <a:xfrm>
            <a:off x="2555776" y="1203599"/>
            <a:ext cx="5040560" cy="936103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133350" indent="756285" algn="just">
              <a:spcAft>
                <a:spcPts val="0"/>
              </a:spcAft>
            </a:pP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语句中又包含一个或多个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语句，称为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lang="zh-CN" altLang="en-US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语句的嵌套。</a:t>
            </a:r>
            <a:endParaRPr 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矩形: 圆角 4"/>
          <p:cNvSpPr>
            <a:spLocks noChangeArrowheads="1"/>
          </p:cNvSpPr>
          <p:nvPr/>
        </p:nvSpPr>
        <p:spPr bwMode="auto">
          <a:xfrm>
            <a:off x="2699792" y="2643758"/>
            <a:ext cx="5040560" cy="1584176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133350" indent="756285" algn="just">
              <a:spcAft>
                <a:spcPts val="0"/>
              </a:spcAft>
            </a:pPr>
            <a:r>
              <a:rPr lang="zh-CN" altLang="en-US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lang="en-US" altLang="zh-CN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lang="zh-CN" altLang="en-US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else</a:t>
            </a:r>
            <a:r>
              <a:rPr lang="zh-CN" altLang="en-US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的配对关系：就近匹配原则。</a:t>
            </a:r>
            <a:endParaRPr lang="en-US" altLang="zh-CN" sz="2400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33350" indent="756285" algn="just">
              <a:spcAft>
                <a:spcPts val="0"/>
              </a:spcAft>
            </a:pP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else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总是与离它最近的且尚未匹配的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语句相配对。</a:t>
            </a:r>
            <a:endParaRPr 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51" y="1669978"/>
            <a:ext cx="1762371" cy="24768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987574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707654"/>
            <a:ext cx="5904656" cy="1800200"/>
          </a:xfrm>
        </p:spPr>
        <p:txBody>
          <a:bodyPr>
            <a:normAutofit/>
          </a:bodyPr>
          <a:lstStyle/>
          <a:p>
            <a:pPr lvl="1"/>
            <a:r>
              <a:rPr lang="en-US" altLang="zh-CN" sz="2800" dirty="0" err="1"/>
              <a:t>const</a:t>
            </a:r>
            <a:r>
              <a:rPr lang="en-US" altLang="zh-CN" sz="2800" dirty="0"/>
              <a:t>  </a:t>
            </a:r>
            <a:r>
              <a:rPr lang="zh-CN" altLang="en-US" sz="2800" dirty="0"/>
              <a:t>常量；常变量</a:t>
            </a:r>
            <a:endParaRPr lang="en-US" altLang="zh-CN" sz="2800" dirty="0"/>
          </a:p>
          <a:p>
            <a:pPr lvl="1"/>
            <a:r>
              <a:rPr lang="en-US" altLang="zh-CN" sz="2800" dirty="0"/>
              <a:t>string  </a:t>
            </a:r>
            <a:r>
              <a:rPr lang="zh-CN" altLang="en-US" sz="2800" dirty="0"/>
              <a:t>字符串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2944757"/>
            <a:ext cx="1367769" cy="14522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584" y="549075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5719" y="1347867"/>
            <a:ext cx="2576122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下面信息使用时，一般情况下定义为字符串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string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类型的是（  ）。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姓名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体重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年龄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身高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69283" y="515453"/>
            <a:ext cx="4936302" cy="42484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#include &lt;</a:t>
            </a:r>
            <a:r>
              <a:rPr lang="en-US" altLang="zh-CN" sz="1400" b="0" dirty="0" err="1">
                <a:latin typeface="Cambria" panose="02040503050406030204" pitchFamily="18" charset="0"/>
              </a:rPr>
              <a:t>iostream</a:t>
            </a:r>
            <a:r>
              <a:rPr lang="en-US" altLang="zh-CN" sz="1400" b="0" dirty="0">
                <a:latin typeface="Cambria" panose="02040503050406030204" pitchFamily="18" charset="0"/>
              </a:rPr>
              <a:t>&gt;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using namespace </a:t>
            </a:r>
            <a:r>
              <a:rPr lang="en-US" altLang="zh-CN" sz="1400" b="0" dirty="0" err="1">
                <a:latin typeface="Cambria" panose="02040503050406030204" pitchFamily="18" charset="0"/>
              </a:rPr>
              <a:t>std</a:t>
            </a:r>
            <a:r>
              <a:rPr lang="en-US" altLang="zh-CN" sz="1400" b="0" dirty="0">
                <a:latin typeface="Cambria" panose="02040503050406030204" pitchFamily="18" charset="0"/>
              </a:rPr>
              <a:t>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 err="1">
                <a:latin typeface="Cambria" panose="02040503050406030204" pitchFamily="18" charset="0"/>
              </a:rPr>
              <a:t>int</a:t>
            </a:r>
            <a:r>
              <a:rPr lang="en-US" altLang="zh-CN" sz="1400" b="0" dirty="0">
                <a:latin typeface="Cambria" panose="02040503050406030204" pitchFamily="18" charset="0"/>
              </a:rPr>
              <a:t> main()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{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int</a:t>
            </a:r>
            <a:r>
              <a:rPr lang="en-US" altLang="zh-CN" sz="1400" b="0" dirty="0">
                <a:latin typeface="Cambria" panose="02040503050406030204" pitchFamily="18" charset="0"/>
              </a:rPr>
              <a:t> </a:t>
            </a:r>
            <a:r>
              <a:rPr lang="en-US" altLang="zh-CN" sz="1400" b="0" dirty="0" err="1">
                <a:latin typeface="Cambria" panose="02040503050406030204" pitchFamily="18" charset="0"/>
              </a:rPr>
              <a:t>x,y</a:t>
            </a:r>
            <a:r>
              <a:rPr lang="en-US" altLang="zh-CN" sz="1400" b="0" dirty="0">
                <a:latin typeface="Cambria" panose="02040503050406030204" pitchFamily="18" charset="0"/>
              </a:rPr>
              <a:t>=0;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cout</a:t>
            </a:r>
            <a:r>
              <a:rPr lang="en-US" altLang="zh-CN" sz="1400" b="0" dirty="0">
                <a:latin typeface="Cambria" panose="02040503050406030204" pitchFamily="18" charset="0"/>
              </a:rPr>
              <a:t>&lt;&lt;"x=";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cin</a:t>
            </a:r>
            <a:r>
              <a:rPr lang="en-US" altLang="zh-CN" sz="1400" b="0" dirty="0">
                <a:latin typeface="Cambria" panose="02040503050406030204" pitchFamily="18" charset="0"/>
              </a:rPr>
              <a:t>&gt;&gt;x;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if(x&lt;10)  y=1;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else  if(x&lt;100)  y=2;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         else  y=3;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cout</a:t>
            </a:r>
            <a:r>
              <a:rPr lang="en-US" altLang="zh-CN" sz="1400" b="0" dirty="0">
                <a:latin typeface="Cambria" panose="02040503050406030204" pitchFamily="18" charset="0"/>
              </a:rPr>
              <a:t>&lt;&lt;y;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return 0;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}</a:t>
            </a:r>
          </a:p>
          <a:p>
            <a:pPr marL="0" indent="0">
              <a:buNone/>
            </a:pPr>
            <a:r>
              <a:rPr lang="zh-CN" altLang="en-US" sz="2000" dirty="0"/>
              <a:t>         输入：</a:t>
            </a:r>
            <a:r>
              <a:rPr lang="en-US" altLang="zh-CN" sz="2000" dirty="0"/>
              <a:t>10</a:t>
            </a:r>
            <a:r>
              <a:rPr lang="zh-CN" altLang="en-US" sz="2000" dirty="0"/>
              <a:t>      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输出</a:t>
            </a:r>
            <a:r>
              <a:rPr lang="en-US" altLang="zh-CN" sz="2000" dirty="0"/>
              <a:t>:____________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x         y</a:t>
            </a:r>
          </a:p>
          <a:p>
            <a:r>
              <a:rPr lang="en-US" altLang="zh-CN" dirty="0"/>
              <a:t>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777" y="3579862"/>
            <a:ext cx="1235917" cy="120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08520" y="627534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971600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输入一个数，若大于零，则输出“正数”；若等于</a:t>
            </a:r>
            <a:r>
              <a:rPr lang="en-US" altLang="zh-CN" sz="1800" b="0" dirty="0">
                <a:solidFill>
                  <a:prstClr val="black"/>
                </a:solidFill>
              </a:rPr>
              <a:t>0</a:t>
            </a:r>
            <a:r>
              <a:rPr lang="zh-CN" altLang="en-US" sz="1800" b="0" dirty="0">
                <a:solidFill>
                  <a:prstClr val="black"/>
                </a:solidFill>
              </a:rPr>
              <a:t>，则输出“零”，若小于零，则输出“负数”。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37370" y="915566"/>
            <a:ext cx="4511094" cy="30469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float  x;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&lt;&lt;"x=";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6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&gt;&gt;x;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if(______)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零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else  if(_________)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正数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else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负数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5247A36C-AD13-4A96-AD39-84C2B47FDE03}"/>
              </a:ext>
            </a:extLst>
          </p:cNvPr>
          <p:cNvSpPr txBox="1"/>
          <p:nvPr/>
        </p:nvSpPr>
        <p:spPr>
          <a:xfrm>
            <a:off x="2452538" y="4214677"/>
            <a:ext cx="3903633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</Words>
  <Application>Microsoft Office PowerPoint</Application>
  <PresentationFormat>全屏显示(16:9)</PresentationFormat>
  <Paragraphs>103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仿宋</vt:lpstr>
      <vt:lpstr>黑体</vt:lpstr>
      <vt:lpstr>楷体</vt:lpstr>
      <vt:lpstr>宋体</vt:lpstr>
      <vt:lpstr>微软雅黑</vt:lpstr>
      <vt:lpstr>Arial</vt:lpstr>
      <vt:lpstr>Calibri</vt:lpstr>
      <vt:lpstr>Cambria</vt:lpstr>
      <vt:lpstr>Consolas</vt:lpstr>
      <vt:lpstr>Times New Roman</vt:lpstr>
      <vt:lpstr>Wingdings</vt:lpstr>
      <vt:lpstr>Office 主题</vt:lpstr>
      <vt:lpstr>PowerPoint 演示文稿</vt:lpstr>
      <vt:lpstr>蘑菇庄园——if语句嵌套</vt:lpstr>
      <vt:lpstr> </vt:lpstr>
      <vt:lpstr> </vt:lpstr>
      <vt:lpstr> </vt:lpstr>
      <vt:lpstr> </vt:lpstr>
      <vt:lpstr> 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李 亚涛</cp:lastModifiedBy>
  <cp:revision>64</cp:revision>
  <dcterms:created xsi:type="dcterms:W3CDTF">2018-07-03T13:24:00Z</dcterms:created>
  <dcterms:modified xsi:type="dcterms:W3CDTF">2021-06-09T02:39:48Z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