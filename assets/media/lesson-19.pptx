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  <p:sldId id="269" r:id="rId4"/>
    <p:sldId id="281" r:id="rId5"/>
    <p:sldId id="282" r:id="rId6"/>
    <p:sldId id="283" r:id="rId7"/>
    <p:sldId id="267" r:id="rId8"/>
    <p:sldId id="280" r:id="rId9"/>
    <p:sldId id="28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635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闰年和平年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逻辑运算符的优先级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8905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闰年与平年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逻辑运算符的优先级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6" name="矩形: 圆角 4"/>
          <p:cNvSpPr>
            <a:spLocks noChangeArrowheads="1"/>
          </p:cNvSpPr>
          <p:nvPr/>
        </p:nvSpPr>
        <p:spPr bwMode="auto">
          <a:xfrm>
            <a:off x="1187624" y="2647866"/>
            <a:ext cx="3943778" cy="144016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试编一个程序，输入一年份判断是闰年还是平年。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6224" y="1432396"/>
            <a:ext cx="6260047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一年的时间：地球绕太阳一周，</a:t>
            </a:r>
            <a:r>
              <a:rPr lang="en-US" altLang="zh-CN" dirty="0">
                <a:latin typeface="+mn-ea"/>
              </a:rPr>
              <a:t>365</a:t>
            </a:r>
            <a:r>
              <a:rPr lang="zh-CN" altLang="en-US" dirty="0">
                <a:latin typeface="+mn-ea"/>
              </a:rPr>
              <a:t>天</a:t>
            </a:r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小时</a:t>
            </a:r>
            <a:r>
              <a:rPr lang="en-US" altLang="zh-CN" dirty="0">
                <a:latin typeface="+mn-ea"/>
              </a:rPr>
              <a:t>48</a:t>
            </a:r>
            <a:r>
              <a:rPr lang="zh-CN" altLang="en-US" dirty="0">
                <a:latin typeface="+mn-ea"/>
              </a:rPr>
              <a:t>分</a:t>
            </a:r>
            <a:r>
              <a:rPr lang="en-US" altLang="zh-CN" dirty="0">
                <a:latin typeface="+mn-ea"/>
              </a:rPr>
              <a:t>46</a:t>
            </a:r>
            <a:r>
              <a:rPr lang="zh-CN" altLang="en-US" dirty="0">
                <a:latin typeface="+mn-ea"/>
              </a:rPr>
              <a:t>秒。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每年会多出</a:t>
            </a:r>
            <a:r>
              <a:rPr lang="en-US" altLang="zh-CN" dirty="0">
                <a:latin typeface="+mn-ea"/>
              </a:rPr>
              <a:t>0.2422</a:t>
            </a:r>
            <a:r>
              <a:rPr lang="zh-CN" altLang="en-US" dirty="0">
                <a:latin typeface="+mn-ea"/>
              </a:rPr>
              <a:t>天，四年多出</a:t>
            </a:r>
            <a:r>
              <a:rPr lang="en-US" altLang="zh-CN" dirty="0">
                <a:latin typeface="+mn-ea"/>
              </a:rPr>
              <a:t>23</a:t>
            </a:r>
            <a:r>
              <a:rPr lang="zh-CN" altLang="en-US" dirty="0">
                <a:latin typeface="+mn-ea"/>
              </a:rPr>
              <a:t>小时</a:t>
            </a:r>
            <a:r>
              <a:rPr lang="en-US" altLang="zh-CN" dirty="0">
                <a:latin typeface="+mn-ea"/>
              </a:rPr>
              <a:t>15</a:t>
            </a:r>
            <a:r>
              <a:rPr lang="zh-CN" altLang="en-US" dirty="0">
                <a:latin typeface="+mn-ea"/>
              </a:rPr>
              <a:t>分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秒，接近一天，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加到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月份，这一年的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月份有</a:t>
            </a:r>
            <a:r>
              <a:rPr lang="en-US" altLang="zh-CN" dirty="0">
                <a:latin typeface="+mn-ea"/>
              </a:rPr>
              <a:t>29</a:t>
            </a:r>
            <a:r>
              <a:rPr lang="zh-CN" altLang="en-US" dirty="0">
                <a:latin typeface="+mn-ea"/>
              </a:rPr>
              <a:t>天，称为“闰年”。</a:t>
            </a:r>
            <a:endParaRPr lang="zh-CN" altLang="en-US" dirty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717" y="4174264"/>
            <a:ext cx="480131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b="1" dirty="0"/>
              <a:t>四年一闰，百年不闰，四百年再闰</a:t>
            </a:r>
            <a:endParaRPr lang="zh-CN" altLang="en-US" sz="2400" b="1"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418" y="2397801"/>
            <a:ext cx="2123552" cy="20779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2434" y="467268"/>
            <a:ext cx="4184526" cy="42216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2607" y="1347614"/>
            <a:ext cx="3877985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判断闰年的条件：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年份能被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整除，但不能被</a:t>
            </a:r>
            <a:r>
              <a:rPr lang="en-US" altLang="zh-CN" dirty="0">
                <a:latin typeface="+mn-ea"/>
              </a:rPr>
              <a:t>100</a:t>
            </a:r>
            <a:r>
              <a:rPr lang="zh-CN" altLang="en-US" dirty="0">
                <a:latin typeface="+mn-ea"/>
              </a:rPr>
              <a:t>整除，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或者能被</a:t>
            </a:r>
            <a:r>
              <a:rPr lang="en-US" altLang="zh-CN" dirty="0">
                <a:latin typeface="+mn-ea"/>
              </a:rPr>
              <a:t>400</a:t>
            </a:r>
            <a:r>
              <a:rPr lang="zh-CN" altLang="en-US" dirty="0">
                <a:latin typeface="+mn-ea"/>
              </a:rPr>
              <a:t>整除。</a:t>
            </a:r>
            <a:endParaRPr lang="zh-CN" altLang="en-US" dirty="0">
              <a:latin typeface="+mn-ea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616976"/>
            <a:ext cx="1752711" cy="1886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9502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04807" y="753666"/>
            <a:ext cx="424847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bool</a:t>
            </a:r>
            <a:r>
              <a:rPr lang="en-US" altLang="zh-CN" sz="1400" dirty="0"/>
              <a:t> flag;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year;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请输入一个年份：</a:t>
            </a:r>
            <a:r>
              <a:rPr lang="en-US" altLang="zh-CN" sz="1400" dirty="0"/>
              <a:t>";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&gt;&gt;year;</a:t>
            </a:r>
            <a:endParaRPr lang="en-US" altLang="zh-CN" sz="1400" dirty="0"/>
          </a:p>
          <a:p>
            <a:r>
              <a:rPr lang="en-US" altLang="zh-CN" sz="1400" dirty="0"/>
              <a:t>  if((year%4==0&amp;&amp;year%100!=0)||year%400==0)</a:t>
            </a:r>
            <a:endParaRPr lang="en-US" altLang="zh-CN" sz="1400" dirty="0"/>
          </a:p>
          <a:p>
            <a:r>
              <a:rPr lang="en-US" altLang="zh-CN" sz="1400" dirty="0"/>
              <a:t>    flag=true;</a:t>
            </a:r>
            <a:endParaRPr lang="en-US" altLang="zh-CN" sz="1400" dirty="0"/>
          </a:p>
          <a:p>
            <a:r>
              <a:rPr lang="en-US" altLang="zh-CN" sz="1400" dirty="0"/>
              <a:t>  else</a:t>
            </a:r>
            <a:endParaRPr lang="en-US" altLang="zh-CN" sz="1400" dirty="0"/>
          </a:p>
          <a:p>
            <a:r>
              <a:rPr lang="en-US" altLang="zh-CN" sz="1400" dirty="0"/>
              <a:t>    flag=false;</a:t>
            </a:r>
            <a:endParaRPr lang="en-US" altLang="zh-CN" sz="1400" dirty="0"/>
          </a:p>
          <a:p>
            <a:r>
              <a:rPr lang="en-US" altLang="zh-CN" sz="1400" dirty="0"/>
              <a:t>  if(flag)	          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&lt;&lt;year&lt;&lt;"</a:t>
            </a:r>
            <a:r>
              <a:rPr lang="zh-CN" altLang="en-US" sz="1400" dirty="0"/>
              <a:t>是闰年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else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&lt;&lt;year&lt;&lt;"</a:t>
            </a:r>
            <a:r>
              <a:rPr lang="zh-CN" altLang="en-US" sz="1400" dirty="0"/>
              <a:t>是平年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return 0;</a:t>
            </a:r>
            <a:endParaRPr lang="en-US" altLang="zh-CN" sz="1400" dirty="0"/>
          </a:p>
          <a:p>
            <a:r>
              <a:rPr lang="en-US" altLang="zh-CN" sz="1400" dirty="0"/>
              <a:t>} </a:t>
            </a:r>
            <a:endParaRPr lang="en-US" altLang="zh-CN" sz="1400" dirty="0"/>
          </a:p>
        </p:txBody>
      </p:sp>
      <p:sp>
        <p:nvSpPr>
          <p:cNvPr id="5" name="矩形 4"/>
          <p:cNvSpPr/>
          <p:nvPr/>
        </p:nvSpPr>
        <p:spPr>
          <a:xfrm>
            <a:off x="4950582" y="1275606"/>
            <a:ext cx="79220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dirty="0"/>
              <a:t>if(flag)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637997" y="2603595"/>
            <a:ext cx="141737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dirty="0"/>
              <a:t>if(flag==true)</a:t>
            </a:r>
            <a:endParaRPr lang="zh-CN" altLang="en-US" dirty="0"/>
          </a:p>
        </p:txBody>
      </p:sp>
      <p:sp>
        <p:nvSpPr>
          <p:cNvPr id="6" name="上箭头 5"/>
          <p:cNvSpPr/>
          <p:nvPr/>
        </p:nvSpPr>
        <p:spPr>
          <a:xfrm>
            <a:off x="5268980" y="1788954"/>
            <a:ext cx="155409" cy="648072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617" y="2366124"/>
            <a:ext cx="2251184" cy="2251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9502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755576" y="4227933"/>
            <a:ext cx="62483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year%400==0 || year%4==0 &amp;&amp; year%100!=0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0999" y="3156525"/>
            <a:ext cx="4464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>
                <a:latin typeface="Consolas" panose="020B0609020204030204" pitchFamily="49" charset="0"/>
                <a:cs typeface="Calibri" panose="020F0502020204030204" pitchFamily="34" charset="0"/>
              </a:rPr>
              <a:t>! </a:t>
            </a:r>
            <a:r>
              <a:rPr lang="zh-CN" altLang="zh-CN" sz="5400" dirty="0">
                <a:latin typeface="Consolas" panose="020B0609020204030204" pitchFamily="49" charset="0"/>
                <a:cs typeface="Calibri" panose="020F0502020204030204" pitchFamily="34" charset="0"/>
              </a:rPr>
              <a:t>→</a:t>
            </a:r>
            <a:r>
              <a:rPr lang="en-US" altLang="zh-CN" sz="5400" dirty="0">
                <a:latin typeface="Consolas" panose="020B0609020204030204" pitchFamily="49" charset="0"/>
                <a:cs typeface="Calibri" panose="020F0502020204030204" pitchFamily="34" charset="0"/>
              </a:rPr>
              <a:t> &amp;&amp; </a:t>
            </a:r>
            <a:r>
              <a:rPr lang="zh-CN" altLang="zh-CN" sz="5400" dirty="0">
                <a:latin typeface="Consolas" panose="020B0609020204030204" pitchFamily="49" charset="0"/>
                <a:cs typeface="Calibri" panose="020F0502020204030204" pitchFamily="34" charset="0"/>
              </a:rPr>
              <a:t>→</a:t>
            </a:r>
            <a:r>
              <a:rPr lang="en-US" altLang="zh-CN" sz="5400" dirty="0">
                <a:latin typeface="Consolas" panose="020B0609020204030204" pitchFamily="49" charset="0"/>
                <a:cs typeface="Calibri" panose="020F0502020204030204" pitchFamily="34" charset="0"/>
              </a:rPr>
              <a:t>|| </a:t>
            </a:r>
            <a:endParaRPr lang="zh-CN" altLang="zh-CN" sz="54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1560" y="1142525"/>
            <a:ext cx="4790751" cy="1315495"/>
            <a:chOff x="612775" y="752475"/>
            <a:chExt cx="5509616" cy="1512888"/>
          </a:xfrm>
        </p:grpSpPr>
        <p:grpSp>
          <p:nvGrpSpPr>
            <p:cNvPr id="10" name="组合 33"/>
            <p:cNvGrpSpPr/>
            <p:nvPr/>
          </p:nvGrpSpPr>
          <p:grpSpPr bwMode="auto">
            <a:xfrm>
              <a:off x="612775" y="752475"/>
              <a:ext cx="1800225" cy="1512888"/>
              <a:chOff x="0" y="0"/>
              <a:chExt cx="1800200" cy="1512252"/>
            </a:xfrm>
          </p:grpSpPr>
          <p:pic>
            <p:nvPicPr>
              <p:cNvPr id="11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矩形 35"/>
              <p:cNvSpPr/>
              <p:nvPr/>
            </p:nvSpPr>
            <p:spPr>
              <a:xfrm>
                <a:off x="611180" y="441139"/>
                <a:ext cx="543731" cy="52300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优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3" name="组合 33"/>
            <p:cNvGrpSpPr/>
            <p:nvPr/>
          </p:nvGrpSpPr>
          <p:grpSpPr bwMode="auto">
            <a:xfrm>
              <a:off x="2467471" y="752475"/>
              <a:ext cx="1800225" cy="1512888"/>
              <a:chOff x="0" y="0"/>
              <a:chExt cx="1800200" cy="1512252"/>
            </a:xfrm>
          </p:grpSpPr>
          <p:pic>
            <p:nvPicPr>
              <p:cNvPr id="14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矩形 35"/>
              <p:cNvSpPr/>
              <p:nvPr/>
            </p:nvSpPr>
            <p:spPr>
              <a:xfrm>
                <a:off x="611180" y="441139"/>
                <a:ext cx="543731" cy="52300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>
                    <a:latin typeface="楷体" panose="02010609060101010101" pitchFamily="49" charset="-122"/>
                    <a:ea typeface="楷体" panose="02010609060101010101" pitchFamily="49" charset="-122"/>
                  </a:rPr>
                  <a:t>先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6" name="组合 33"/>
            <p:cNvGrpSpPr/>
            <p:nvPr/>
          </p:nvGrpSpPr>
          <p:grpSpPr bwMode="auto">
            <a:xfrm>
              <a:off x="4322166" y="752475"/>
              <a:ext cx="1800225" cy="1512888"/>
              <a:chOff x="0" y="0"/>
              <a:chExt cx="1800200" cy="1512252"/>
            </a:xfrm>
          </p:grpSpPr>
          <p:pic>
            <p:nvPicPr>
              <p:cNvPr id="17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矩形 35"/>
              <p:cNvSpPr/>
              <p:nvPr/>
            </p:nvSpPr>
            <p:spPr>
              <a:xfrm>
                <a:off x="611180" y="441139"/>
                <a:ext cx="543731" cy="52300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>
                    <a:latin typeface="楷体" panose="02010609060101010101" pitchFamily="49" charset="-122"/>
                    <a:ea typeface="楷体" panose="02010609060101010101" pitchFamily="49" charset="-122"/>
                  </a:rPr>
                  <a:t>级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19" name="文本框 2"/>
          <p:cNvSpPr txBox="1"/>
          <p:nvPr/>
        </p:nvSpPr>
        <p:spPr>
          <a:xfrm>
            <a:off x="1979712" y="2461184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5"/>
          <p:cNvSpPr txBox="1"/>
          <p:nvPr/>
        </p:nvSpPr>
        <p:spPr>
          <a:xfrm>
            <a:off x="4669998" y="257174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低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84168" y="1296829"/>
            <a:ext cx="2249334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j-ea"/>
                <a:ea typeface="+mj-ea"/>
              </a:rPr>
              <a:t>提示：</a:t>
            </a:r>
            <a:endParaRPr lang="en-US" altLang="zh-CN" sz="20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j-ea"/>
                <a:ea typeface="+mj-ea"/>
              </a:rPr>
              <a:t>如果看不懂，</a:t>
            </a:r>
            <a:endParaRPr lang="en-US" altLang="zh-CN" sz="20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j-ea"/>
                <a:ea typeface="+mj-ea"/>
              </a:rPr>
              <a:t>就加上适当的括号</a:t>
            </a:r>
            <a:endParaRPr lang="zh-CN" altLang="en-US" sz="20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9" grpId="0"/>
      <p:bldP spid="20" grpId="0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1512" y="65883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中，表达式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ea typeface="仿宋" panose="02010609060101010101" pitchFamily="49" charset="-122"/>
              </a:rPr>
              <a:t>(11&gt;12) &amp;&amp; (12&lt;15) || (13+2==15)</a:t>
            </a:r>
            <a:endParaRPr lang="en-US" altLang="zh-CN" sz="2000" dirty="0"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的值是（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true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false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6349" y="679763"/>
            <a:ext cx="4936302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&gt;&gt;x&gt;&gt;y;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if(x&gt;y &amp;&amp; y!=0) 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&lt;&lt;x/y&lt;&lt;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else  if(x!=0) 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&lt;&lt;y/x&lt;&lt;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x         y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235638" y="4043921"/>
            <a:ext cx="277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        输入：</a:t>
            </a:r>
            <a:r>
              <a:rPr lang="en-US" altLang="zh-CN" dirty="0"/>
              <a:t>96  10</a:t>
            </a:r>
            <a:r>
              <a:rPr lang="zh-CN" altLang="en-US" dirty="0"/>
              <a:t>       </a:t>
            </a:r>
            <a:endParaRPr lang="en-US" altLang="zh-CN" dirty="0"/>
          </a:p>
          <a:p>
            <a:r>
              <a:rPr lang="zh-CN" altLang="en-US" dirty="0"/>
              <a:t>         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5873" y="3544755"/>
            <a:ext cx="1341546" cy="11418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771550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27584" y="185167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输入一个年份，判断是闰年还是平年。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36745" y="465455"/>
            <a:ext cx="3657600" cy="41846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leap;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输入年份：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&gt;&gt;year;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if(year%4==0)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if(year%100==0)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if(________)   leap=true;else leap=false;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else  leap=true;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else  ___________;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if( ______)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闰年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else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平年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WPS 演示</Application>
  <PresentationFormat>全屏显示(16:9)</PresentationFormat>
  <Paragraphs>124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Consolas</vt:lpstr>
      <vt:lpstr>Arial Unicode MS</vt:lpstr>
      <vt:lpstr>Office 主题</vt:lpstr>
      <vt:lpstr>PowerPoint 演示文稿</vt:lpstr>
      <vt:lpstr>闰年与平年——逻辑运算符的优先级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83</cp:revision>
  <dcterms:created xsi:type="dcterms:W3CDTF">2018-07-03T13:24:00Z</dcterms:created>
  <dcterms:modified xsi:type="dcterms:W3CDTF">2021-04-13T02:40:45Z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