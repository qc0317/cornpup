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87" r:id="rId3"/>
    <p:sldId id="258" r:id="rId4"/>
    <p:sldId id="269" r:id="rId5"/>
    <p:sldId id="284" r:id="rId6"/>
    <p:sldId id="285" r:id="rId7"/>
    <p:sldId id="286" r:id="rId8"/>
    <p:sldId id="275" r:id="rId9"/>
    <p:sldId id="267" r:id="rId10"/>
    <p:sldId id="280" r:id="rId11"/>
    <p:sldId id="289" r:id="rId12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730" y="7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>
            <a:normAutofit/>
          </a:bodyPr>
          <a:lstStyle>
            <a:lvl1pPr>
              <a:defRPr sz="36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 b="1">
                <a:latin typeface="仿宋" panose="02010609060101010101" pitchFamily="49" charset="-122"/>
                <a:ea typeface="仿宋" panose="02010609060101010101" pitchFamily="49" charset="-122"/>
              </a:defRPr>
            </a:lvl1pPr>
            <a:lvl2pPr>
              <a:defRPr sz="2000" b="1">
                <a:latin typeface="仿宋" panose="02010609060101010101" pitchFamily="49" charset="-122"/>
                <a:ea typeface="仿宋" panose="02010609060101010101" pitchFamily="49" charset="-122"/>
              </a:defRPr>
            </a:lvl2pPr>
            <a:lvl3pPr>
              <a:defRPr sz="1800" b="1">
                <a:latin typeface="仿宋" panose="02010609060101010101" pitchFamily="49" charset="-122"/>
                <a:ea typeface="仿宋" panose="02010609060101010101" pitchFamily="49" charset="-122"/>
              </a:defRPr>
            </a:lvl3pPr>
            <a:lvl4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4pPr>
            <a:lvl5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 descr="图片背景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456" y="771550"/>
            <a:ext cx="5688632" cy="2016973"/>
          </a:xfrm>
          <a:prstGeom prst="rect">
            <a:avLst/>
          </a:prstGeom>
        </p:spPr>
      </p:pic>
      <p:sp>
        <p:nvSpPr>
          <p:cNvPr id="7" name="object 6"/>
          <p:cNvSpPr/>
          <p:nvPr/>
        </p:nvSpPr>
        <p:spPr>
          <a:xfrm>
            <a:off x="1043608" y="2139702"/>
            <a:ext cx="7992888" cy="22322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文本框 1"/>
          <p:cNvSpPr txBox="1"/>
          <p:nvPr/>
        </p:nvSpPr>
        <p:spPr>
          <a:xfrm>
            <a:off x="1743890" y="2353296"/>
            <a:ext cx="63367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41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课时</a:t>
            </a:r>
            <a:endParaRPr lang="zh-CN" altLang="en-US" sz="4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36104" y="3255826"/>
            <a:ext cx="81003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儿歌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打老虎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》(while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4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70460"/>
            <a:ext cx="7787208" cy="1402256"/>
          </a:xfrm>
        </p:spPr>
        <p:txBody>
          <a:bodyPr>
            <a:normAutofit/>
          </a:bodyPr>
          <a:lstStyle/>
          <a:p>
            <a:r>
              <a:rPr lang="zh-CN" altLang="en-US" sz="2000" dirty="0"/>
              <a:t>明明学习背诵古文的方法：当他不会背的时候，就读啊，读啊，读啊，读啊。。。</a:t>
            </a:r>
            <a:endParaRPr lang="en-US" altLang="zh-CN" sz="2000" dirty="0"/>
          </a:p>
          <a:p>
            <a:r>
              <a:rPr lang="zh-CN" altLang="en-US" sz="2000" dirty="0"/>
              <a:t>当“不会背”这个条件成立时，明明就会一直读下去，直到这个条件不成立。</a:t>
            </a:r>
            <a:endParaRPr lang="zh-CN" altLang="en-US" sz="2000" dirty="0"/>
          </a:p>
        </p:txBody>
      </p:sp>
      <p:sp>
        <p:nvSpPr>
          <p:cNvPr id="16" name="TextBox 15"/>
          <p:cNvSpPr txBox="1"/>
          <p:nvPr/>
        </p:nvSpPr>
        <p:spPr>
          <a:xfrm>
            <a:off x="2987824" y="2787774"/>
            <a:ext cx="4608512" cy="132343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C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我们已经学了</a:t>
            </a:r>
            <a:r>
              <a:rPr lang="en-US" altLang="zh-CN" sz="2000" b="1" dirty="0">
                <a:solidFill>
                  <a:srgbClr val="C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for</a:t>
            </a:r>
            <a:r>
              <a:rPr lang="zh-CN" altLang="en-US" sz="2000" b="1" dirty="0">
                <a:solidFill>
                  <a:srgbClr val="C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循环语句。</a:t>
            </a:r>
            <a:endParaRPr lang="en-US" altLang="zh-CN" sz="2000" b="1" dirty="0">
              <a:solidFill>
                <a:srgbClr val="C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zh-CN" altLang="en-US" sz="2000" b="1" dirty="0">
                <a:solidFill>
                  <a:srgbClr val="C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在</a:t>
            </a:r>
            <a:r>
              <a:rPr lang="en-US" altLang="zh-CN" sz="2000" b="1" dirty="0">
                <a:solidFill>
                  <a:srgbClr val="C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C++</a:t>
            </a:r>
            <a:r>
              <a:rPr lang="zh-CN" altLang="en-US" sz="2000" b="1" dirty="0">
                <a:solidFill>
                  <a:srgbClr val="C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中还有两种循环语句：</a:t>
            </a:r>
            <a:endParaRPr lang="en-US" altLang="zh-CN" sz="2000" b="1" dirty="0">
              <a:solidFill>
                <a:srgbClr val="C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en-US" altLang="zh-CN" sz="2000" b="1" dirty="0">
                <a:solidFill>
                  <a:srgbClr val="C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while</a:t>
            </a:r>
            <a:r>
              <a:rPr lang="zh-CN" altLang="en-US" sz="2000" b="1" dirty="0">
                <a:solidFill>
                  <a:srgbClr val="C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循环语句</a:t>
            </a:r>
            <a:endParaRPr lang="en-US" altLang="zh-CN" sz="2000" b="1" dirty="0">
              <a:solidFill>
                <a:srgbClr val="C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en-US" altLang="zh-CN" sz="2000" b="1" dirty="0">
                <a:solidFill>
                  <a:srgbClr val="C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do--while</a:t>
            </a:r>
            <a:r>
              <a:rPr lang="zh-CN" altLang="en-US" sz="2000" b="1" dirty="0">
                <a:solidFill>
                  <a:srgbClr val="C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循环语句</a:t>
            </a:r>
            <a:endParaRPr lang="en-US" altLang="zh-CN" sz="2000" b="1" dirty="0">
              <a:solidFill>
                <a:srgbClr val="C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pic>
        <p:nvPicPr>
          <p:cNvPr id="4" name="图片 3" descr="图片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695" y="2787650"/>
            <a:ext cx="1438910" cy="14446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/>
          <p:nvPr/>
        </p:nvSpPr>
        <p:spPr>
          <a:xfrm>
            <a:off x="31814" y="374599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1520" y="699542"/>
            <a:ext cx="8229600" cy="641226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儿歌</a:t>
            </a:r>
            <a:r>
              <a:rPr lang="en-US" altLang="zh-CN" dirty="0">
                <a:solidFill>
                  <a:srgbClr val="00B0F0"/>
                </a:solidFill>
              </a:rPr>
              <a:t>《</a:t>
            </a:r>
            <a:r>
              <a:rPr lang="zh-CN" altLang="en-US" dirty="0">
                <a:solidFill>
                  <a:srgbClr val="00B0F0"/>
                </a:solidFill>
              </a:rPr>
              <a:t>打老虎</a:t>
            </a:r>
            <a:r>
              <a:rPr lang="en-US" altLang="zh-CN" dirty="0">
                <a:solidFill>
                  <a:srgbClr val="00B0F0"/>
                </a:solidFill>
              </a:rPr>
              <a:t>》</a:t>
            </a:r>
            <a:r>
              <a:rPr lang="en-US" altLang="zh-CN" sz="2400" dirty="0">
                <a:solidFill>
                  <a:srgbClr val="00B0F0"/>
                </a:solidFill>
              </a:rPr>
              <a:t>——while</a:t>
            </a:r>
            <a:r>
              <a:rPr lang="zh-CN" altLang="en-US" sz="2400" dirty="0">
                <a:solidFill>
                  <a:srgbClr val="00B0F0"/>
                </a:solidFill>
              </a:rPr>
              <a:t>语句</a:t>
            </a:r>
            <a:endParaRPr lang="zh-CN" altLang="en-US" sz="2400" dirty="0">
              <a:solidFill>
                <a:srgbClr val="00B0F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128024" y="1422471"/>
            <a:ext cx="1569660" cy="203132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zh-CN" altLang="en-US" dirty="0">
                <a:latin typeface="+mj-ea"/>
                <a:ea typeface="+mj-ea"/>
              </a:rPr>
              <a:t>打老虎</a:t>
            </a:r>
            <a:endParaRPr lang="en-US" altLang="zh-CN" dirty="0">
              <a:latin typeface="+mj-ea"/>
              <a:ea typeface="+mj-ea"/>
            </a:endParaRPr>
          </a:p>
          <a:p>
            <a:pPr algn="ctr"/>
            <a:r>
              <a:rPr lang="zh-CN" altLang="en-US" dirty="0">
                <a:latin typeface="+mj-ea"/>
                <a:ea typeface="+mj-ea"/>
              </a:rPr>
              <a:t>一二三四五，</a:t>
            </a:r>
            <a:endParaRPr lang="en-US" altLang="zh-CN" dirty="0">
              <a:latin typeface="+mj-ea"/>
              <a:ea typeface="+mj-ea"/>
            </a:endParaRPr>
          </a:p>
          <a:p>
            <a:pPr algn="ctr"/>
            <a:r>
              <a:rPr lang="zh-CN" altLang="en-US" dirty="0">
                <a:latin typeface="+mj-ea"/>
                <a:ea typeface="+mj-ea"/>
              </a:rPr>
              <a:t>上山打老虎；</a:t>
            </a:r>
            <a:endParaRPr lang="en-US" altLang="zh-CN" dirty="0">
              <a:latin typeface="+mj-ea"/>
              <a:ea typeface="+mj-ea"/>
            </a:endParaRPr>
          </a:p>
          <a:p>
            <a:pPr algn="ctr"/>
            <a:r>
              <a:rPr lang="zh-CN" altLang="en-US" dirty="0">
                <a:latin typeface="+mj-ea"/>
                <a:ea typeface="+mj-ea"/>
              </a:rPr>
              <a:t>老虎不在家，</a:t>
            </a:r>
            <a:endParaRPr lang="en-US" altLang="zh-CN" dirty="0">
              <a:latin typeface="+mj-ea"/>
              <a:ea typeface="+mj-ea"/>
            </a:endParaRPr>
          </a:p>
          <a:p>
            <a:pPr algn="ctr"/>
            <a:r>
              <a:rPr lang="zh-CN" altLang="en-US" dirty="0">
                <a:latin typeface="+mj-ea"/>
                <a:ea typeface="+mj-ea"/>
              </a:rPr>
              <a:t>打只小松鼠；</a:t>
            </a:r>
            <a:endParaRPr lang="en-US" altLang="zh-CN" dirty="0">
              <a:latin typeface="+mj-ea"/>
              <a:ea typeface="+mj-ea"/>
            </a:endParaRPr>
          </a:p>
          <a:p>
            <a:pPr algn="ctr"/>
            <a:r>
              <a:rPr lang="zh-CN" altLang="en-US" dirty="0">
                <a:latin typeface="+mj-ea"/>
                <a:ea typeface="+mj-ea"/>
              </a:rPr>
              <a:t>松鼠有几只？</a:t>
            </a:r>
            <a:endParaRPr lang="en-US" altLang="zh-CN" dirty="0">
              <a:latin typeface="+mj-ea"/>
              <a:ea typeface="+mj-ea"/>
            </a:endParaRPr>
          </a:p>
          <a:p>
            <a:pPr algn="ctr"/>
            <a:r>
              <a:rPr lang="zh-CN" altLang="en-US" dirty="0">
                <a:latin typeface="+mj-ea"/>
                <a:ea typeface="+mj-ea"/>
              </a:rPr>
              <a:t>一二三四五。</a:t>
            </a:r>
            <a:endParaRPr lang="zh-CN" altLang="en-US" dirty="0">
              <a:latin typeface="+mj-ea"/>
              <a:ea typeface="+mj-ea"/>
            </a:endParaRPr>
          </a:p>
        </p:txBody>
      </p:sp>
      <p:sp>
        <p:nvSpPr>
          <p:cNvPr id="8" name="AutoShape 701"/>
          <p:cNvSpPr>
            <a:spLocks noChangeArrowheads="1"/>
          </p:cNvSpPr>
          <p:nvPr/>
        </p:nvSpPr>
        <p:spPr bwMode="auto">
          <a:xfrm>
            <a:off x="4571703" y="1995056"/>
            <a:ext cx="2856710" cy="1368152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9525">
            <a:solidFill>
              <a:srgbClr val="000000"/>
            </a:solidFill>
            <a:rou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indent="756285">
              <a:spcAft>
                <a:spcPts val="0"/>
              </a:spcAft>
            </a:pPr>
            <a:r>
              <a:rPr lang="zh-CN" sz="2400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试编一程序，在屏幕上</a:t>
            </a:r>
            <a:r>
              <a:rPr lang="zh-CN" altLang="en-US" sz="2400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输出</a:t>
            </a:r>
            <a:r>
              <a:rPr lang="en-US" sz="2400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2400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~</a:t>
            </a:r>
            <a:r>
              <a:rPr lang="en-US" sz="2400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5</a:t>
            </a:r>
            <a:r>
              <a:rPr lang="zh-CN" sz="2400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这几个数字。</a:t>
            </a:r>
            <a:endParaRPr lang="zh-CN" sz="2400" kern="100" dirty="0">
              <a:effectLst/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354" y="2461099"/>
            <a:ext cx="1529471" cy="221403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bldLvl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6016" y="1131590"/>
            <a:ext cx="3304001" cy="3278487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575556" y="987574"/>
            <a:ext cx="367240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44500" algn="just">
              <a:spcAft>
                <a:spcPts val="0"/>
              </a:spcAft>
            </a:pPr>
            <a:r>
              <a:rPr lang="en-US" altLang="zh-CN" sz="2800" kern="100" dirty="0">
                <a:latin typeface="Consolas" panose="020B0609020204030204" pitchFamily="49" charset="0"/>
                <a:ea typeface="楷体" panose="02010609060101010101" pitchFamily="49" charset="-122"/>
                <a:cs typeface="Calibri" panose="020F0502020204030204" pitchFamily="34" charset="0"/>
              </a:rPr>
              <a:t>while</a:t>
            </a:r>
            <a:r>
              <a:rPr lang="zh-CN" altLang="zh-CN" sz="2800" kern="100" dirty="0">
                <a:latin typeface="Consolas" panose="020B0609020204030204" pitchFamily="49" charset="0"/>
                <a:ea typeface="楷体" panose="02010609060101010101" pitchFamily="49" charset="-122"/>
                <a:cs typeface="Calibri" panose="020F0502020204030204" pitchFamily="34" charset="0"/>
              </a:rPr>
              <a:t>（表达式）</a:t>
            </a:r>
            <a:endParaRPr lang="en-US" altLang="zh-CN" sz="2800" kern="100" dirty="0">
              <a:latin typeface="Consolas" panose="020B0609020204030204" pitchFamily="49" charset="0"/>
              <a:ea typeface="楷体" panose="02010609060101010101" pitchFamily="49" charset="-122"/>
              <a:cs typeface="Calibri" panose="020F0502020204030204" pitchFamily="34" charset="0"/>
            </a:endParaRPr>
          </a:p>
          <a:p>
            <a:pPr indent="444500" algn="just">
              <a:spcAft>
                <a:spcPts val="0"/>
              </a:spcAft>
            </a:pPr>
            <a:r>
              <a:rPr lang="en-US" altLang="zh-CN" sz="2800" kern="100" dirty="0">
                <a:latin typeface="Consolas" panose="020B0609020204030204" pitchFamily="49" charset="0"/>
                <a:ea typeface="楷体" panose="02010609060101010101" pitchFamily="49" charset="-122"/>
                <a:cs typeface="Calibri" panose="020F0502020204030204" pitchFamily="34" charset="0"/>
              </a:rPr>
              <a:t>  </a:t>
            </a:r>
            <a:r>
              <a:rPr lang="zh-CN" altLang="zh-CN" sz="2800" kern="100" dirty="0">
                <a:latin typeface="Consolas" panose="020B0609020204030204" pitchFamily="49" charset="0"/>
                <a:ea typeface="楷体" panose="02010609060101010101" pitchFamily="49" charset="-122"/>
                <a:cs typeface="Calibri" panose="020F0502020204030204" pitchFamily="34" charset="0"/>
              </a:rPr>
              <a:t>语句；</a:t>
            </a:r>
            <a:endParaRPr lang="zh-CN" altLang="zh-CN" sz="2800" kern="100" dirty="0">
              <a:latin typeface="Consolas" panose="020B0609020204030204" pitchFamily="49" charset="0"/>
              <a:cs typeface="Calibri" panose="020F0502020204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55576" y="3075806"/>
            <a:ext cx="3443571" cy="87588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当表达式的值为真</a:t>
            </a:r>
            <a:r>
              <a:rPr lang="en-US" altLang="zh-CN" dirty="0"/>
              <a:t>(</a:t>
            </a:r>
            <a:r>
              <a:rPr lang="zh-CN" altLang="en-US" dirty="0"/>
              <a:t>非</a:t>
            </a:r>
            <a:r>
              <a:rPr lang="en-US" altLang="zh-CN" dirty="0"/>
              <a:t>0)</a:t>
            </a:r>
            <a:r>
              <a:rPr lang="zh-CN" altLang="en-US" dirty="0"/>
              <a:t>的时候，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就重复执行循环体语句；</a:t>
            </a:r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18356"/>
            <a:ext cx="8229600" cy="641226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sz="2400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7446" y="748263"/>
            <a:ext cx="3024336" cy="3895953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3779912" y="1103334"/>
            <a:ext cx="2808312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#include&lt;</a:t>
            </a:r>
            <a:r>
              <a:rPr lang="en-US" altLang="zh-CN" dirty="0" err="1"/>
              <a:t>iostream</a:t>
            </a:r>
            <a:r>
              <a:rPr lang="en-US" altLang="zh-CN" dirty="0"/>
              <a:t>&gt; </a:t>
            </a:r>
            <a:endParaRPr lang="en-US" altLang="zh-CN" dirty="0"/>
          </a:p>
          <a:p>
            <a:r>
              <a:rPr lang="en-US" altLang="zh-CN" dirty="0"/>
              <a:t>using namespace </a:t>
            </a:r>
            <a:r>
              <a:rPr lang="en-US" altLang="zh-CN" dirty="0" err="1"/>
              <a:t>std</a:t>
            </a:r>
            <a:r>
              <a:rPr lang="en-US" altLang="zh-CN" dirty="0"/>
              <a:t>;</a:t>
            </a:r>
            <a:endParaRPr lang="en-US" altLang="zh-CN" dirty="0"/>
          </a:p>
          <a:p>
            <a:r>
              <a:rPr lang="en-US" altLang="zh-CN" dirty="0" err="1"/>
              <a:t>int</a:t>
            </a:r>
            <a:r>
              <a:rPr lang="en-US" altLang="zh-CN" dirty="0"/>
              <a:t> main()</a:t>
            </a:r>
            <a:endParaRPr lang="en-US" altLang="zh-CN" dirty="0"/>
          </a:p>
          <a:p>
            <a:r>
              <a:rPr lang="en-US" altLang="zh-CN" dirty="0"/>
              <a:t>{</a:t>
            </a:r>
            <a:endParaRPr lang="en-US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int</a:t>
            </a:r>
            <a:r>
              <a:rPr lang="en-US" altLang="zh-CN" dirty="0"/>
              <a:t> i=1; </a:t>
            </a:r>
            <a:endParaRPr lang="en-US" altLang="zh-CN" dirty="0"/>
          </a:p>
          <a:p>
            <a:r>
              <a:rPr lang="en-US" altLang="zh-CN" dirty="0"/>
              <a:t>    while(i&lt;=5)</a:t>
            </a:r>
            <a:endParaRPr lang="en-US" altLang="zh-CN" dirty="0"/>
          </a:p>
          <a:p>
            <a:r>
              <a:rPr lang="en-US" altLang="zh-CN" dirty="0"/>
              <a:t>    {</a:t>
            </a:r>
            <a:endParaRPr lang="en-US" altLang="zh-CN" dirty="0"/>
          </a:p>
          <a:p>
            <a:r>
              <a:rPr lang="en-US" altLang="zh-CN" dirty="0"/>
              <a:t>        </a:t>
            </a:r>
            <a:r>
              <a:rPr lang="en-US" altLang="zh-CN" dirty="0" err="1"/>
              <a:t>cout</a:t>
            </a:r>
            <a:r>
              <a:rPr lang="en-US" altLang="zh-CN" dirty="0"/>
              <a:t>&lt;&lt;i&lt;&lt;</a:t>
            </a:r>
            <a:r>
              <a:rPr lang="en-US" altLang="zh-CN" dirty="0" err="1"/>
              <a:t>endl</a:t>
            </a:r>
            <a:r>
              <a:rPr lang="en-US" altLang="zh-CN" dirty="0"/>
              <a:t>;</a:t>
            </a:r>
            <a:endParaRPr lang="en-US" altLang="zh-CN" dirty="0"/>
          </a:p>
          <a:p>
            <a:r>
              <a:rPr lang="en-US" altLang="zh-CN" dirty="0"/>
              <a:t>        i++;</a:t>
            </a:r>
            <a:endParaRPr lang="en-US" altLang="zh-CN" dirty="0"/>
          </a:p>
          <a:p>
            <a:r>
              <a:rPr lang="en-US" altLang="zh-CN" dirty="0"/>
              <a:t>    }</a:t>
            </a:r>
            <a:endParaRPr lang="en-US" altLang="zh-CN" dirty="0"/>
          </a:p>
          <a:p>
            <a:r>
              <a:rPr lang="en-US" altLang="zh-CN" dirty="0"/>
              <a:t>    return 0; </a:t>
            </a:r>
            <a:endParaRPr lang="en-US" altLang="zh-CN" dirty="0"/>
          </a:p>
          <a:p>
            <a:r>
              <a:rPr lang="en-US" altLang="zh-CN" dirty="0"/>
              <a:t>}</a:t>
            </a:r>
            <a:endParaRPr lang="en-US" altLang="zh-CN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2252" y="2038457"/>
            <a:ext cx="2467319" cy="253400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18356"/>
            <a:ext cx="8229600" cy="641226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sz="2400" dirty="0"/>
          </a:p>
        </p:txBody>
      </p:sp>
      <p:sp>
        <p:nvSpPr>
          <p:cNvPr id="4" name="矩形 3"/>
          <p:cNvSpPr/>
          <p:nvPr/>
        </p:nvSpPr>
        <p:spPr>
          <a:xfrm>
            <a:off x="395536" y="1275606"/>
            <a:ext cx="2808312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#include&lt;</a:t>
            </a:r>
            <a:r>
              <a:rPr lang="en-US" altLang="zh-CN" dirty="0" err="1"/>
              <a:t>iostream</a:t>
            </a:r>
            <a:r>
              <a:rPr lang="en-US" altLang="zh-CN" dirty="0"/>
              <a:t>&gt; </a:t>
            </a:r>
            <a:endParaRPr lang="en-US" altLang="zh-CN" dirty="0"/>
          </a:p>
          <a:p>
            <a:r>
              <a:rPr lang="en-US" altLang="zh-CN" dirty="0"/>
              <a:t>using namespace </a:t>
            </a:r>
            <a:r>
              <a:rPr lang="en-US" altLang="zh-CN" dirty="0" err="1"/>
              <a:t>std</a:t>
            </a:r>
            <a:r>
              <a:rPr lang="en-US" altLang="zh-CN" dirty="0"/>
              <a:t>;</a:t>
            </a:r>
            <a:endParaRPr lang="en-US" altLang="zh-CN" dirty="0"/>
          </a:p>
          <a:p>
            <a:r>
              <a:rPr lang="en-US" altLang="zh-CN" dirty="0" err="1"/>
              <a:t>int</a:t>
            </a:r>
            <a:r>
              <a:rPr lang="en-US" altLang="zh-CN" dirty="0"/>
              <a:t> main()</a:t>
            </a:r>
            <a:endParaRPr lang="en-US" altLang="zh-CN" dirty="0"/>
          </a:p>
          <a:p>
            <a:r>
              <a:rPr lang="en-US" altLang="zh-CN" dirty="0"/>
              <a:t>{</a:t>
            </a:r>
            <a:endParaRPr lang="en-US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int</a:t>
            </a:r>
            <a:r>
              <a:rPr lang="en-US" altLang="zh-CN" dirty="0"/>
              <a:t> i=1; </a:t>
            </a:r>
            <a:endParaRPr lang="en-US" altLang="zh-CN" dirty="0"/>
          </a:p>
          <a:p>
            <a:r>
              <a:rPr lang="en-US" altLang="zh-CN" dirty="0"/>
              <a:t>    while(i&lt;=5)</a:t>
            </a:r>
            <a:endParaRPr lang="en-US" altLang="zh-CN" dirty="0"/>
          </a:p>
          <a:p>
            <a:r>
              <a:rPr lang="en-US" altLang="zh-CN" dirty="0"/>
              <a:t>    {</a:t>
            </a:r>
            <a:endParaRPr lang="en-US" altLang="zh-CN" dirty="0"/>
          </a:p>
          <a:p>
            <a:r>
              <a:rPr lang="en-US" altLang="zh-CN" dirty="0"/>
              <a:t>        </a:t>
            </a:r>
            <a:r>
              <a:rPr lang="en-US" altLang="zh-CN" dirty="0" err="1"/>
              <a:t>cout</a:t>
            </a:r>
            <a:r>
              <a:rPr lang="en-US" altLang="zh-CN" dirty="0"/>
              <a:t>&lt;&lt;i&lt;&lt;</a:t>
            </a:r>
            <a:r>
              <a:rPr lang="en-US" altLang="zh-CN" dirty="0" err="1"/>
              <a:t>endl</a:t>
            </a:r>
            <a:r>
              <a:rPr lang="en-US" altLang="zh-CN" dirty="0"/>
              <a:t>;</a:t>
            </a:r>
            <a:endParaRPr lang="en-US" altLang="zh-CN" dirty="0"/>
          </a:p>
          <a:p>
            <a:r>
              <a:rPr lang="en-US" altLang="zh-CN" dirty="0"/>
              <a:t>        i++;</a:t>
            </a:r>
            <a:endParaRPr lang="en-US" altLang="zh-CN" dirty="0"/>
          </a:p>
          <a:p>
            <a:r>
              <a:rPr lang="en-US" altLang="zh-CN" dirty="0"/>
              <a:t>    }</a:t>
            </a:r>
            <a:endParaRPr lang="en-US" altLang="zh-CN" dirty="0"/>
          </a:p>
          <a:p>
            <a:r>
              <a:rPr lang="en-US" altLang="zh-CN" dirty="0"/>
              <a:t>    return 0; </a:t>
            </a:r>
            <a:endParaRPr lang="en-US" altLang="zh-CN" dirty="0"/>
          </a:p>
          <a:p>
            <a:r>
              <a:rPr lang="en-US" altLang="zh-CN" dirty="0"/>
              <a:t>}</a:t>
            </a:r>
            <a:endParaRPr lang="en-US" altLang="zh-CN" dirty="0"/>
          </a:p>
        </p:txBody>
      </p:sp>
      <p:sp>
        <p:nvSpPr>
          <p:cNvPr id="3" name="TextBox 2"/>
          <p:cNvSpPr txBox="1"/>
          <p:nvPr/>
        </p:nvSpPr>
        <p:spPr>
          <a:xfrm>
            <a:off x="4283968" y="1101178"/>
            <a:ext cx="2781531" cy="170687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循环语句的三个关键点：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/>
              <a:t>初始值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/>
              <a:t>循环继续的条件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/>
              <a:t>循环趋向于结束的语句</a:t>
            </a:r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142018" y="3148573"/>
            <a:ext cx="4108817" cy="129137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如果循环体由多条语句组成，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要用</a:t>
            </a:r>
            <a:r>
              <a:rPr lang="en-US" altLang="zh-CN" dirty="0"/>
              <a:t>{}</a:t>
            </a:r>
            <a:r>
              <a:rPr lang="zh-CN" altLang="en-US" dirty="0"/>
              <a:t>括起来，组成复合语句。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即使只有一条语句，建议也要括起来。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 bldLvl="0" animBg="1"/>
      <p:bldP spid="5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3528" y="987574"/>
            <a:ext cx="8229600" cy="569218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solidFill>
                  <a:srgbClr val="00B0F0"/>
                </a:solidFill>
              </a:rPr>
              <a:t>编程小词典</a:t>
            </a:r>
            <a:br>
              <a:rPr lang="en-US" altLang="zh-CN" dirty="0">
                <a:solidFill>
                  <a:srgbClr val="00B0F0"/>
                </a:solidFill>
              </a:rPr>
            </a:br>
            <a:endParaRPr lang="zh-CN" altLang="en-US" sz="2400" dirty="0">
              <a:solidFill>
                <a:srgbClr val="00B0F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15616" y="1707654"/>
            <a:ext cx="5328592" cy="1368152"/>
          </a:xfrm>
        </p:spPr>
        <p:txBody>
          <a:bodyPr>
            <a:normAutofit/>
          </a:bodyPr>
          <a:lstStyle/>
          <a:p>
            <a:pPr lvl="1"/>
            <a:r>
              <a:rPr lang="en-US" altLang="zh-CN" sz="2400" dirty="0"/>
              <a:t>while  </a:t>
            </a:r>
            <a:r>
              <a:rPr lang="zh-CN" altLang="en-US" sz="2400" dirty="0"/>
              <a:t>当。。。的时候</a:t>
            </a:r>
            <a:endParaRPr lang="zh-CN" altLang="en-US" sz="2400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3888" y="2607456"/>
            <a:ext cx="1804480" cy="191599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14227" y="682518"/>
            <a:ext cx="3096344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55719" y="1419622"/>
            <a:ext cx="2576122" cy="2935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、一张容量为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16GB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的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SD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卡能存储大约（  ）张大小为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2MB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的相片。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4000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8000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1600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16000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3419872" y="710467"/>
            <a:ext cx="4936302" cy="1440160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/>
              <a:t>2</a:t>
            </a:r>
            <a:r>
              <a:rPr lang="zh-CN" altLang="en-US" sz="2000" dirty="0"/>
              <a:t>、阅读程序写结果。</a:t>
            </a: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>
                <a:latin typeface="+mn-lt"/>
              </a:rPr>
              <a:t>        </a:t>
            </a:r>
            <a:r>
              <a:rPr lang="zh-CN" altLang="en-US" sz="2000" dirty="0"/>
              <a:t> </a:t>
            </a: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         </a:t>
            </a:r>
            <a:endParaRPr lang="en-US" altLang="zh-CN" sz="2000" dirty="0"/>
          </a:p>
        </p:txBody>
      </p:sp>
      <p:sp>
        <p:nvSpPr>
          <p:cNvPr id="8" name="TextBox 7"/>
          <p:cNvSpPr txBox="1"/>
          <p:nvPr/>
        </p:nvSpPr>
        <p:spPr>
          <a:xfrm>
            <a:off x="6712677" y="2159335"/>
            <a:ext cx="1800200" cy="147732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           i</a:t>
            </a:r>
            <a:endParaRPr lang="en-US" altLang="zh-CN" dirty="0"/>
          </a:p>
          <a:p>
            <a:r>
              <a:rPr lang="en-US" altLang="zh-CN" dirty="0"/>
              <a:t>----------------------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6804248" y="4227934"/>
            <a:ext cx="20938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输出</a:t>
            </a:r>
            <a:r>
              <a:rPr lang="en-US" altLang="zh-CN" dirty="0"/>
              <a:t>:____________</a:t>
            </a:r>
            <a:endParaRPr lang="zh-CN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0079" y="1132349"/>
            <a:ext cx="3133725" cy="3552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 build="p"/>
      <p:bldP spid="8" grpId="0" animBg="1"/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-36512" y="538961"/>
            <a:ext cx="4824536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6" name="内容占位符 2"/>
          <p:cNvSpPr txBox="1"/>
          <p:nvPr/>
        </p:nvSpPr>
        <p:spPr>
          <a:xfrm>
            <a:off x="1008555" y="1484230"/>
            <a:ext cx="2808312" cy="33843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en-US" altLang="zh-CN" sz="2000" dirty="0">
                <a:solidFill>
                  <a:prstClr val="black"/>
                </a:solidFill>
              </a:rPr>
              <a:t>3</a:t>
            </a:r>
            <a:r>
              <a:rPr lang="zh-CN" altLang="en-US" sz="2000" dirty="0">
                <a:solidFill>
                  <a:prstClr val="black"/>
                </a:solidFill>
              </a:rPr>
              <a:t>、完善程序。</a:t>
            </a:r>
            <a:endParaRPr lang="en-US" altLang="zh-CN" sz="1800" dirty="0">
              <a:solidFill>
                <a:prstClr val="black"/>
              </a:solidFill>
            </a:endParaRPr>
          </a:p>
          <a:p>
            <a:pPr marL="0" indent="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zh-CN" altLang="en-US" sz="1800" b="0" dirty="0">
                <a:solidFill>
                  <a:prstClr val="black"/>
                </a:solidFill>
              </a:rPr>
              <a:t>求</a:t>
            </a:r>
            <a:r>
              <a:rPr lang="en-US" altLang="zh-CN" sz="1800" b="0" dirty="0">
                <a:solidFill>
                  <a:prstClr val="black"/>
                </a:solidFill>
              </a:rPr>
              <a:t>6+12+18+24+…+180</a:t>
            </a:r>
            <a:r>
              <a:rPr lang="zh-CN" altLang="en-US" sz="1800" b="0" dirty="0">
                <a:solidFill>
                  <a:prstClr val="black"/>
                </a:solidFill>
              </a:rPr>
              <a:t>的和是多少？</a:t>
            </a:r>
            <a:endParaRPr lang="en-US" altLang="zh-CN" sz="2000" b="0" dirty="0">
              <a:solidFill>
                <a:prstClr val="black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407712" y="4206652"/>
            <a:ext cx="3860800" cy="368300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prstClr val="black"/>
                </a:solidFill>
                <a:latin typeface="宋体" panose="02010600030101010101" pitchFamily="2" charset="-122"/>
              </a:rPr>
              <a:t>注：所有程序作业，必须上机完成！</a:t>
            </a:r>
            <a:endParaRPr lang="zh-CN" altLang="en-US" b="1" dirty="0">
              <a:solidFill>
                <a:prstClr val="black"/>
              </a:solidFill>
              <a:latin typeface="宋体" panose="02010600030101010101" pitchFamily="2" charset="-122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0137" y="662439"/>
            <a:ext cx="3629025" cy="3476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/>
          <p:cNvSpPr/>
          <p:nvPr/>
        </p:nvSpPr>
        <p:spPr>
          <a:xfrm>
            <a:off x="4067943" y="313756"/>
            <a:ext cx="4012253" cy="2458678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4"/>
          <p:cNvSpPr txBox="1">
            <a:spLocks noGrp="1"/>
          </p:cNvSpPr>
          <p:nvPr>
            <p:ph type="title"/>
          </p:nvPr>
        </p:nvSpPr>
        <p:spPr>
          <a:xfrm>
            <a:off x="4283968" y="915566"/>
            <a:ext cx="4012253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dirty="0" err="1">
                <a:solidFill>
                  <a:srgbClr val="00B0F0"/>
                </a:solidFill>
              </a:rPr>
              <a:t>下课</a:t>
            </a:r>
            <a:r>
              <a:rPr lang="zh-CN" altLang="en-US" sz="7200" dirty="0">
                <a:solidFill>
                  <a:srgbClr val="00B0F0"/>
                </a:solidFill>
              </a:rPr>
              <a:t>啦</a:t>
            </a:r>
            <a:r>
              <a:rPr sz="7200" dirty="0">
                <a:solidFill>
                  <a:srgbClr val="00B0F0"/>
                </a:solidFill>
              </a:rPr>
              <a:t>！</a:t>
            </a:r>
            <a:endParaRPr sz="7200" dirty="0">
              <a:solidFill>
                <a:srgbClr val="00B0F0"/>
              </a:solidFill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524" y="1744580"/>
            <a:ext cx="3697191" cy="340428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818</Words>
  <Application>WPS 演示</Application>
  <PresentationFormat>全屏显示(16:9)</PresentationFormat>
  <Paragraphs>102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3" baseType="lpstr">
      <vt:lpstr>Arial</vt:lpstr>
      <vt:lpstr>宋体</vt:lpstr>
      <vt:lpstr>Wingdings</vt:lpstr>
      <vt:lpstr>黑体</vt:lpstr>
      <vt:lpstr>仿宋</vt:lpstr>
      <vt:lpstr>微软雅黑</vt:lpstr>
      <vt:lpstr>华文楷体</vt:lpstr>
      <vt:lpstr>Times New Roman</vt:lpstr>
      <vt:lpstr>Consolas</vt:lpstr>
      <vt:lpstr>楷体</vt:lpstr>
      <vt:lpstr>Calibri</vt:lpstr>
      <vt:lpstr>Arial Unicode MS</vt:lpstr>
      <vt:lpstr>Office 主题</vt:lpstr>
      <vt:lpstr>PowerPoint 演示文稿</vt:lpstr>
      <vt:lpstr>while与do-while循环</vt:lpstr>
      <vt:lpstr>儿歌《打老虎》——while语句</vt:lpstr>
      <vt:lpstr> </vt:lpstr>
      <vt:lpstr> </vt:lpstr>
      <vt:lpstr> </vt:lpstr>
      <vt:lpstr>编程小词典 </vt:lpstr>
      <vt:lpstr>课后作业</vt:lpstr>
      <vt:lpstr>课后作业</vt:lpstr>
      <vt:lpstr>下课啦！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叮咚</cp:lastModifiedBy>
  <cp:revision>67</cp:revision>
  <dcterms:created xsi:type="dcterms:W3CDTF">2018-07-03T13:24:00Z</dcterms:created>
  <dcterms:modified xsi:type="dcterms:W3CDTF">2021-06-17T09:59:23Z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9185FB1E952B4DB38C74D97E8A352616</vt:lpwstr>
  </property>
  <property fmtid="{D5CDD505-2E9C-101B-9397-08002B2CF9AE}" pid="3" name="KSOProductBuildVer">
    <vt:lpwstr>2052-11.1.0.10577</vt:lpwstr>
  </property>
</Properties>
</file>