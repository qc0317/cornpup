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"/>
    <p:sldId id="269" r:id="rId4"/>
    <p:sldId id="281" r:id="rId5"/>
    <p:sldId id="282" r:id="rId6"/>
    <p:sldId id="283" r:id="rId7"/>
    <p:sldId id="284" r:id="rId8"/>
    <p:sldId id="275" r:id="rId9"/>
    <p:sldId id="267" r:id="rId10"/>
    <p:sldId id="280" r:id="rId11"/>
    <p:sldId id="287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234170" cy="5194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成绩等级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(switch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78102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成绩等级</a:t>
            </a:r>
            <a:r>
              <a:rPr lang="en-US" altLang="zh-CN" sz="2400" dirty="0">
                <a:solidFill>
                  <a:srgbClr val="00B0F0"/>
                </a:solidFill>
              </a:rPr>
              <a:t>——switch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0" name="矩形: 圆角 4"/>
          <p:cNvSpPr>
            <a:spLocks noChangeArrowheads="1"/>
          </p:cNvSpPr>
          <p:nvPr/>
        </p:nvSpPr>
        <p:spPr bwMode="auto">
          <a:xfrm>
            <a:off x="2339752" y="1965792"/>
            <a:ext cx="3816424" cy="154206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试编一程序，输入一个成绩，输出它的等级。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5617" y="1419622"/>
            <a:ext cx="1846980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成绩等级：</a:t>
            </a:r>
            <a:endParaRPr lang="en-US" altLang="zh-CN" sz="2400" dirty="0"/>
          </a:p>
          <a:p>
            <a:r>
              <a:rPr lang="en-US" altLang="zh-CN" sz="2400" dirty="0"/>
              <a:t>&gt;=90</a:t>
            </a:r>
            <a:r>
              <a:rPr lang="zh-CN" altLang="en-US" sz="2400" dirty="0"/>
              <a:t>分：   </a:t>
            </a:r>
            <a:r>
              <a:rPr lang="en-US" altLang="zh-CN" sz="2400" dirty="0"/>
              <a:t>A</a:t>
            </a:r>
            <a:endParaRPr lang="en-US" altLang="zh-CN" sz="2400" dirty="0"/>
          </a:p>
          <a:p>
            <a:r>
              <a:rPr lang="en-US" altLang="zh-CN" sz="2400" dirty="0"/>
              <a:t>70--89</a:t>
            </a:r>
            <a:r>
              <a:rPr lang="zh-CN" altLang="en-US" sz="2400" dirty="0"/>
              <a:t>分：</a:t>
            </a:r>
            <a:r>
              <a:rPr lang="en-US" altLang="zh-CN" sz="2400" dirty="0"/>
              <a:t>B </a:t>
            </a:r>
            <a:endParaRPr lang="en-US" altLang="zh-CN" sz="2400" dirty="0"/>
          </a:p>
          <a:p>
            <a:r>
              <a:rPr lang="en-US" altLang="zh-CN" sz="2400" dirty="0"/>
              <a:t>60--69</a:t>
            </a:r>
            <a:r>
              <a:rPr lang="zh-CN" altLang="en-US" sz="2400" dirty="0"/>
              <a:t>分：</a:t>
            </a:r>
            <a:r>
              <a:rPr lang="en-US" altLang="zh-CN" sz="2400" dirty="0"/>
              <a:t>C</a:t>
            </a:r>
            <a:endParaRPr lang="en-US" altLang="zh-CN" sz="2400" dirty="0"/>
          </a:p>
          <a:p>
            <a:r>
              <a:rPr lang="en-US" altLang="zh-CN" sz="2400" dirty="0"/>
              <a:t>&lt;=60</a:t>
            </a:r>
            <a:r>
              <a:rPr lang="zh-CN" altLang="en-US" sz="2400" dirty="0"/>
              <a:t>分：  </a:t>
            </a:r>
            <a:r>
              <a:rPr lang="en-US" altLang="zh-CN" sz="2400" dirty="0"/>
              <a:t>D</a:t>
            </a:r>
            <a:endParaRPr lang="zh-CN" altLang="en-US" sz="2400" dirty="0"/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2505075"/>
            <a:ext cx="1649095" cy="165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772309"/>
            <a:ext cx="5044979" cy="381297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24128" y="799631"/>
            <a:ext cx="2880320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n;</a:t>
            </a:r>
            <a:endParaRPr lang="en-US" altLang="zh-CN" sz="1600" dirty="0"/>
          </a:p>
          <a:p>
            <a:r>
              <a:rPr lang="en-US" altLang="zh-CN" sz="1600" dirty="0"/>
              <a:t>  char score;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请输入分数：</a:t>
            </a:r>
            <a:r>
              <a:rPr lang="en-US" altLang="zh-CN" sz="1600" dirty="0"/>
              <a:t>";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&gt;&gt;n;</a:t>
            </a:r>
            <a:endParaRPr lang="en-US" altLang="zh-CN" sz="1600" dirty="0"/>
          </a:p>
          <a:p>
            <a:r>
              <a:rPr lang="en-US" altLang="zh-CN" sz="1600" dirty="0"/>
              <a:t>  if(n&gt;=90)  score='A';</a:t>
            </a:r>
            <a:endParaRPr lang="en-US" altLang="zh-CN" sz="1600" dirty="0"/>
          </a:p>
          <a:p>
            <a:r>
              <a:rPr lang="en-US" altLang="zh-CN" sz="1600" dirty="0"/>
              <a:t>  else if(n&gt;=70) score='B';</a:t>
            </a:r>
            <a:endParaRPr lang="en-US" altLang="zh-CN" sz="1600" dirty="0"/>
          </a:p>
          <a:p>
            <a:r>
              <a:rPr lang="en-US" altLang="zh-CN" sz="1600" dirty="0"/>
              <a:t>       else if(n&gt;=60) score='C';</a:t>
            </a:r>
            <a:endParaRPr lang="en-US" altLang="zh-CN" sz="1600" dirty="0"/>
          </a:p>
          <a:p>
            <a:r>
              <a:rPr lang="en-US" altLang="zh-CN" sz="1600" dirty="0"/>
              <a:t>            else  score='D';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&lt;&lt;score;</a:t>
            </a:r>
            <a:endParaRPr lang="en-US" altLang="zh-CN" sz="1600" dirty="0"/>
          </a:p>
          <a:p>
            <a:r>
              <a:rPr lang="en-US" altLang="zh-CN" sz="1600" dirty="0"/>
              <a:t>  return  0;</a:t>
            </a:r>
            <a:endParaRPr lang="en-US" altLang="zh-CN" sz="1600" dirty="0"/>
          </a:p>
          <a:p>
            <a:r>
              <a:rPr lang="en-US" altLang="zh-CN" sz="1600" dirty="0"/>
              <a:t>} </a:t>
            </a: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211568" y="1062997"/>
            <a:ext cx="6912768" cy="351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switch(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表达式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)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{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case 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常量表达式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1: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1;break;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case 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常量表达式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2: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2;break;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…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case 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常量表达式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n: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</a:t>
            </a:r>
            <a:r>
              <a:rPr lang="en-US" altLang="zh-CN" sz="2800" dirty="0" err="1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n;break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;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default:</a:t>
            </a:r>
            <a:r>
              <a:rPr lang="zh-CN" altLang="en-US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n+1;break;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indent="200025" defTabSz="685800"/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}</a:t>
            </a:r>
            <a:endParaRPr lang="en-US" altLang="zh-CN" sz="28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20" y="3297926"/>
            <a:ext cx="1422920" cy="1427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540" y="476118"/>
            <a:ext cx="6456387" cy="42402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34" y="730552"/>
            <a:ext cx="1751974" cy="1890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68252"/>
            <a:ext cx="9080372" cy="456425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362720"/>
            <a:ext cx="8824928" cy="4401205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652157" y="403299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  int n;</a:t>
            </a:r>
            <a:endParaRPr lang="en-US" altLang="zh-CN" sz="1400" dirty="0"/>
          </a:p>
          <a:p>
            <a:r>
              <a:rPr lang="en-US" altLang="zh-CN" sz="1400" dirty="0"/>
              <a:t>  char score;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请输入分数：</a:t>
            </a:r>
            <a:r>
              <a:rPr lang="en-US" altLang="zh-CN" sz="1400" dirty="0"/>
              <a:t>";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&gt;&gt;n;</a:t>
            </a:r>
            <a:endParaRPr lang="en-US" altLang="zh-CN" sz="1400" dirty="0"/>
          </a:p>
          <a:p>
            <a:r>
              <a:rPr lang="en-US" altLang="zh-CN" sz="1400" dirty="0"/>
              <a:t>  switch(n/10)   //n</a:t>
            </a:r>
            <a:r>
              <a:rPr lang="zh-CN" altLang="en-US" sz="1400" dirty="0"/>
              <a:t>、</a:t>
            </a:r>
            <a:r>
              <a:rPr lang="en-US" altLang="zh-CN" sz="1400" dirty="0"/>
              <a:t>10</a:t>
            </a:r>
            <a:r>
              <a:rPr lang="zh-CN" altLang="en-US" sz="1400" dirty="0"/>
              <a:t>是整型，</a:t>
            </a:r>
            <a:r>
              <a:rPr lang="en-US" altLang="zh-CN" sz="1400" dirty="0"/>
              <a:t>n/10</a:t>
            </a:r>
            <a:r>
              <a:rPr lang="zh-CN" altLang="en-US" sz="1400" dirty="0"/>
              <a:t>也是整型 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  case 10:</a:t>
            </a:r>
            <a:endParaRPr lang="en-US" altLang="zh-CN" sz="1400" dirty="0"/>
          </a:p>
          <a:p>
            <a:r>
              <a:rPr lang="en-US" altLang="zh-CN" sz="1400" dirty="0"/>
              <a:t>    case 9:   score='</a:t>
            </a:r>
            <a:r>
              <a:rPr lang="en-US" altLang="zh-CN" sz="1400" dirty="0" err="1"/>
              <a:t>A';break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case 8:</a:t>
            </a:r>
            <a:endParaRPr lang="en-US" altLang="zh-CN" sz="1400" dirty="0"/>
          </a:p>
          <a:p>
            <a:r>
              <a:rPr lang="en-US" altLang="zh-CN" sz="1400" dirty="0"/>
              <a:t>    case 7:   score='</a:t>
            </a:r>
            <a:r>
              <a:rPr lang="en-US" altLang="zh-CN" sz="1400" dirty="0" err="1"/>
              <a:t>B';break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case 6:   score='</a:t>
            </a:r>
            <a:r>
              <a:rPr lang="en-US" altLang="zh-CN" sz="1400" dirty="0" err="1"/>
              <a:t>C';break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case 5:</a:t>
            </a:r>
            <a:endParaRPr lang="en-US" altLang="zh-CN" sz="1400" dirty="0"/>
          </a:p>
          <a:p>
            <a:r>
              <a:rPr lang="en-US" altLang="zh-CN" sz="1400" dirty="0"/>
              <a:t>    case 4:</a:t>
            </a:r>
            <a:endParaRPr lang="en-US" altLang="zh-CN" sz="1400" dirty="0"/>
          </a:p>
          <a:p>
            <a:r>
              <a:rPr lang="en-US" altLang="zh-CN" sz="1400" dirty="0"/>
              <a:t>    case 3:</a:t>
            </a:r>
            <a:endParaRPr lang="en-US" altLang="zh-CN" sz="1400" dirty="0"/>
          </a:p>
          <a:p>
            <a:r>
              <a:rPr lang="en-US" altLang="zh-CN" sz="1400" dirty="0"/>
              <a:t>    case 2:</a:t>
            </a:r>
            <a:endParaRPr lang="en-US" altLang="zh-CN" sz="1400" dirty="0"/>
          </a:p>
          <a:p>
            <a:r>
              <a:rPr lang="en-US" altLang="zh-CN" sz="1400" dirty="0"/>
              <a:t>    case 1:</a:t>
            </a:r>
            <a:endParaRPr lang="en-US" altLang="zh-CN" sz="1400" dirty="0"/>
          </a:p>
          <a:p>
            <a:r>
              <a:rPr lang="en-US" altLang="zh-CN" sz="1400" dirty="0"/>
              <a:t>    case 0:   score='</a:t>
            </a:r>
            <a:r>
              <a:rPr lang="en-US" altLang="zh-CN" sz="1400" dirty="0" err="1"/>
              <a:t>D';break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default:  score=' ';break; //</a:t>
            </a:r>
            <a:r>
              <a:rPr lang="zh-CN" altLang="en-US" sz="1400" dirty="0"/>
              <a:t>一个空格赋值给</a:t>
            </a:r>
            <a:r>
              <a:rPr lang="en-US" altLang="zh-CN" sz="1400" dirty="0"/>
              <a:t>score </a:t>
            </a:r>
            <a:endParaRPr lang="en-US" altLang="zh-CN" sz="1400" dirty="0"/>
          </a:p>
          <a:p>
            <a:r>
              <a:rPr lang="en-US" altLang="zh-CN" sz="1400" dirty="0"/>
              <a:t>  }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&lt;&lt;score;</a:t>
            </a:r>
            <a:endParaRPr lang="en-US" altLang="zh-CN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634371"/>
            <a:ext cx="572464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switch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语句注意事项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switch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后面的表达式，必须是整型、字符型、布尔型；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case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表达式的值必须互不相同；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各个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case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的顺序不影响执行结果；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只有遇到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break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语句才跳出；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多个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case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可以共用一组语句；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default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语句可以省略；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case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后面的子句可以不用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{}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括起来。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767" y="1671650"/>
            <a:ext cx="6408712" cy="180020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sz="2600" dirty="0"/>
              <a:t>switch  </a:t>
            </a:r>
            <a:r>
              <a:rPr lang="zh-CN" altLang="en-US" sz="2600" dirty="0"/>
              <a:t>条件选择；开关</a:t>
            </a:r>
            <a:endParaRPr lang="en-US" altLang="zh-CN" sz="2600" dirty="0"/>
          </a:p>
          <a:p>
            <a:pPr lvl="1"/>
            <a:r>
              <a:rPr lang="en-US" altLang="zh-CN" sz="2600" dirty="0"/>
              <a:t>case    </a:t>
            </a:r>
            <a:r>
              <a:rPr lang="zh-CN" altLang="en-US" sz="2600" dirty="0"/>
              <a:t>情况</a:t>
            </a:r>
            <a:endParaRPr lang="en-US" altLang="zh-CN" sz="2600" dirty="0"/>
          </a:p>
          <a:p>
            <a:pPr lvl="1"/>
            <a:r>
              <a:rPr lang="en-US" altLang="zh-CN" sz="2600" dirty="0"/>
              <a:t>break   </a:t>
            </a:r>
            <a:r>
              <a:rPr lang="zh-CN" altLang="en-US" sz="2600" dirty="0"/>
              <a:t>终止</a:t>
            </a:r>
            <a:endParaRPr lang="en-US" altLang="zh-CN" sz="2600" dirty="0"/>
          </a:p>
          <a:p>
            <a:pPr lvl="1"/>
            <a:r>
              <a:rPr lang="en-US" altLang="zh-CN" sz="2600" dirty="0"/>
              <a:t>default </a:t>
            </a:r>
            <a:r>
              <a:rPr lang="zh-CN" altLang="en-US" sz="2600" dirty="0"/>
              <a:t>默认；系统默认值</a:t>
            </a:r>
            <a:endParaRPr lang="zh-CN" altLang="en-US" sz="2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60" y="2663123"/>
            <a:ext cx="2484335" cy="18365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8402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4116" y="1503443"/>
            <a:ext cx="272013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目前计算机芯片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集成电路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制作的主要原材料是（  ），它是一种可以在沙子中提炼出的物质。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铜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硅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锗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铝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765634" y="600295"/>
            <a:ext cx="4288230" cy="42484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m,n,ans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&gt;&gt;m&gt;&gt;n;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switch(n)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0: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=1;break;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1: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m;break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2: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=m*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m;break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3: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=m*m*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m;break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4: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=m*m*m*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m;break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default: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=-1;break;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==-1)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&lt;&lt;"???"&lt;&lt;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940801"/>
            <a:ext cx="199099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m      n       </a:t>
            </a:r>
            <a:r>
              <a:rPr lang="en-US" altLang="zh-CN" dirty="0" err="1"/>
              <a:t>ans</a:t>
            </a:r>
            <a:r>
              <a:rPr lang="en-US" altLang="zh-CN" dirty="0"/>
              <a:t>             </a:t>
            </a:r>
            <a:endParaRPr lang="en-US" altLang="zh-CN" dirty="0"/>
          </a:p>
          <a:p>
            <a:r>
              <a:rPr lang="en-US" altLang="zh-CN" dirty="0"/>
              <a:t>  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660231" y="3864229"/>
            <a:ext cx="22622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 </a:t>
            </a:r>
            <a:r>
              <a:rPr lang="en-US" altLang="zh-CN" dirty="0"/>
              <a:t>5  3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937" y="3224193"/>
            <a:ext cx="1428750" cy="1428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32700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281993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请为一组题目设计一个小程序。如输入</a:t>
            </a:r>
            <a:r>
              <a:rPr lang="en-US" altLang="zh-CN" sz="1800" b="0" dirty="0">
                <a:solidFill>
                  <a:prstClr val="black"/>
                </a:solidFill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</a:rPr>
              <a:t>，输出</a:t>
            </a:r>
            <a:r>
              <a:rPr lang="en-US" altLang="zh-CN" sz="1800" b="0" dirty="0">
                <a:solidFill>
                  <a:prstClr val="black"/>
                </a:solidFill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</a:rPr>
              <a:t>号题。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AutoNum type="arabicParenBoth"/>
            </a:pPr>
            <a:r>
              <a:rPr lang="en-US" altLang="zh-CN" sz="1800" b="0" dirty="0">
                <a:solidFill>
                  <a:prstClr val="black"/>
                </a:solidFill>
              </a:rPr>
              <a:t>(    )</a:t>
            </a:r>
            <a:r>
              <a:rPr lang="zh-CN" altLang="en-US" sz="1800" b="0" dirty="0">
                <a:solidFill>
                  <a:prstClr val="black"/>
                </a:solidFill>
              </a:rPr>
              <a:t>带雨晚来急，野渡无人舟自横。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AutoNum type="arabicParenBoth"/>
            </a:pPr>
            <a:r>
              <a:rPr lang="zh-CN" altLang="en-US" sz="1800" b="0" dirty="0">
                <a:solidFill>
                  <a:prstClr val="black"/>
                </a:solidFill>
              </a:rPr>
              <a:t>忽如一夜（  ）来，千树万树梨花开。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AutoNum type="arabicParenBoth"/>
            </a:pPr>
            <a:r>
              <a:rPr lang="zh-CN" altLang="en-US" sz="1800" b="0" dirty="0">
                <a:solidFill>
                  <a:prstClr val="black"/>
                </a:solidFill>
              </a:rPr>
              <a:t>（  ）满园关不住，一枝红杏出墙来。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1880" y="795540"/>
            <a:ext cx="5328592" cy="37548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cs typeface="Times New Roman" panose="02020603050405020304" pitchFamily="18" charset="0"/>
              </a:rPr>
              <a:t>#include &lt;</a:t>
            </a:r>
            <a:r>
              <a:rPr lang="en-US" altLang="zh-CN" sz="1400" dirty="0" err="1">
                <a:cs typeface="Times New Roman" panose="02020603050405020304" pitchFamily="18" charset="0"/>
              </a:rPr>
              <a:t>iostream</a:t>
            </a:r>
            <a:r>
              <a:rPr lang="en-US" altLang="zh-CN" sz="1400" dirty="0">
                <a:cs typeface="Times New Roman" panose="02020603050405020304" pitchFamily="18" charset="0"/>
              </a:rPr>
              <a:t>&gt;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using namespace </a:t>
            </a:r>
            <a:r>
              <a:rPr lang="en-US" altLang="zh-CN" sz="1400" dirty="0" err="1">
                <a:cs typeface="Times New Roman" panose="02020603050405020304" pitchFamily="18" charset="0"/>
              </a:rPr>
              <a:t>std</a:t>
            </a:r>
            <a:r>
              <a:rPr lang="en-US" altLang="zh-CN" sz="1400" dirty="0">
                <a:cs typeface="Times New Roman" panose="02020603050405020304" pitchFamily="18" charset="0"/>
              </a:rPr>
              <a:t>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cs typeface="Times New Roman" panose="02020603050405020304" pitchFamily="18" charset="0"/>
              </a:rPr>
              <a:t> main()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{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cs typeface="Times New Roman" panose="02020603050405020304" pitchFamily="18" charset="0"/>
              </a:rPr>
              <a:t>  n;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cs typeface="Times New Roman" panose="02020603050405020304" pitchFamily="18" charset="0"/>
              </a:rPr>
              <a:t>诗词大赛</a:t>
            </a:r>
            <a:r>
              <a:rPr lang="en-US" altLang="zh-CN" sz="1400" dirty="0">
                <a:cs typeface="Times New Roman" panose="02020603050405020304" pitchFamily="18" charset="0"/>
              </a:rPr>
              <a:t>"&lt;&lt;</a:t>
            </a:r>
            <a:r>
              <a:rPr lang="en-US" altLang="zh-CN" sz="1400" dirty="0" err="1">
                <a:cs typeface="Times New Roman" panose="02020603050405020304" pitchFamily="18" charset="0"/>
              </a:rPr>
              <a:t>endl</a:t>
            </a:r>
            <a:r>
              <a:rPr lang="en-US" altLang="zh-CN" sz="1400" dirty="0">
                <a:cs typeface="Times New Roman" panose="02020603050405020304" pitchFamily="18" charset="0"/>
              </a:rPr>
              <a:t>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cs typeface="Times New Roman" panose="02020603050405020304" pitchFamily="18" charset="0"/>
              </a:rPr>
              <a:t>请选题（</a:t>
            </a:r>
            <a:r>
              <a:rPr lang="en-US" altLang="zh-CN" sz="1400" dirty="0">
                <a:cs typeface="Times New Roman" panose="02020603050405020304" pitchFamily="18" charset="0"/>
              </a:rPr>
              <a:t>1,2,3</a:t>
            </a:r>
            <a:r>
              <a:rPr lang="zh-CN" altLang="en-US" sz="1400" dirty="0">
                <a:cs typeface="Times New Roman" panose="02020603050405020304" pitchFamily="18" charset="0"/>
              </a:rPr>
              <a:t>）：</a:t>
            </a:r>
            <a:r>
              <a:rPr lang="en-US" altLang="zh-CN" sz="1400" dirty="0">
                <a:cs typeface="Times New Roman" panose="02020603050405020304" pitchFamily="18" charset="0"/>
              </a:rPr>
              <a:t>";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_______________________;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switch(n)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{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    case 1: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en-US" altLang="zh-CN" sz="1400" dirty="0">
                <a:solidFill>
                  <a:prstClr val="black"/>
                </a:solidFill>
              </a:rPr>
              <a:t>(    )</a:t>
            </a:r>
            <a:r>
              <a:rPr lang="zh-CN" altLang="en-US" sz="1400" dirty="0">
                <a:solidFill>
                  <a:prstClr val="black"/>
                </a:solidFill>
              </a:rPr>
              <a:t>带雨晚来急，野渡无人舟自横。</a:t>
            </a:r>
            <a:r>
              <a:rPr lang="en-US" altLang="zh-CN" sz="1400" dirty="0">
                <a:cs typeface="Times New Roman" panose="02020603050405020304" pitchFamily="18" charset="0"/>
              </a:rPr>
              <a:t>"; break;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    case 2: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</a:rPr>
              <a:t>忽如一夜（  ）来，千树万树梨花开。</a:t>
            </a:r>
            <a:r>
              <a:rPr lang="en-US" altLang="zh-CN" sz="1400" dirty="0">
                <a:cs typeface="Times New Roman" panose="02020603050405020304" pitchFamily="18" charset="0"/>
              </a:rPr>
              <a:t>"; break;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    _______: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</a:rPr>
              <a:t>（  ）满园关不住，一枝红杏出墙来。</a:t>
            </a:r>
            <a:r>
              <a:rPr lang="en-US" altLang="zh-CN" sz="1400" dirty="0">
                <a:cs typeface="Times New Roman" panose="02020603050405020304" pitchFamily="18" charset="0"/>
              </a:rPr>
              <a:t>"; break;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    default:  </a:t>
            </a:r>
            <a:r>
              <a:rPr lang="en-US" altLang="zh-CN" sz="1400" dirty="0" err="1"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cs typeface="Times New Roman" panose="02020603050405020304" pitchFamily="18" charset="0"/>
              </a:rPr>
              <a:t>输入不正确</a:t>
            </a:r>
            <a:r>
              <a:rPr lang="en-US" altLang="zh-CN" sz="1400" dirty="0">
                <a:cs typeface="Times New Roman" panose="02020603050405020304" pitchFamily="18" charset="0"/>
              </a:rPr>
              <a:t>.";break;      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}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    return 0;</a:t>
            </a:r>
            <a:endParaRPr lang="en-US" altLang="zh-CN" sz="1400" dirty="0">
              <a:cs typeface="Times New Roman" panose="02020603050405020304" pitchFamily="18" charset="0"/>
            </a:endParaRPr>
          </a:p>
          <a:p>
            <a:r>
              <a:rPr lang="en-US" altLang="zh-CN" sz="1400" dirty="0">
                <a:cs typeface="Times New Roman" panose="02020603050405020304" pitchFamily="18" charset="0"/>
              </a:rPr>
              <a:t>}  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1981</Words>
  <Application>WPS 演示</Application>
  <PresentationFormat>全屏显示(16:9)</PresentationFormat>
  <Paragraphs>145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成绩等级——switch语句</vt:lpstr>
      <vt:lpstr> 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110</cp:revision>
  <dcterms:created xsi:type="dcterms:W3CDTF">2018-07-03T13:24:00Z</dcterms:created>
  <dcterms:modified xsi:type="dcterms:W3CDTF">2021-04-13T03:25:50Z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