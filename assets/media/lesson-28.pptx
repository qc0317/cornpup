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  <p:sldId id="258" r:id="rId4"/>
    <p:sldId id="269" r:id="rId5"/>
    <p:sldId id="281" r:id="rId6"/>
    <p:sldId id="282" r:id="rId7"/>
    <p:sldId id="283" r:id="rId8"/>
    <p:sldId id="275" r:id="rId9"/>
    <p:sldId id="267" r:id="rId10"/>
    <p:sldId id="280" r:id="rId11"/>
    <p:sldId id="286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老狼老狼几点钟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(for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286" y="1452443"/>
            <a:ext cx="7787208" cy="867543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2000" dirty="0"/>
              <a:t>美美是个勤奋的孩子，她每天都会练习半小时的钢琴。</a:t>
            </a:r>
            <a:endParaRPr lang="en-US" altLang="zh-CN" sz="2000" dirty="0"/>
          </a:p>
          <a:p>
            <a:r>
              <a:rPr lang="zh-CN" altLang="en-US" sz="2000" dirty="0"/>
              <a:t>每天都重复做一件事需要毅力，美美真是个了不起的好孩子。</a:t>
            </a:r>
            <a:endParaRPr lang="en-US" altLang="zh-CN" sz="2000" dirty="0"/>
          </a:p>
          <a:p>
            <a:r>
              <a:rPr lang="zh-CN" altLang="en-US" sz="2000" dirty="0"/>
              <a:t>计算机非常擅长做这种重复性的工作。</a:t>
            </a:r>
            <a:endParaRPr lang="zh-CN" alt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2483768" y="2823515"/>
            <a:ext cx="4608512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让程序的中的某些代码反复执行多次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就叫做循环结构。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程序的三种基本结构：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顺序结构、选择结构、循环结构</a:t>
            </a:r>
            <a:endParaRPr lang="en-US" altLang="zh-CN" sz="2000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118" y="2931790"/>
            <a:ext cx="1038476" cy="1082982"/>
          </a:xfrm>
          <a:prstGeom prst="rect">
            <a:avLst/>
          </a:prstGeom>
        </p:spPr>
      </p:pic>
      <p:pic>
        <p:nvPicPr>
          <p:cNvPr id="9" name="图片 8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27876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图片 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707654"/>
            <a:ext cx="2889448" cy="279233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571999" y="1779662"/>
            <a:ext cx="3126177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老狼老狼几点钟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?  1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点钟。</a:t>
            </a:r>
            <a:endParaRPr lang="en-US" altLang="zh-CN" kern="100" dirty="0">
              <a:latin typeface="Consolas" panose="020B0609020204030204" pitchFamily="49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老狼老狼几点钟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?  2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点钟。</a:t>
            </a:r>
            <a:endParaRPr lang="zh-CN" altLang="en-US" dirty="0"/>
          </a:p>
          <a:p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老狼老狼几点钟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?  3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点钟。</a:t>
            </a:r>
            <a:endParaRPr lang="zh-CN" altLang="en-US" dirty="0"/>
          </a:p>
          <a:p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老狼老狼几点钟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?  4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点钟。</a:t>
            </a:r>
            <a:endParaRPr lang="zh-CN" altLang="en-US" dirty="0"/>
          </a:p>
          <a:p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老狼老狼几点钟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?  5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点钟。</a:t>
            </a:r>
            <a:endParaRPr lang="en-US" altLang="zh-CN" kern="100" dirty="0">
              <a:latin typeface="Consolas" panose="020B0609020204030204" pitchFamily="49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。。。。。。</a:t>
            </a:r>
            <a:endParaRPr lang="zh-CN" altLang="en-US" dirty="0"/>
          </a:p>
          <a:p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老狼老狼几点钟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?  11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点钟。</a:t>
            </a:r>
            <a:endParaRPr lang="zh-CN" altLang="en-US" dirty="0"/>
          </a:p>
          <a:p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老狼老狼几点钟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?  12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点钟。</a:t>
            </a:r>
            <a:endParaRPr lang="zh-CN" altLang="en-US" dirty="0"/>
          </a:p>
          <a:p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狼来了，快跑！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51720" y="1162948"/>
            <a:ext cx="4526280" cy="368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明明和美美在玩“老狼老狼几点钟”的游戏</a:t>
            </a:r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683568" y="556791"/>
            <a:ext cx="396044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1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2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3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4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5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6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7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8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9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10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11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老狼老狼几点钟</a:t>
            </a:r>
            <a:r>
              <a:rPr lang="en-US" altLang="zh-CN" sz="1400" dirty="0"/>
              <a:t>?  12</a:t>
            </a:r>
            <a:r>
              <a:rPr lang="zh-CN" altLang="en-US" sz="1400" dirty="0"/>
              <a:t>点钟。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狼来了，快跑！</a:t>
            </a:r>
            <a:r>
              <a:rPr lang="en-US" altLang="zh-CN" sz="1400" dirty="0"/>
              <a:t>"&lt;&lt;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return 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5047951" y="1076890"/>
            <a:ext cx="3570208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你认为这个程序好不好？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为什么？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0175" y="2229018"/>
            <a:ext cx="4185761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如果要重复几百次、几千次，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甚至几万次呢？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8183" y="3364597"/>
            <a:ext cx="4185761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如果能告诉计算机让它把某些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语句执行多少次就好了！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这就是循环语句。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ldLvl="0" animBg="1"/>
      <p:bldP spid="8" grpId="0" bldLvl="0" animBg="1"/>
      <p:bldP spid="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80" y="837024"/>
            <a:ext cx="3498880" cy="374441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540568" y="1765030"/>
            <a:ext cx="58326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1200" algn="just">
              <a:spcAft>
                <a:spcPts val="0"/>
              </a:spcAft>
            </a:pPr>
            <a:r>
              <a:rPr lang="en-US" altLang="zh-CN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for(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循环变量赋初值</a:t>
            </a:r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循环条件</a:t>
            </a:r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循环变量增值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zh-CN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indent="88900" algn="just">
              <a:spcAft>
                <a:spcPts val="0"/>
              </a:spcAft>
            </a:pPr>
            <a:r>
              <a:rPr lang="en-US" altLang="zh-CN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          </a:t>
            </a:r>
            <a:r>
              <a:rPr lang="zh-CN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7544" y="3173017"/>
            <a:ext cx="469712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en-US" altLang="zh-CN" kern="100" dirty="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就是循环体，也就是要重复执行的部分</a:t>
            </a:r>
            <a:endParaRPr lang="en-US" altLang="zh-CN" kern="100" dirty="0">
              <a:latin typeface="Consolas" panose="020B0609020204030204" pitchFamily="49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可以是一条简单的语句，</a:t>
            </a:r>
            <a:endParaRPr lang="en-US" altLang="zh-CN" kern="100" dirty="0">
              <a:latin typeface="Consolas" panose="020B0609020204030204" pitchFamily="49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也可以是用</a:t>
            </a:r>
            <a:r>
              <a:rPr lang="en-US" altLang="zh-CN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{}</a:t>
            </a:r>
            <a:r>
              <a:rPr lang="zh-CN" altLang="en-US" kern="100" dirty="0">
                <a:latin typeface="Consolas" panose="020B0609020204030204" pitchFamily="49" charset="0"/>
                <a:ea typeface="楷体" panose="02010609060101010101" pitchFamily="49" charset="-122"/>
                <a:cs typeface="Times New Roman" panose="02020603050405020304" pitchFamily="18" charset="0"/>
              </a:rPr>
              <a:t>括起来的复合语句。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772309"/>
            <a:ext cx="3225328" cy="388433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718270" y="843558"/>
            <a:ext cx="48965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i;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>
                <a:solidFill>
                  <a:srgbClr val="C00000"/>
                </a:solidFill>
              </a:rPr>
              <a:t>for(i=1;i&lt;=12;i++)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en-US" altLang="zh-CN" sz="1600" dirty="0">
                <a:solidFill>
                  <a:srgbClr val="C00000"/>
                </a:solidFill>
              </a:rPr>
              <a:t>       </a:t>
            </a:r>
            <a:r>
              <a:rPr lang="en-US" altLang="zh-CN" sz="1600" dirty="0" err="1">
                <a:solidFill>
                  <a:srgbClr val="C00000"/>
                </a:solidFill>
              </a:rPr>
              <a:t>cout</a:t>
            </a:r>
            <a:r>
              <a:rPr lang="en-US" altLang="zh-CN" sz="1600" dirty="0">
                <a:solidFill>
                  <a:srgbClr val="C00000"/>
                </a:solidFill>
              </a:rPr>
              <a:t>&lt;&lt;"</a:t>
            </a:r>
            <a:r>
              <a:rPr lang="zh-CN" altLang="en-US" sz="1600" dirty="0">
                <a:solidFill>
                  <a:srgbClr val="C00000"/>
                </a:solidFill>
              </a:rPr>
              <a:t>老狼老狼几点钟</a:t>
            </a:r>
            <a:r>
              <a:rPr lang="en-US" altLang="zh-CN" sz="1600" dirty="0">
                <a:solidFill>
                  <a:srgbClr val="C00000"/>
                </a:solidFill>
              </a:rPr>
              <a:t>?  "&lt;&lt;i&lt;&lt;"</a:t>
            </a:r>
            <a:r>
              <a:rPr lang="zh-CN" altLang="en-US" sz="1600" dirty="0">
                <a:solidFill>
                  <a:srgbClr val="C00000"/>
                </a:solidFill>
              </a:rPr>
              <a:t>点钟。</a:t>
            </a:r>
            <a:r>
              <a:rPr lang="en-US" altLang="zh-CN" sz="1600" dirty="0">
                <a:solidFill>
                  <a:srgbClr val="C00000"/>
                </a:solidFill>
              </a:rPr>
              <a:t>"&lt;&lt;</a:t>
            </a:r>
            <a:r>
              <a:rPr lang="en-US" altLang="zh-CN" sz="1600" dirty="0" err="1">
                <a:solidFill>
                  <a:srgbClr val="C00000"/>
                </a:solidFill>
              </a:rPr>
              <a:t>endl</a:t>
            </a:r>
            <a:r>
              <a:rPr lang="en-US" altLang="zh-CN" sz="1600" dirty="0">
                <a:solidFill>
                  <a:srgbClr val="C00000"/>
                </a:solidFill>
              </a:rPr>
              <a:t>;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en-US" altLang="zh-CN" sz="1600" dirty="0"/>
              <a:t>  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狼来了，快跑！</a:t>
            </a:r>
            <a:r>
              <a:rPr lang="en-US" altLang="zh-CN" sz="1600" dirty="0"/>
              <a:t>"&lt;&lt;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return 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712" y="3130137"/>
            <a:ext cx="1522088" cy="1526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059582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7416824" cy="2958976"/>
          </a:xfrm>
        </p:spPr>
        <p:txBody>
          <a:bodyPr/>
          <a:lstStyle/>
          <a:p>
            <a:pPr lvl="1"/>
            <a:r>
              <a:rPr lang="en-US" altLang="zh-CN" sz="3200" dirty="0"/>
              <a:t>for   </a:t>
            </a:r>
            <a:r>
              <a:rPr lang="en-US" altLang="zh-CN" sz="3200" dirty="0" err="1"/>
              <a:t>for</a:t>
            </a:r>
            <a:r>
              <a:rPr lang="zh-CN" altLang="en-US" sz="3200" dirty="0"/>
              <a:t>循环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451" y="2460994"/>
            <a:ext cx="1969685" cy="20914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968" y="67915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变量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的初始值为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，在下列语句中，能让变量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的值在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两个值交替出现的是（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i=i+1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i=1-i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i=-i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i=i-1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52453" y="720962"/>
            <a:ext cx="4936302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#include &lt;</a:t>
            </a:r>
            <a:r>
              <a:rPr lang="en-US" altLang="zh-CN" sz="1400" b="0" dirty="0" err="1">
                <a:latin typeface="+mn-lt"/>
              </a:rPr>
              <a:t>iostream</a:t>
            </a:r>
            <a:r>
              <a:rPr lang="en-US" altLang="zh-CN" sz="1400" b="0" dirty="0">
                <a:latin typeface="+mn-lt"/>
              </a:rPr>
              <a:t>&gt;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using namespace </a:t>
            </a:r>
            <a:r>
              <a:rPr lang="en-US" altLang="zh-CN" sz="1400" b="0" dirty="0" err="1">
                <a:latin typeface="+mn-lt"/>
              </a:rPr>
              <a:t>std</a:t>
            </a:r>
            <a:r>
              <a:rPr lang="en-US" altLang="zh-CN" sz="1400" b="0" dirty="0">
                <a:latin typeface="+mn-lt"/>
              </a:rPr>
              <a:t>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+mn-lt"/>
              </a:rPr>
              <a:t>int</a:t>
            </a:r>
            <a:r>
              <a:rPr lang="en-US" altLang="zh-CN" sz="1400" b="0" dirty="0">
                <a:latin typeface="+mn-lt"/>
              </a:rPr>
              <a:t> main()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{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</a:t>
            </a:r>
            <a:r>
              <a:rPr lang="en-US" altLang="zh-CN" sz="1400" b="0" dirty="0" err="1">
                <a:latin typeface="+mn-lt"/>
              </a:rPr>
              <a:t>int</a:t>
            </a:r>
            <a:r>
              <a:rPr lang="en-US" altLang="zh-CN" sz="1400" b="0" dirty="0">
                <a:latin typeface="+mn-lt"/>
              </a:rPr>
              <a:t>  i;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for(i=1;i&lt;=5;i++)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{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       </a:t>
            </a:r>
            <a:r>
              <a:rPr lang="en-US" altLang="zh-CN" sz="1400" b="0" dirty="0" err="1">
                <a:latin typeface="+mn-lt"/>
              </a:rPr>
              <a:t>cout</a:t>
            </a:r>
            <a:r>
              <a:rPr lang="en-US" altLang="zh-CN" sz="1400" b="0" dirty="0">
                <a:latin typeface="+mn-lt"/>
              </a:rPr>
              <a:t>&lt;&lt;'*';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}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</a:t>
            </a:r>
            <a:r>
              <a:rPr lang="en-US" altLang="zh-CN" sz="1400" b="0" dirty="0" err="1">
                <a:latin typeface="+mn-lt"/>
              </a:rPr>
              <a:t>cout</a:t>
            </a:r>
            <a:r>
              <a:rPr lang="en-US" altLang="zh-CN" sz="1400" b="0" dirty="0">
                <a:latin typeface="+mn-lt"/>
              </a:rPr>
              <a:t>&lt;&lt;i&lt;&lt;</a:t>
            </a:r>
            <a:r>
              <a:rPr lang="en-US" altLang="zh-CN" sz="1400" b="0" dirty="0" err="1">
                <a:latin typeface="+mn-lt"/>
              </a:rPr>
              <a:t>endl</a:t>
            </a:r>
            <a:r>
              <a:rPr lang="en-US" altLang="zh-CN" sz="1400" b="0" dirty="0">
                <a:latin typeface="+mn-lt"/>
              </a:rPr>
              <a:t>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      return 0;</a:t>
            </a:r>
            <a:endParaRPr lang="en-US" altLang="zh-CN" sz="1400" b="0" dirty="0">
              <a:latin typeface="+mn-lt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+mn-lt"/>
              </a:rPr>
              <a:t>}</a:t>
            </a:r>
            <a:endParaRPr lang="en-US" altLang="zh-CN" sz="1400" b="0" dirty="0">
              <a:latin typeface="+mn-lt"/>
            </a:endParaRPr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44208" y="1773743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i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308" y="3338859"/>
            <a:ext cx="1098826" cy="13062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  <p:bldP spid="8" grpId="0" animBg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36646" y="1131590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43608" y="1923678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输出</a:t>
            </a:r>
            <a:r>
              <a:rPr lang="en-US" altLang="zh-CN" sz="1800" b="0" dirty="0">
                <a:solidFill>
                  <a:prstClr val="black"/>
                </a:solidFill>
              </a:rPr>
              <a:t>1--100</a:t>
            </a:r>
            <a:r>
              <a:rPr lang="zh-CN" altLang="en-US" sz="1800" b="0" dirty="0">
                <a:solidFill>
                  <a:prstClr val="black"/>
                </a:solidFill>
              </a:rPr>
              <a:t>的所有的整数。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37370" y="1067127"/>
            <a:ext cx="451109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for(i=1;_________;_________)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&lt;&lt;i&lt;&lt;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94732" y="4210819"/>
            <a:ext cx="3860800" cy="3683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1535</Words>
  <Application>WPS 演示</Application>
  <PresentationFormat>全屏显示(16:9)</PresentationFormat>
  <Paragraphs>135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黑体</vt:lpstr>
      <vt:lpstr>仿宋</vt:lpstr>
      <vt:lpstr>微软雅黑</vt:lpstr>
      <vt:lpstr>Consolas</vt:lpstr>
      <vt:lpstr>楷体</vt:lpstr>
      <vt:lpstr>Times New Roman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 </vt:lpstr>
      <vt:lpstr>PowerPoint 演示文稿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67</cp:revision>
  <dcterms:created xsi:type="dcterms:W3CDTF">2018-07-03T13:24:00Z</dcterms:created>
  <dcterms:modified xsi:type="dcterms:W3CDTF">2021-06-17T01:34:58Z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386B3AC1C09743BCABF2F1E570BEA026</vt:lpwstr>
  </property>
  <property fmtid="{D5CDD505-2E9C-101B-9397-08002B2CF9AE}" pid="3" name="KSOProductBuildVer">
    <vt:lpwstr>2052-11.1.0.10577</vt:lpwstr>
  </property>
</Properties>
</file>