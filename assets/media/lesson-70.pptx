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2"/>
    <p:sldId id="283" r:id="rId3"/>
    <p:sldId id="289" r:id="rId4"/>
    <p:sldId id="290" r:id="rId5"/>
    <p:sldId id="291" r:id="rId6"/>
    <p:sldId id="267" r:id="rId7"/>
    <p:sldId id="288" r:id="rId8"/>
    <p:sldId id="280" r:id="rId9"/>
    <p:sldId id="293" r:id="rId1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GIF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70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奶糖与巧克力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模拟法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7906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奶糖与巧克力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模拟法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217" y="1347614"/>
            <a:ext cx="6731000" cy="9220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年年喜欢奶糖，小风喜欢巧克力。</a:t>
            </a:r>
            <a:endParaRPr lang="en-US" altLang="zh-CN" dirty="0"/>
          </a:p>
          <a:p>
            <a:r>
              <a:rPr lang="en-US" altLang="zh-CN" dirty="0"/>
              <a:t>15</a:t>
            </a:r>
            <a:r>
              <a:rPr lang="zh-CN" altLang="en-US" dirty="0"/>
              <a:t>块奶糖和</a:t>
            </a:r>
            <a:r>
              <a:rPr lang="en-US" altLang="zh-CN" dirty="0"/>
              <a:t>15</a:t>
            </a:r>
            <a:r>
              <a:rPr lang="zh-CN" altLang="en-US" dirty="0"/>
              <a:t>块巧克力排成一圈，菲菲老师要求年年按</a:t>
            </a:r>
            <a:r>
              <a:rPr lang="en-US" altLang="zh-CN" dirty="0"/>
              <a:t>1--9</a:t>
            </a:r>
            <a:r>
              <a:rPr lang="zh-CN" altLang="en-US" dirty="0"/>
              <a:t>数数，</a:t>
            </a:r>
            <a:endParaRPr lang="en-US" altLang="zh-CN" dirty="0"/>
          </a:p>
          <a:p>
            <a:r>
              <a:rPr lang="zh-CN" altLang="en-US" dirty="0"/>
              <a:t>逢</a:t>
            </a:r>
            <a:r>
              <a:rPr lang="en-US" altLang="zh-CN" dirty="0"/>
              <a:t>9</a:t>
            </a:r>
            <a:r>
              <a:rPr lang="zh-CN" altLang="en-US" dirty="0"/>
              <a:t>取出，直到剩下</a:t>
            </a:r>
            <a:r>
              <a:rPr lang="en-US" altLang="zh-CN" dirty="0"/>
              <a:t>15</a:t>
            </a:r>
            <a:r>
              <a:rPr lang="zh-CN" altLang="en-US" dirty="0"/>
              <a:t>块巧克力为止。</a:t>
            </a:r>
            <a:endParaRPr lang="en-US" altLang="zh-CN" dirty="0"/>
          </a:p>
        </p:txBody>
      </p:sp>
      <p:sp>
        <p:nvSpPr>
          <p:cNvPr id="6" name="AutoShape 1037"/>
          <p:cNvSpPr>
            <a:spLocks noChangeArrowheads="1"/>
          </p:cNvSpPr>
          <p:nvPr/>
        </p:nvSpPr>
        <p:spPr bwMode="auto">
          <a:xfrm>
            <a:off x="3215799" y="2355726"/>
            <a:ext cx="4483074" cy="2122401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试编一程序，算一算求这</a:t>
            </a:r>
            <a:r>
              <a:rPr 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15</a:t>
            </a:r>
            <a:r>
              <a:rPr lang="zh-CN" alt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块奶糖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和</a:t>
            </a:r>
            <a:r>
              <a:rPr 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15</a:t>
            </a:r>
            <a:r>
              <a:rPr lang="zh-CN" alt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块巧克力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如何排列，才能使剩下的</a:t>
            </a:r>
            <a:r>
              <a:rPr 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15</a:t>
            </a:r>
            <a:r>
              <a:rPr lang="zh-CN" alt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块</a:t>
            </a:r>
            <a:r>
              <a:rPr lang="zh-CN" altLang="zh-CN" sz="2800" kern="1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全是巧克力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。</a:t>
            </a:r>
            <a:endParaRPr lang="zh-CN" sz="28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 descr="图片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430" y="2269490"/>
            <a:ext cx="2247900" cy="2257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ldLvl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77446" y="1059582"/>
            <a:ext cx="2765684" cy="38309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模拟取出的过程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用数组</a:t>
            </a:r>
            <a:r>
              <a:rPr lang="en-US" altLang="zh-CN" dirty="0"/>
              <a:t>a</a:t>
            </a:r>
            <a:r>
              <a:rPr lang="zh-CN" altLang="en-US" dirty="0"/>
              <a:t>的下标表示奶糖或巧克力在圈中的位置，其元素值</a:t>
            </a:r>
            <a:r>
              <a:rPr lang="en-US" altLang="zh-CN" dirty="0"/>
              <a:t>a[i]</a:t>
            </a:r>
            <a:r>
              <a:rPr lang="zh-CN" altLang="en-US" dirty="0"/>
              <a:t>为</a:t>
            </a:r>
            <a:r>
              <a:rPr lang="en-US" altLang="zh-CN" dirty="0"/>
              <a:t>0</a:t>
            </a:r>
            <a:r>
              <a:rPr lang="zh-CN" altLang="en-US" dirty="0"/>
              <a:t>时表示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仍在圈内，为</a:t>
            </a:r>
            <a:r>
              <a:rPr lang="en-US" altLang="zh-CN" dirty="0"/>
              <a:t>1</a:t>
            </a:r>
            <a:r>
              <a:rPr lang="zh-CN" altLang="en-US" dirty="0"/>
              <a:t>则表示已经取出，用变量</a:t>
            </a:r>
            <a:r>
              <a:rPr lang="en-US" altLang="zh-CN" dirty="0" err="1"/>
              <a:t>num</a:t>
            </a:r>
            <a:r>
              <a:rPr lang="zh-CN" altLang="en-US" dirty="0"/>
              <a:t>表示已取出的个数，变量</a:t>
            </a:r>
            <a:r>
              <a:rPr lang="en-US" altLang="zh-CN" dirty="0"/>
              <a:t>top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表示第一次开始数的位置，变量</a:t>
            </a:r>
            <a:r>
              <a:rPr lang="en-US" altLang="zh-CN" dirty="0"/>
              <a:t>k</a:t>
            </a:r>
            <a:r>
              <a:rPr lang="zh-CN" altLang="en-US" dirty="0"/>
              <a:t>的值为所数的数。</a:t>
            </a:r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945" y="992318"/>
            <a:ext cx="3528070" cy="364672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9080" y="2096687"/>
            <a:ext cx="2059655" cy="2662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94970" y="688032"/>
            <a:ext cx="2765684" cy="42462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模拟取出的过程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每当数到</a:t>
            </a:r>
            <a:r>
              <a:rPr lang="en-US" altLang="zh-CN" dirty="0"/>
              <a:t>9(k==9)</a:t>
            </a:r>
            <a:r>
              <a:rPr lang="zh-CN" altLang="en-US" dirty="0"/>
              <a:t>时，赋值</a:t>
            </a:r>
            <a:r>
              <a:rPr lang="en-US" altLang="zh-CN" dirty="0"/>
              <a:t>a[i]=1</a:t>
            </a:r>
            <a:r>
              <a:rPr lang="zh-CN" altLang="en-US" dirty="0"/>
              <a:t>表示取出，同时将</a:t>
            </a:r>
            <a:r>
              <a:rPr lang="en-US" altLang="zh-CN" dirty="0"/>
              <a:t>k</a:t>
            </a:r>
            <a:r>
              <a:rPr lang="zh-CN" altLang="en-US" dirty="0"/>
              <a:t>赋值为</a:t>
            </a:r>
            <a:r>
              <a:rPr lang="en-US" altLang="zh-CN" dirty="0"/>
              <a:t>0</a:t>
            </a:r>
            <a:r>
              <a:rPr lang="zh-CN" altLang="en-US" dirty="0"/>
              <a:t>，重新开始数数。当取出个数达到</a:t>
            </a:r>
            <a:r>
              <a:rPr lang="en-US" altLang="zh-CN" dirty="0"/>
              <a:t>15</a:t>
            </a:r>
            <a:r>
              <a:rPr lang="zh-CN" altLang="en-US" dirty="0"/>
              <a:t>时</a:t>
            </a:r>
            <a:r>
              <a:rPr lang="en-US" altLang="zh-CN" dirty="0"/>
              <a:t>(</a:t>
            </a:r>
            <a:r>
              <a:rPr lang="en-US" altLang="zh-CN" dirty="0" err="1"/>
              <a:t>num</a:t>
            </a:r>
            <a:r>
              <a:rPr lang="en-US" altLang="zh-CN" dirty="0"/>
              <a:t>==15)</a:t>
            </a:r>
            <a:r>
              <a:rPr lang="zh-CN" altLang="en-US" dirty="0"/>
              <a:t>，检索数组各元素的值，为</a:t>
            </a:r>
            <a:r>
              <a:rPr lang="en-US" altLang="zh-CN" dirty="0"/>
              <a:t>0</a:t>
            </a:r>
            <a:r>
              <a:rPr lang="zh-CN" altLang="en-US" dirty="0"/>
              <a:t>表示仍在圈内，就输出它们的编号，代表把巧克力放在这些位置。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9" y="745667"/>
            <a:ext cx="1657262" cy="40140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438" y="2067694"/>
            <a:ext cx="2059338" cy="21899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966" y="963310"/>
            <a:ext cx="4025610" cy="1812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760" y="1293622"/>
            <a:ext cx="4650879" cy="3309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2737996"/>
            <a:ext cx="2148830" cy="2148830"/>
          </a:xfrm>
          <a:prstGeom prst="rect">
            <a:avLst/>
          </a:prstGeom>
        </p:spPr>
      </p:pic>
      <p:pic>
        <p:nvPicPr>
          <p:cNvPr id="3" name="图片 2" descr="S_)KY]XYKMJ8{~_4SPR_3HB"/>
          <p:cNvPicPr>
            <a:picLocks noChangeAspect="1"/>
          </p:cNvPicPr>
          <p:nvPr/>
        </p:nvPicPr>
        <p:blipFill>
          <a:blip r:embed="rId6"/>
          <a:srcRect t="12448" b="11356"/>
          <a:stretch>
            <a:fillRect/>
          </a:stretch>
        </p:blipFill>
        <p:spPr>
          <a:xfrm>
            <a:off x="4643755" y="3580130"/>
            <a:ext cx="2447925" cy="218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555526"/>
            <a:ext cx="77768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1560" y="1059582"/>
            <a:ext cx="777686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   为了有效地保障计算机的数据安全，下列做法不正确的是（  ）。</a:t>
            </a: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不使用非法复制的软件</a:t>
            </a:r>
            <a:endParaRPr lang="en-US" altLang="zh-CN" sz="2000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对重要的程序和数据进行备份</a:t>
            </a:r>
            <a:endParaRPr lang="en-US" altLang="zh-CN" sz="2000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不使用计算机</a:t>
            </a:r>
            <a:endParaRPr lang="en-US" altLang="zh-CN" sz="2000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安装杀毒软件</a:t>
            </a:r>
            <a:endParaRPr lang="en-US" altLang="zh-CN" sz="2000" dirty="0"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7201" y="3578639"/>
            <a:ext cx="1406190" cy="10604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548" y="512605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39552" y="1203598"/>
            <a:ext cx="4936302" cy="1440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、阅读程序写结果。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latin typeface="+mn-lt"/>
              </a:rPr>
              <a:t>        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</a:t>
            </a:r>
            <a:endParaRPr lang="en-US" altLang="zh-CN" dirty="0"/>
          </a:p>
        </p:txBody>
      </p:sp>
      <p:sp>
        <p:nvSpPr>
          <p:cNvPr id="8" name="TextBox 7"/>
          <p:cNvSpPr txBox="1"/>
          <p:nvPr/>
        </p:nvSpPr>
        <p:spPr>
          <a:xfrm>
            <a:off x="683568" y="2283718"/>
            <a:ext cx="2736304" cy="116955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  sum[0]   sum[1]       i     n    </a:t>
            </a:r>
            <a:r>
              <a:rPr lang="en-US" altLang="zh-CN" sz="1400" dirty="0" err="1"/>
              <a:t>ans</a:t>
            </a:r>
            <a:r>
              <a:rPr lang="en-US" altLang="zh-CN" sz="1400" dirty="0"/>
              <a:t> </a:t>
            </a:r>
          </a:p>
          <a:p>
            <a:r>
              <a:rPr lang="en-US" altLang="zh-CN" sz="1400" dirty="0"/>
              <a:t>--------------------------------------------</a:t>
            </a:r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zh-CN" altLang="en-US" sz="1400" dirty="0"/>
          </a:p>
        </p:txBody>
      </p:sp>
      <p:sp>
        <p:nvSpPr>
          <p:cNvPr id="3" name="矩形 2"/>
          <p:cNvSpPr/>
          <p:nvPr/>
        </p:nvSpPr>
        <p:spPr>
          <a:xfrm>
            <a:off x="827584" y="4083917"/>
            <a:ext cx="20938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输入：</a:t>
            </a:r>
            <a:r>
              <a:rPr lang="en-US" altLang="zh-CN" dirty="0"/>
              <a:t>10</a:t>
            </a:r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9968" y="824629"/>
            <a:ext cx="2990850" cy="407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724" y="3723878"/>
            <a:ext cx="1406190" cy="10604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568" y="589857"/>
            <a:ext cx="4119657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</a:p>
        </p:txBody>
      </p:sp>
      <p:sp>
        <p:nvSpPr>
          <p:cNvPr id="6" name="内容占位符 2"/>
          <p:cNvSpPr txBox="1"/>
          <p:nvPr/>
        </p:nvSpPr>
        <p:spPr>
          <a:xfrm>
            <a:off x="467544" y="1267530"/>
            <a:ext cx="316835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prstClr val="black"/>
                </a:solidFill>
              </a:rPr>
              <a:t>3</a:t>
            </a:r>
            <a:r>
              <a:rPr lang="zh-CN" altLang="en-US" dirty="0">
                <a:solidFill>
                  <a:prstClr val="black"/>
                </a:solidFill>
              </a:rPr>
              <a:t>、完善程序。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600" b="0" dirty="0">
                <a:solidFill>
                  <a:prstClr val="black"/>
                </a:solidFill>
                <a:latin typeface="+mn-ea"/>
                <a:ea typeface="+mn-ea"/>
              </a:rPr>
              <a:t>10</a:t>
            </a:r>
            <a:r>
              <a:rPr lang="zh-CN" altLang="en-US" sz="1600" b="0" dirty="0">
                <a:solidFill>
                  <a:prstClr val="black"/>
                </a:solidFill>
                <a:latin typeface="+mn-ea"/>
                <a:ea typeface="+mn-ea"/>
              </a:rPr>
              <a:t>个小朋友手拉手站成一个圆圈，从第一个小朋友开始报数，报到</a:t>
            </a:r>
            <a:r>
              <a:rPr lang="en-US" altLang="zh-CN" sz="1600" b="0" dirty="0">
                <a:solidFill>
                  <a:prstClr val="black"/>
                </a:solidFill>
                <a:latin typeface="+mn-ea"/>
                <a:ea typeface="+mn-ea"/>
              </a:rPr>
              <a:t>n</a:t>
            </a:r>
            <a:r>
              <a:rPr lang="zh-CN" altLang="en-US" sz="1600" b="0" dirty="0">
                <a:solidFill>
                  <a:prstClr val="black"/>
                </a:solidFill>
                <a:latin typeface="+mn-ea"/>
                <a:ea typeface="+mn-ea"/>
              </a:rPr>
              <a:t>的那个小朋友退出圈外，然后从他的下一个小朋友开始重新报数，输出依次出圈的编号顺序。</a:t>
            </a:r>
            <a:endParaRPr lang="en-US" altLang="zh-CN" sz="16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1586" y="717307"/>
            <a:ext cx="5220846" cy="4185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328" y="3752040"/>
            <a:ext cx="1406190" cy="10604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</Words>
  <Application>Microsoft Office PowerPoint</Application>
  <PresentationFormat>全屏显示(16:9)</PresentationFormat>
  <Paragraphs>36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仿宋</vt:lpstr>
      <vt:lpstr>黑体</vt:lpstr>
      <vt:lpstr>楷体</vt:lpstr>
      <vt:lpstr>宋体</vt:lpstr>
      <vt:lpstr>微软雅黑</vt:lpstr>
      <vt:lpstr>Arial</vt:lpstr>
      <vt:lpstr>Calibri</vt:lpstr>
      <vt:lpstr>Office 主题</vt:lpstr>
      <vt:lpstr>PowerPoint 演示文稿</vt:lpstr>
      <vt:lpstr>奶糖与巧克力——模拟法</vt:lpstr>
      <vt:lpstr> </vt:lpstr>
      <vt:lpstr> </vt:lpstr>
      <vt:lpstr> </vt:lpstr>
      <vt:lpstr>课后作业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asus</cp:lastModifiedBy>
  <cp:revision>137</cp:revision>
  <dcterms:created xsi:type="dcterms:W3CDTF">2018-07-03T13:24:00Z</dcterms:created>
  <dcterms:modified xsi:type="dcterms:W3CDTF">2021-11-03T01:42:51Z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F0BFA27B682245439A56AF89B13C0091</vt:lpwstr>
  </property>
  <property fmtid="{D5CDD505-2E9C-101B-9397-08002B2CF9AE}" pid="3" name="KSOProductBuildVer">
    <vt:lpwstr>2052-11.1.0.10700</vt:lpwstr>
  </property>
</Properties>
</file>