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gif" ContentType="image/gi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83" r:id="rId3"/>
    <p:sldId id="269" r:id="rId4"/>
    <p:sldId id="281" r:id="rId5"/>
    <p:sldId id="282" r:id="rId6"/>
    <p:sldId id="275" r:id="rId7"/>
    <p:sldId id="267" r:id="rId8"/>
    <p:sldId id="280" r:id="rId9"/>
    <p:sldId id="285" r:id="rId10"/>
  </p:sldIdLst>
  <p:sldSz cx="9144000" cy="5143500" type="screen16x9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8" d="100"/>
          <a:sy n="108" d="100"/>
        </p:scale>
        <p:origin x="730" y="72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>
            <a:normAutofit/>
          </a:bodyPr>
          <a:lstStyle>
            <a:lvl1pPr>
              <a:defRPr sz="36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 b="1">
                <a:latin typeface="仿宋" panose="02010609060101010101" pitchFamily="49" charset="-122"/>
                <a:ea typeface="仿宋" panose="02010609060101010101" pitchFamily="49" charset="-122"/>
              </a:defRPr>
            </a:lvl1pPr>
            <a:lvl2pPr>
              <a:defRPr sz="2000" b="1">
                <a:latin typeface="仿宋" panose="02010609060101010101" pitchFamily="49" charset="-122"/>
                <a:ea typeface="仿宋" panose="02010609060101010101" pitchFamily="49" charset="-122"/>
              </a:defRPr>
            </a:lvl2pPr>
            <a:lvl3pPr>
              <a:defRPr sz="1800" b="1">
                <a:latin typeface="仿宋" panose="02010609060101010101" pitchFamily="49" charset="-122"/>
                <a:ea typeface="仿宋" panose="02010609060101010101" pitchFamily="49" charset="-122"/>
              </a:defRPr>
            </a:lvl3pPr>
            <a:lvl4pPr>
              <a:defRPr sz="1600" b="1">
                <a:latin typeface="仿宋" panose="02010609060101010101" pitchFamily="49" charset="-122"/>
                <a:ea typeface="仿宋" panose="02010609060101010101" pitchFamily="49" charset="-122"/>
              </a:defRPr>
            </a:lvl4pPr>
            <a:lvl5pPr>
              <a:defRPr sz="1600" b="1">
                <a:latin typeface="仿宋" panose="02010609060101010101" pitchFamily="49" charset="-122"/>
                <a:ea typeface="仿宋" panose="02010609060101010101" pitchFamily="49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图片 6" descr="图片背景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1" Type="http://schemas.openxmlformats.org/officeDocument/2006/relationships/image" Target="../media/image6.GI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9.jpeg"/><Relationship Id="rId1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0456" y="771550"/>
            <a:ext cx="5688632" cy="2016973"/>
          </a:xfrm>
          <a:prstGeom prst="rect">
            <a:avLst/>
          </a:prstGeom>
        </p:spPr>
      </p:pic>
      <p:sp>
        <p:nvSpPr>
          <p:cNvPr id="7" name="object 6"/>
          <p:cNvSpPr/>
          <p:nvPr/>
        </p:nvSpPr>
        <p:spPr>
          <a:xfrm>
            <a:off x="1043608" y="2139702"/>
            <a:ext cx="7992888" cy="223224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" name="文本框 1"/>
          <p:cNvSpPr txBox="1"/>
          <p:nvPr/>
        </p:nvSpPr>
        <p:spPr>
          <a:xfrm>
            <a:off x="1743890" y="2353296"/>
            <a:ext cx="633670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42</a:t>
            </a:r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课时</a:t>
            </a:r>
            <a:endParaRPr lang="zh-CN" altLang="en-US" sz="40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936104" y="3255826"/>
            <a:ext cx="810039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蜗牛与葡萄树</a:t>
            </a:r>
            <a:r>
              <a:rPr lang="en-US" altLang="zh-CN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死循环</a:t>
            </a:r>
            <a:r>
              <a:rPr lang="en-US" altLang="zh-CN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sz="40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2"/>
          <p:cNvSpPr/>
          <p:nvPr/>
        </p:nvSpPr>
        <p:spPr>
          <a:xfrm>
            <a:off x="63564" y="299985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" name="object 3"/>
          <p:cNvSpPr/>
          <p:nvPr/>
        </p:nvSpPr>
        <p:spPr>
          <a:xfrm>
            <a:off x="107504" y="428533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3568" y="686168"/>
            <a:ext cx="8229600" cy="641226"/>
          </a:xfrm>
        </p:spPr>
        <p:txBody>
          <a:bodyPr/>
          <a:lstStyle/>
          <a:p>
            <a:r>
              <a:rPr lang="zh-CN" altLang="en-US" dirty="0">
                <a:solidFill>
                  <a:srgbClr val="00B0F0"/>
                </a:solidFill>
              </a:rPr>
              <a:t>蜗牛与葡萄树</a:t>
            </a:r>
            <a:r>
              <a:rPr lang="en-US" altLang="zh-CN" sz="2400" dirty="0">
                <a:solidFill>
                  <a:srgbClr val="00B0F0"/>
                </a:solidFill>
              </a:rPr>
              <a:t>——</a:t>
            </a:r>
            <a:r>
              <a:rPr lang="zh-CN" altLang="en-US" sz="2400" dirty="0">
                <a:solidFill>
                  <a:srgbClr val="00B0F0"/>
                </a:solidFill>
              </a:rPr>
              <a:t>死循环</a:t>
            </a:r>
            <a:endParaRPr lang="zh-CN" altLang="en-US" sz="2400" dirty="0">
              <a:solidFill>
                <a:srgbClr val="00B0F0"/>
              </a:solidFill>
            </a:endParaRPr>
          </a:p>
        </p:txBody>
      </p:sp>
      <p:sp>
        <p:nvSpPr>
          <p:cNvPr id="10" name="AutoShape 703"/>
          <p:cNvSpPr>
            <a:spLocks noChangeArrowheads="1"/>
          </p:cNvSpPr>
          <p:nvPr/>
        </p:nvSpPr>
        <p:spPr bwMode="auto">
          <a:xfrm>
            <a:off x="4932040" y="2499741"/>
            <a:ext cx="3888432" cy="1754106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 w="9525">
            <a:solidFill>
              <a:srgbClr val="000000"/>
            </a:solidFill>
            <a:rou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indent="720090" algn="just">
              <a:spcAft>
                <a:spcPts val="0"/>
              </a:spcAft>
            </a:pPr>
            <a:r>
              <a:rPr lang="zh-CN" sz="2800" kern="100" dirty="0">
                <a:effectLst/>
                <a:latin typeface="Calibri" panose="020F0502020204030204" pitchFamily="34" charset="0"/>
                <a:ea typeface="楷体" panose="02010609060101010101" pitchFamily="49" charset="-122"/>
                <a:cs typeface="Times New Roman" panose="02020603050405020304" pitchFamily="18" charset="0"/>
              </a:rPr>
              <a:t>试编一程序，计算该蜗牛需多少分钟才能爬到树顶。</a:t>
            </a:r>
            <a:endParaRPr lang="zh-CN" sz="28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71600" y="1475627"/>
            <a:ext cx="6999032" cy="87588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有一棵葡萄树高</a:t>
            </a:r>
            <a:r>
              <a:rPr lang="en-US" altLang="zh-CN" dirty="0"/>
              <a:t>17</a:t>
            </a:r>
            <a:r>
              <a:rPr lang="zh-CN" altLang="en-US" dirty="0"/>
              <a:t>分米，一只蜗牛从底部向上爬，每分钟爬</a:t>
            </a:r>
            <a:r>
              <a:rPr lang="en-US" altLang="zh-CN" dirty="0"/>
              <a:t>3</a:t>
            </a:r>
            <a:r>
              <a:rPr lang="zh-CN" altLang="en-US" dirty="0"/>
              <a:t>分米；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但每爬一分钟后都要休息一分钟，休息期间又滑下</a:t>
            </a:r>
            <a:r>
              <a:rPr lang="en-US" altLang="zh-CN" dirty="0"/>
              <a:t>1</a:t>
            </a:r>
            <a:r>
              <a:rPr lang="zh-CN" altLang="en-US" dirty="0"/>
              <a:t>分米。</a:t>
            </a:r>
            <a:endParaRPr lang="zh-CN" altLang="en-US" dirty="0"/>
          </a:p>
        </p:txBody>
      </p:sp>
      <p:pic>
        <p:nvPicPr>
          <p:cNvPr id="1026" name="Picture 2"/>
          <p:cNvPicPr>
            <a:picLocks noChangeAspect="1" noChangeArrowheads="1" noCrop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2668464"/>
            <a:ext cx="1555015" cy="15550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图片 3" descr="图片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3575" y="2571750"/>
            <a:ext cx="1438910" cy="14446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0" grpId="0" animBg="1"/>
      <p:bldP spid="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2"/>
          <p:cNvSpPr/>
          <p:nvPr/>
        </p:nvSpPr>
        <p:spPr>
          <a:xfrm>
            <a:off x="31814" y="289190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" name="object 3"/>
          <p:cNvSpPr/>
          <p:nvPr/>
        </p:nvSpPr>
        <p:spPr>
          <a:xfrm>
            <a:off x="107504" y="428533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339502"/>
            <a:ext cx="8229600" cy="641226"/>
          </a:xfrm>
        </p:spPr>
        <p:txBody>
          <a:bodyPr/>
          <a:lstStyle/>
          <a:p>
            <a:r>
              <a:rPr lang="en-US" altLang="zh-CN" dirty="0"/>
              <a:t> </a:t>
            </a:r>
            <a:endParaRPr lang="zh-CN" altLang="en-US" sz="2400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1"/>
          <a:srcRect t="7638" b="8227"/>
          <a:stretch>
            <a:fillRect/>
          </a:stretch>
        </p:blipFill>
        <p:spPr>
          <a:xfrm>
            <a:off x="457200" y="701921"/>
            <a:ext cx="2232248" cy="3886812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3347864" y="650910"/>
            <a:ext cx="3582144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</a:pPr>
            <a:r>
              <a:rPr lang="en-US" altLang="zh-CN" sz="1600" dirty="0"/>
              <a:t>#include&lt;</a:t>
            </a:r>
            <a:r>
              <a:rPr lang="en-US" altLang="zh-CN" sz="1600" dirty="0" err="1"/>
              <a:t>iostream</a:t>
            </a:r>
            <a:r>
              <a:rPr lang="en-US" altLang="zh-CN" sz="1600" dirty="0"/>
              <a:t>&gt;</a:t>
            </a:r>
            <a:endParaRPr lang="en-US" altLang="zh-CN" sz="1600" dirty="0"/>
          </a:p>
          <a:p>
            <a:pPr>
              <a:lnSpc>
                <a:spcPts val="1800"/>
              </a:lnSpc>
            </a:pPr>
            <a:r>
              <a:rPr lang="en-US" altLang="zh-CN" sz="1600" dirty="0"/>
              <a:t>using namespace </a:t>
            </a:r>
            <a:r>
              <a:rPr lang="en-US" altLang="zh-CN" sz="1600" dirty="0" err="1"/>
              <a:t>std</a:t>
            </a:r>
            <a:r>
              <a:rPr lang="en-US" altLang="zh-CN" sz="1600" dirty="0"/>
              <a:t>; </a:t>
            </a:r>
            <a:endParaRPr lang="en-US" altLang="zh-CN" sz="1600" dirty="0"/>
          </a:p>
          <a:p>
            <a:pPr>
              <a:lnSpc>
                <a:spcPts val="1800"/>
              </a:lnSpc>
            </a:pPr>
            <a:r>
              <a:rPr lang="en-US" altLang="zh-CN" sz="1600" dirty="0" err="1"/>
              <a:t>int</a:t>
            </a:r>
            <a:r>
              <a:rPr lang="en-US" altLang="zh-CN" sz="1600" dirty="0"/>
              <a:t> main()</a:t>
            </a:r>
            <a:endParaRPr lang="en-US" altLang="zh-CN" sz="1600" dirty="0"/>
          </a:p>
          <a:p>
            <a:pPr>
              <a:lnSpc>
                <a:spcPts val="1800"/>
              </a:lnSpc>
            </a:pPr>
            <a:r>
              <a:rPr lang="en-US" altLang="zh-CN" sz="1600" dirty="0"/>
              <a:t>{</a:t>
            </a:r>
            <a:endParaRPr lang="en-US" altLang="zh-CN" sz="1600" dirty="0"/>
          </a:p>
          <a:p>
            <a:pPr>
              <a:lnSpc>
                <a:spcPts val="1800"/>
              </a:lnSpc>
            </a:pPr>
            <a:r>
              <a:rPr lang="en-US" altLang="zh-CN" sz="1600" dirty="0"/>
              <a:t>    </a:t>
            </a:r>
            <a:r>
              <a:rPr lang="en-US" altLang="zh-CN" sz="1600" dirty="0" err="1"/>
              <a:t>int</a:t>
            </a:r>
            <a:r>
              <a:rPr lang="en-US" altLang="zh-CN" sz="1600" dirty="0"/>
              <a:t> </a:t>
            </a:r>
            <a:r>
              <a:rPr lang="en-US" altLang="zh-CN" sz="1600" dirty="0" err="1"/>
              <a:t>i,t</a:t>
            </a:r>
            <a:r>
              <a:rPr lang="en-US" altLang="zh-CN" sz="1600" dirty="0"/>
              <a:t>;</a:t>
            </a:r>
            <a:endParaRPr lang="en-US" altLang="zh-CN" sz="1600" dirty="0"/>
          </a:p>
          <a:p>
            <a:pPr>
              <a:lnSpc>
                <a:spcPts val="1800"/>
              </a:lnSpc>
            </a:pPr>
            <a:r>
              <a:rPr lang="en-US" altLang="zh-CN" sz="1600" dirty="0"/>
              <a:t>    t=i=0;</a:t>
            </a:r>
            <a:endParaRPr lang="en-US" altLang="zh-CN" sz="1600" dirty="0"/>
          </a:p>
          <a:p>
            <a:pPr>
              <a:lnSpc>
                <a:spcPts val="1800"/>
              </a:lnSpc>
            </a:pPr>
            <a:r>
              <a:rPr lang="en-US" altLang="zh-CN" sz="1600" dirty="0"/>
              <a:t>    while(1)</a:t>
            </a:r>
            <a:endParaRPr lang="en-US" altLang="zh-CN" sz="1600" dirty="0"/>
          </a:p>
          <a:p>
            <a:pPr>
              <a:lnSpc>
                <a:spcPts val="1800"/>
              </a:lnSpc>
            </a:pPr>
            <a:r>
              <a:rPr lang="en-US" altLang="zh-CN" sz="1600" dirty="0"/>
              <a:t>    {</a:t>
            </a:r>
            <a:endParaRPr lang="en-US" altLang="zh-CN" sz="1600" dirty="0"/>
          </a:p>
          <a:p>
            <a:pPr>
              <a:lnSpc>
                <a:spcPts val="1800"/>
              </a:lnSpc>
            </a:pPr>
            <a:r>
              <a:rPr lang="en-US" altLang="zh-CN" sz="1600" dirty="0"/>
              <a:t>         t++;</a:t>
            </a:r>
            <a:endParaRPr lang="en-US" altLang="zh-CN" sz="1600" dirty="0"/>
          </a:p>
          <a:p>
            <a:pPr>
              <a:lnSpc>
                <a:spcPts val="1800"/>
              </a:lnSpc>
            </a:pPr>
            <a:r>
              <a:rPr lang="en-US" altLang="zh-CN" sz="1600" dirty="0"/>
              <a:t>         i+=3;</a:t>
            </a:r>
            <a:endParaRPr lang="en-US" altLang="zh-CN" sz="1600" dirty="0"/>
          </a:p>
          <a:p>
            <a:pPr>
              <a:lnSpc>
                <a:spcPts val="1800"/>
              </a:lnSpc>
            </a:pPr>
            <a:r>
              <a:rPr lang="en-US" altLang="zh-CN" sz="1600" dirty="0"/>
              <a:t>         if (i&gt;=17) break;</a:t>
            </a:r>
            <a:endParaRPr lang="en-US" altLang="zh-CN" sz="1600" dirty="0"/>
          </a:p>
          <a:p>
            <a:pPr>
              <a:lnSpc>
                <a:spcPts val="1800"/>
              </a:lnSpc>
            </a:pPr>
            <a:r>
              <a:rPr lang="en-US" altLang="zh-CN" sz="1600" dirty="0"/>
              <a:t>	 t++;</a:t>
            </a:r>
            <a:endParaRPr lang="en-US" altLang="zh-CN" sz="1600" dirty="0"/>
          </a:p>
          <a:p>
            <a:pPr>
              <a:lnSpc>
                <a:spcPts val="1800"/>
              </a:lnSpc>
            </a:pPr>
            <a:r>
              <a:rPr lang="en-US" altLang="zh-CN" sz="1600" dirty="0"/>
              <a:t>	 i--;</a:t>
            </a:r>
            <a:endParaRPr lang="en-US" altLang="zh-CN" sz="1600" dirty="0"/>
          </a:p>
          <a:p>
            <a:pPr>
              <a:lnSpc>
                <a:spcPts val="1800"/>
              </a:lnSpc>
            </a:pPr>
            <a:r>
              <a:rPr lang="en-US" altLang="zh-CN" sz="1600" dirty="0"/>
              <a:t>    }	</a:t>
            </a:r>
            <a:endParaRPr lang="en-US" altLang="zh-CN" sz="1600" dirty="0"/>
          </a:p>
          <a:p>
            <a:pPr>
              <a:lnSpc>
                <a:spcPts val="1800"/>
              </a:lnSpc>
            </a:pPr>
            <a:r>
              <a:rPr lang="en-US" altLang="zh-CN" sz="1600" dirty="0"/>
              <a:t>    </a:t>
            </a:r>
            <a:r>
              <a:rPr lang="en-US" altLang="zh-CN" sz="1600" dirty="0" err="1"/>
              <a:t>cout</a:t>
            </a:r>
            <a:r>
              <a:rPr lang="en-US" altLang="zh-CN" sz="1600" dirty="0"/>
              <a:t>&lt;&lt;"</a:t>
            </a:r>
            <a:r>
              <a:rPr lang="zh-CN" altLang="en-US" sz="1600" dirty="0"/>
              <a:t>需</a:t>
            </a:r>
            <a:r>
              <a:rPr lang="en-US" altLang="zh-CN" sz="1600" dirty="0"/>
              <a:t>"&lt;&lt;t&lt;&lt;"</a:t>
            </a:r>
            <a:r>
              <a:rPr lang="zh-CN" altLang="en-US" sz="1600" dirty="0"/>
              <a:t>分钟</a:t>
            </a:r>
            <a:r>
              <a:rPr lang="en-US" altLang="zh-CN" sz="1600" dirty="0"/>
              <a:t>"&lt;&lt;</a:t>
            </a:r>
            <a:r>
              <a:rPr lang="en-US" altLang="zh-CN" sz="1600" dirty="0" err="1"/>
              <a:t>endl</a:t>
            </a:r>
            <a:r>
              <a:rPr lang="en-US" altLang="zh-CN" sz="1600" dirty="0"/>
              <a:t>;</a:t>
            </a:r>
            <a:endParaRPr lang="en-US" altLang="zh-CN" sz="1600" dirty="0"/>
          </a:p>
          <a:p>
            <a:pPr>
              <a:lnSpc>
                <a:spcPts val="1800"/>
              </a:lnSpc>
            </a:pPr>
            <a:r>
              <a:rPr lang="en-US" altLang="zh-CN" sz="1600" dirty="0"/>
              <a:t>    return 0; </a:t>
            </a:r>
            <a:endParaRPr lang="en-US" altLang="zh-CN" sz="1600" dirty="0"/>
          </a:p>
          <a:p>
            <a:pPr>
              <a:lnSpc>
                <a:spcPts val="1800"/>
              </a:lnSpc>
            </a:pPr>
            <a:r>
              <a:rPr lang="en-US" altLang="zh-CN" sz="1600" dirty="0"/>
              <a:t>}</a:t>
            </a:r>
            <a:endParaRPr lang="en-US" altLang="zh-CN" sz="1600" dirty="0"/>
          </a:p>
          <a:p>
            <a:pPr>
              <a:lnSpc>
                <a:spcPts val="1800"/>
              </a:lnSpc>
            </a:pPr>
            <a:endParaRPr lang="en-US" altLang="zh-CN" sz="1600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5914" y="1966658"/>
            <a:ext cx="2314575" cy="2286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2"/>
          <p:cNvSpPr/>
          <p:nvPr/>
        </p:nvSpPr>
        <p:spPr>
          <a:xfrm>
            <a:off x="31814" y="289190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9" name="object 3"/>
          <p:cNvSpPr/>
          <p:nvPr/>
        </p:nvSpPr>
        <p:spPr>
          <a:xfrm>
            <a:off x="107504" y="428533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339502"/>
            <a:ext cx="8229600" cy="641226"/>
          </a:xfrm>
        </p:spPr>
        <p:txBody>
          <a:bodyPr/>
          <a:lstStyle/>
          <a:p>
            <a:r>
              <a:rPr lang="en-US" altLang="zh-CN" dirty="0"/>
              <a:t> </a:t>
            </a:r>
            <a:endParaRPr lang="zh-CN" altLang="en-US" sz="2400" dirty="0"/>
          </a:p>
        </p:txBody>
      </p:sp>
      <p:sp>
        <p:nvSpPr>
          <p:cNvPr id="4" name="矩形 3"/>
          <p:cNvSpPr/>
          <p:nvPr/>
        </p:nvSpPr>
        <p:spPr>
          <a:xfrm>
            <a:off x="395536" y="700301"/>
            <a:ext cx="3582144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</a:pPr>
            <a:r>
              <a:rPr lang="en-US" altLang="zh-CN" sz="1600" dirty="0"/>
              <a:t>#include&lt;</a:t>
            </a:r>
            <a:r>
              <a:rPr lang="en-US" altLang="zh-CN" sz="1600" dirty="0" err="1"/>
              <a:t>iostream</a:t>
            </a:r>
            <a:r>
              <a:rPr lang="en-US" altLang="zh-CN" sz="1600" dirty="0"/>
              <a:t>&gt;</a:t>
            </a:r>
            <a:endParaRPr lang="en-US" altLang="zh-CN" sz="1600" dirty="0"/>
          </a:p>
          <a:p>
            <a:pPr>
              <a:lnSpc>
                <a:spcPts val="1800"/>
              </a:lnSpc>
            </a:pPr>
            <a:r>
              <a:rPr lang="en-US" altLang="zh-CN" sz="1600" dirty="0"/>
              <a:t>using namespace </a:t>
            </a:r>
            <a:r>
              <a:rPr lang="en-US" altLang="zh-CN" sz="1600" dirty="0" err="1"/>
              <a:t>std</a:t>
            </a:r>
            <a:r>
              <a:rPr lang="en-US" altLang="zh-CN" sz="1600" dirty="0"/>
              <a:t>; </a:t>
            </a:r>
            <a:endParaRPr lang="en-US" altLang="zh-CN" sz="1600" dirty="0"/>
          </a:p>
          <a:p>
            <a:pPr>
              <a:lnSpc>
                <a:spcPts val="1800"/>
              </a:lnSpc>
            </a:pPr>
            <a:r>
              <a:rPr lang="en-US" altLang="zh-CN" sz="1600" dirty="0" err="1"/>
              <a:t>int</a:t>
            </a:r>
            <a:r>
              <a:rPr lang="en-US" altLang="zh-CN" sz="1600" dirty="0"/>
              <a:t> main()</a:t>
            </a:r>
            <a:endParaRPr lang="en-US" altLang="zh-CN" sz="1600" dirty="0"/>
          </a:p>
          <a:p>
            <a:pPr>
              <a:lnSpc>
                <a:spcPts val="1800"/>
              </a:lnSpc>
            </a:pPr>
            <a:r>
              <a:rPr lang="en-US" altLang="zh-CN" sz="1600" dirty="0"/>
              <a:t>{</a:t>
            </a:r>
            <a:endParaRPr lang="en-US" altLang="zh-CN" sz="1600" dirty="0"/>
          </a:p>
          <a:p>
            <a:pPr>
              <a:lnSpc>
                <a:spcPts val="1800"/>
              </a:lnSpc>
            </a:pPr>
            <a:r>
              <a:rPr lang="en-US" altLang="zh-CN" sz="1600" dirty="0"/>
              <a:t>    </a:t>
            </a:r>
            <a:r>
              <a:rPr lang="en-US" altLang="zh-CN" sz="1600" dirty="0" err="1"/>
              <a:t>int</a:t>
            </a:r>
            <a:r>
              <a:rPr lang="en-US" altLang="zh-CN" sz="1600" dirty="0"/>
              <a:t> </a:t>
            </a:r>
            <a:r>
              <a:rPr lang="en-US" altLang="zh-CN" sz="1600" dirty="0" err="1"/>
              <a:t>i,t</a:t>
            </a:r>
            <a:r>
              <a:rPr lang="en-US" altLang="zh-CN" sz="1600" dirty="0"/>
              <a:t>;</a:t>
            </a:r>
            <a:endParaRPr lang="en-US" altLang="zh-CN" sz="1600" dirty="0"/>
          </a:p>
          <a:p>
            <a:pPr>
              <a:lnSpc>
                <a:spcPts val="1800"/>
              </a:lnSpc>
            </a:pPr>
            <a:r>
              <a:rPr lang="en-US" altLang="zh-CN" sz="1600" dirty="0"/>
              <a:t>    t=i=0;</a:t>
            </a:r>
            <a:endParaRPr lang="en-US" altLang="zh-CN" sz="1600" dirty="0"/>
          </a:p>
          <a:p>
            <a:pPr>
              <a:lnSpc>
                <a:spcPts val="1800"/>
              </a:lnSpc>
            </a:pPr>
            <a:r>
              <a:rPr lang="en-US" altLang="zh-CN" sz="1600" dirty="0"/>
              <a:t>    while(1)</a:t>
            </a:r>
            <a:endParaRPr lang="en-US" altLang="zh-CN" sz="1600" dirty="0"/>
          </a:p>
          <a:p>
            <a:pPr>
              <a:lnSpc>
                <a:spcPts val="1800"/>
              </a:lnSpc>
            </a:pPr>
            <a:r>
              <a:rPr lang="en-US" altLang="zh-CN" sz="1600" dirty="0"/>
              <a:t>    {</a:t>
            </a:r>
            <a:endParaRPr lang="en-US" altLang="zh-CN" sz="1600" dirty="0"/>
          </a:p>
          <a:p>
            <a:pPr>
              <a:lnSpc>
                <a:spcPts val="1800"/>
              </a:lnSpc>
            </a:pPr>
            <a:r>
              <a:rPr lang="en-US" altLang="zh-CN" sz="1600" dirty="0"/>
              <a:t>         t++;</a:t>
            </a:r>
            <a:endParaRPr lang="en-US" altLang="zh-CN" sz="1600" dirty="0"/>
          </a:p>
          <a:p>
            <a:pPr>
              <a:lnSpc>
                <a:spcPts val="1800"/>
              </a:lnSpc>
            </a:pPr>
            <a:r>
              <a:rPr lang="en-US" altLang="zh-CN" sz="1600" dirty="0"/>
              <a:t>         i+=3;</a:t>
            </a:r>
            <a:endParaRPr lang="en-US" altLang="zh-CN" sz="1600" dirty="0"/>
          </a:p>
          <a:p>
            <a:pPr>
              <a:lnSpc>
                <a:spcPts val="1800"/>
              </a:lnSpc>
            </a:pPr>
            <a:r>
              <a:rPr lang="en-US" altLang="zh-CN" sz="1600" dirty="0"/>
              <a:t>         if (i&gt;=17) break;</a:t>
            </a:r>
            <a:endParaRPr lang="en-US" altLang="zh-CN" sz="1600" dirty="0"/>
          </a:p>
          <a:p>
            <a:pPr>
              <a:lnSpc>
                <a:spcPts val="1800"/>
              </a:lnSpc>
            </a:pPr>
            <a:r>
              <a:rPr lang="en-US" altLang="zh-CN" sz="1600" dirty="0"/>
              <a:t>	 t++;</a:t>
            </a:r>
            <a:endParaRPr lang="en-US" altLang="zh-CN" sz="1600" dirty="0"/>
          </a:p>
          <a:p>
            <a:pPr>
              <a:lnSpc>
                <a:spcPts val="1800"/>
              </a:lnSpc>
            </a:pPr>
            <a:r>
              <a:rPr lang="en-US" altLang="zh-CN" sz="1600" dirty="0"/>
              <a:t>	 i--;</a:t>
            </a:r>
            <a:endParaRPr lang="en-US" altLang="zh-CN" sz="1600" dirty="0"/>
          </a:p>
          <a:p>
            <a:pPr>
              <a:lnSpc>
                <a:spcPts val="1800"/>
              </a:lnSpc>
            </a:pPr>
            <a:r>
              <a:rPr lang="en-US" altLang="zh-CN" sz="1600" dirty="0"/>
              <a:t>    }	</a:t>
            </a:r>
            <a:endParaRPr lang="en-US" altLang="zh-CN" sz="1600" dirty="0"/>
          </a:p>
          <a:p>
            <a:pPr>
              <a:lnSpc>
                <a:spcPts val="1800"/>
              </a:lnSpc>
            </a:pPr>
            <a:r>
              <a:rPr lang="en-US" altLang="zh-CN" sz="1600" dirty="0"/>
              <a:t>    </a:t>
            </a:r>
            <a:r>
              <a:rPr lang="en-US" altLang="zh-CN" sz="1600" dirty="0" err="1"/>
              <a:t>cout</a:t>
            </a:r>
            <a:r>
              <a:rPr lang="en-US" altLang="zh-CN" sz="1600" dirty="0"/>
              <a:t>&lt;&lt;"</a:t>
            </a:r>
            <a:r>
              <a:rPr lang="zh-CN" altLang="en-US" sz="1600" dirty="0"/>
              <a:t>需</a:t>
            </a:r>
            <a:r>
              <a:rPr lang="en-US" altLang="zh-CN" sz="1600" dirty="0"/>
              <a:t>"&lt;&lt;t&lt;&lt;"</a:t>
            </a:r>
            <a:r>
              <a:rPr lang="zh-CN" altLang="en-US" sz="1600" dirty="0"/>
              <a:t>分钟</a:t>
            </a:r>
            <a:r>
              <a:rPr lang="en-US" altLang="zh-CN" sz="1600" dirty="0"/>
              <a:t>"&lt;&lt;</a:t>
            </a:r>
            <a:r>
              <a:rPr lang="en-US" altLang="zh-CN" sz="1600" dirty="0" err="1"/>
              <a:t>endl</a:t>
            </a:r>
            <a:r>
              <a:rPr lang="en-US" altLang="zh-CN" sz="1600" dirty="0"/>
              <a:t>;</a:t>
            </a:r>
            <a:endParaRPr lang="en-US" altLang="zh-CN" sz="1600" dirty="0"/>
          </a:p>
          <a:p>
            <a:pPr>
              <a:lnSpc>
                <a:spcPts val="1800"/>
              </a:lnSpc>
            </a:pPr>
            <a:r>
              <a:rPr lang="en-US" altLang="zh-CN" sz="1600" dirty="0"/>
              <a:t>    return 0; </a:t>
            </a:r>
            <a:endParaRPr lang="en-US" altLang="zh-CN" sz="1600" dirty="0"/>
          </a:p>
          <a:p>
            <a:pPr>
              <a:lnSpc>
                <a:spcPts val="1800"/>
              </a:lnSpc>
            </a:pPr>
            <a:r>
              <a:rPr lang="en-US" altLang="zh-CN" sz="1600" dirty="0"/>
              <a:t>}</a:t>
            </a:r>
            <a:endParaRPr lang="en-US" altLang="zh-CN" sz="1600" dirty="0"/>
          </a:p>
          <a:p>
            <a:pPr>
              <a:lnSpc>
                <a:spcPts val="1800"/>
              </a:lnSpc>
            </a:pPr>
            <a:endParaRPr lang="en-US" altLang="zh-CN" sz="1600" dirty="0"/>
          </a:p>
        </p:txBody>
      </p:sp>
      <p:sp>
        <p:nvSpPr>
          <p:cNvPr id="5" name="矩形 4"/>
          <p:cNvSpPr/>
          <p:nvPr/>
        </p:nvSpPr>
        <p:spPr>
          <a:xfrm>
            <a:off x="3556337" y="976561"/>
            <a:ext cx="2031325" cy="83099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zh-CN" altLang="zh-CN" sz="4800" kern="100" dirty="0">
                <a:ea typeface="楷体" panose="02010609060101010101" pitchFamily="49" charset="-122"/>
                <a:cs typeface="Times New Roman" panose="02020603050405020304" pitchFamily="18" charset="0"/>
              </a:rPr>
              <a:t>死循环</a:t>
            </a:r>
            <a:endParaRPr lang="zh-CN" altLang="en-US" sz="4800" dirty="0"/>
          </a:p>
        </p:txBody>
      </p:sp>
      <p:sp>
        <p:nvSpPr>
          <p:cNvPr id="3" name="TextBox 2"/>
          <p:cNvSpPr txBox="1"/>
          <p:nvPr/>
        </p:nvSpPr>
        <p:spPr>
          <a:xfrm>
            <a:off x="3556337" y="3634238"/>
            <a:ext cx="4339650" cy="92333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zh-CN" altLang="en-US" dirty="0"/>
              <a:t>不存在一种算法，能够判断任何程序</a:t>
            </a:r>
            <a:endParaRPr lang="en-US" altLang="zh-CN" dirty="0"/>
          </a:p>
          <a:p>
            <a:r>
              <a:rPr lang="zh-CN" altLang="en-US" dirty="0"/>
              <a:t>是否会出现死循环。</a:t>
            </a:r>
            <a:endParaRPr lang="en-US" altLang="zh-CN" dirty="0"/>
          </a:p>
          <a:p>
            <a:r>
              <a:rPr lang="zh-CN" altLang="en-US" dirty="0"/>
              <a:t>因此，任何编译系统都不做死循环检查。</a:t>
            </a:r>
            <a:endParaRPr lang="zh-CN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3556337" y="2265977"/>
            <a:ext cx="2791342" cy="87588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循环条件永远为真；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要有</a:t>
            </a:r>
            <a:r>
              <a:rPr lang="en-US" altLang="zh-CN" dirty="0"/>
              <a:t>break</a:t>
            </a:r>
            <a:r>
              <a:rPr lang="zh-CN" altLang="en-US" dirty="0"/>
              <a:t>语句终止循环。</a:t>
            </a:r>
            <a:endParaRPr lang="zh-CN" altLang="en-US" dirty="0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4595" y="1280412"/>
            <a:ext cx="2228388" cy="219765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bldLvl="0" animBg="1"/>
      <p:bldP spid="3" grpId="0" bldLvl="0" animBg="1"/>
      <p:bldP spid="7" grpId="0" bldLvl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/>
          <p:cNvSpPr/>
          <p:nvPr/>
        </p:nvSpPr>
        <p:spPr>
          <a:xfrm>
            <a:off x="31814" y="289190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" name="object 3"/>
          <p:cNvSpPr/>
          <p:nvPr/>
        </p:nvSpPr>
        <p:spPr>
          <a:xfrm>
            <a:off x="107504" y="428533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5536" y="915566"/>
            <a:ext cx="8229600" cy="569218"/>
          </a:xfrm>
        </p:spPr>
        <p:txBody>
          <a:bodyPr>
            <a:normAutofit fontScale="90000"/>
          </a:bodyPr>
          <a:lstStyle/>
          <a:p>
            <a:r>
              <a:rPr lang="zh-CN" altLang="en-US" dirty="0">
                <a:solidFill>
                  <a:srgbClr val="00B0F0"/>
                </a:solidFill>
              </a:rPr>
              <a:t>编程小词典</a:t>
            </a:r>
            <a:br>
              <a:rPr lang="en-US" altLang="zh-CN" dirty="0">
                <a:solidFill>
                  <a:srgbClr val="00B0F0"/>
                </a:solidFill>
              </a:rPr>
            </a:br>
            <a:endParaRPr lang="zh-CN" altLang="en-US" sz="2400" dirty="0">
              <a:solidFill>
                <a:srgbClr val="00B0F0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115616" y="1707654"/>
            <a:ext cx="5328592" cy="1368152"/>
          </a:xfrm>
        </p:spPr>
        <p:txBody>
          <a:bodyPr>
            <a:normAutofit/>
          </a:bodyPr>
          <a:lstStyle/>
          <a:p>
            <a:pPr lvl="1"/>
            <a:r>
              <a:rPr lang="en-US" altLang="zh-CN" sz="2400" dirty="0"/>
              <a:t>while  </a:t>
            </a:r>
            <a:r>
              <a:rPr lang="zh-CN" altLang="en-US" sz="2400" dirty="0"/>
              <a:t>当。。。的时候</a:t>
            </a:r>
            <a:endParaRPr lang="zh-CN" altLang="en-US" sz="2400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>
            <a:clrChange>
              <a:clrFrom>
                <a:srgbClr val="E8F4E0"/>
              </a:clrFrom>
              <a:clrTo>
                <a:srgbClr val="E8F4E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1780" y="2293620"/>
            <a:ext cx="2376264" cy="2470560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2"/>
          <p:cNvSpPr/>
          <p:nvPr/>
        </p:nvSpPr>
        <p:spPr>
          <a:xfrm>
            <a:off x="31814" y="289190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0" name="object 3"/>
          <p:cNvSpPr/>
          <p:nvPr/>
        </p:nvSpPr>
        <p:spPr>
          <a:xfrm>
            <a:off x="107504" y="428533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40822" y="503465"/>
            <a:ext cx="3096344" cy="857250"/>
          </a:xfrm>
        </p:spPr>
        <p:txBody>
          <a:bodyPr/>
          <a:lstStyle/>
          <a:p>
            <a:r>
              <a:rPr lang="zh-CN" altLang="en-US" dirty="0">
                <a:solidFill>
                  <a:srgbClr val="00B0F0"/>
                </a:solidFill>
              </a:rPr>
              <a:t>课后作业</a:t>
            </a:r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95536" y="1232301"/>
            <a:ext cx="2792145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+mn-ea"/>
              </a:rPr>
              <a:t>1</a:t>
            </a:r>
            <a:r>
              <a:rPr lang="zh-CN" altLang="en-US" sz="1600" dirty="0">
                <a:latin typeface="+mn-ea"/>
              </a:rPr>
              <a:t>、语句</a:t>
            </a:r>
            <a:r>
              <a:rPr lang="en-US" altLang="zh-CN" sz="1600" dirty="0">
                <a:latin typeface="+mn-ea"/>
              </a:rPr>
              <a:t>while(1)</a:t>
            </a:r>
            <a:r>
              <a:rPr lang="en-US" altLang="zh-CN" sz="1600" dirty="0" err="1">
                <a:latin typeface="+mn-ea"/>
              </a:rPr>
              <a:t>cout</a:t>
            </a:r>
            <a:r>
              <a:rPr lang="en-US" altLang="zh-CN" sz="1600" dirty="0">
                <a:latin typeface="+mn-ea"/>
              </a:rPr>
              <a:t>&lt;&lt;'?'</a:t>
            </a:r>
            <a:r>
              <a:rPr lang="zh-CN" altLang="en-US" sz="1600" dirty="0">
                <a:latin typeface="+mn-ea"/>
              </a:rPr>
              <a:t>是一个死循环，运行时将无休止地打印问号。下面关于死循环的说法，正确的是（  ）。</a:t>
            </a:r>
            <a:endParaRPr lang="en-US" altLang="zh-CN" sz="1600" dirty="0">
              <a:latin typeface="+mn-ea"/>
            </a:endParaRPr>
          </a:p>
          <a:p>
            <a:r>
              <a:rPr lang="en-US" altLang="zh-CN" sz="1400" dirty="0">
                <a:latin typeface="+mn-ea"/>
              </a:rPr>
              <a:t>A.</a:t>
            </a:r>
            <a:r>
              <a:rPr lang="zh-CN" altLang="en-US" sz="1400" dirty="0">
                <a:latin typeface="+mn-ea"/>
              </a:rPr>
              <a:t>一个无法靠自身的控制终止的循环称为“死循环”</a:t>
            </a:r>
            <a:endParaRPr lang="en-US" altLang="zh-CN" sz="1400" dirty="0">
              <a:latin typeface="+mn-ea"/>
            </a:endParaRPr>
          </a:p>
          <a:p>
            <a:r>
              <a:rPr lang="en-US" altLang="zh-CN" sz="1400" dirty="0">
                <a:latin typeface="+mn-ea"/>
              </a:rPr>
              <a:t>B.</a:t>
            </a:r>
            <a:r>
              <a:rPr lang="zh-CN" altLang="en-US" sz="1400" dirty="0">
                <a:latin typeface="+mn-ea"/>
              </a:rPr>
              <a:t>有些编译系统可以检测出死循环。</a:t>
            </a:r>
            <a:endParaRPr lang="en-US" altLang="zh-CN" sz="1400" dirty="0">
              <a:latin typeface="+mn-ea"/>
            </a:endParaRPr>
          </a:p>
          <a:p>
            <a:r>
              <a:rPr lang="en-US" altLang="zh-CN" sz="1400" dirty="0">
                <a:latin typeface="+mn-ea"/>
              </a:rPr>
              <a:t>C.</a:t>
            </a:r>
            <a:r>
              <a:rPr lang="zh-CN" altLang="en-US" sz="1400" dirty="0">
                <a:latin typeface="+mn-ea"/>
              </a:rPr>
              <a:t>死循环属于语法错误，既然编译系统能检查各种语法错误，也能检查出死循环。</a:t>
            </a:r>
            <a:endParaRPr lang="en-US" altLang="zh-CN" sz="1400" dirty="0">
              <a:latin typeface="+mn-ea"/>
            </a:endParaRPr>
          </a:p>
          <a:p>
            <a:r>
              <a:rPr lang="en-US" altLang="zh-CN" sz="1400" dirty="0">
                <a:latin typeface="+mn-ea"/>
              </a:rPr>
              <a:t>D.</a:t>
            </a:r>
            <a:r>
              <a:rPr lang="zh-CN" altLang="en-US" sz="1400" dirty="0">
                <a:latin typeface="+mn-ea"/>
              </a:rPr>
              <a:t>死循环与多进程中出现的“死锁”差不多，而死锁是可以检测的，因此死循环也是可以检测的。</a:t>
            </a:r>
            <a:endParaRPr lang="en-US" altLang="zh-CN" sz="1400" dirty="0">
              <a:latin typeface="+mn-ea"/>
            </a:endParaRPr>
          </a:p>
        </p:txBody>
      </p:sp>
      <p:sp>
        <p:nvSpPr>
          <p:cNvPr id="7" name="内容占位符 2"/>
          <p:cNvSpPr>
            <a:spLocks noGrp="1"/>
          </p:cNvSpPr>
          <p:nvPr>
            <p:ph idx="1"/>
          </p:nvPr>
        </p:nvSpPr>
        <p:spPr>
          <a:xfrm>
            <a:off x="3492153" y="556016"/>
            <a:ext cx="4936302" cy="1440160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/>
              <a:t>2</a:t>
            </a:r>
            <a:r>
              <a:rPr lang="zh-CN" altLang="en-US" sz="2000" dirty="0"/>
              <a:t>、阅读程序写结果。</a:t>
            </a:r>
            <a:endParaRPr lang="en-US" altLang="zh-CN" sz="2000" dirty="0"/>
          </a:p>
          <a:p>
            <a:pPr marL="0" indent="0">
              <a:buNone/>
            </a:pPr>
            <a:r>
              <a:rPr lang="zh-CN" altLang="en-US" sz="2000" dirty="0">
                <a:latin typeface="+mn-lt"/>
              </a:rPr>
              <a:t>        </a:t>
            </a:r>
            <a:r>
              <a:rPr lang="zh-CN" altLang="en-US" sz="2000" dirty="0"/>
              <a:t> </a:t>
            </a:r>
            <a:endParaRPr lang="en-US" altLang="zh-CN" sz="2000" dirty="0"/>
          </a:p>
          <a:p>
            <a:pPr marL="0" indent="0">
              <a:buNone/>
            </a:pPr>
            <a:r>
              <a:rPr lang="zh-CN" altLang="en-US" sz="2000" dirty="0"/>
              <a:t>         </a:t>
            </a:r>
            <a:endParaRPr lang="en-US" altLang="zh-CN" sz="2000" dirty="0"/>
          </a:p>
        </p:txBody>
      </p:sp>
      <p:sp>
        <p:nvSpPr>
          <p:cNvPr id="8" name="TextBox 7"/>
          <p:cNvSpPr txBox="1"/>
          <p:nvPr/>
        </p:nvSpPr>
        <p:spPr>
          <a:xfrm>
            <a:off x="6804248" y="1304056"/>
            <a:ext cx="1800200" cy="1477328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US" altLang="zh-CN" dirty="0"/>
              <a:t>           i     n</a:t>
            </a:r>
            <a:endParaRPr lang="en-US" altLang="zh-CN" dirty="0"/>
          </a:p>
          <a:p>
            <a:r>
              <a:rPr lang="en-US" altLang="zh-CN" dirty="0"/>
              <a:t>----------------------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6426010" y="4066912"/>
            <a:ext cx="209384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输入： </a:t>
            </a:r>
            <a:r>
              <a:rPr lang="en-US" altLang="zh-CN" dirty="0"/>
              <a:t>5</a:t>
            </a:r>
            <a:endParaRPr lang="en-US" altLang="zh-CN" dirty="0"/>
          </a:p>
          <a:p>
            <a:r>
              <a:rPr lang="zh-CN" altLang="en-US" dirty="0"/>
              <a:t>输出</a:t>
            </a:r>
            <a:r>
              <a:rPr lang="en-US" altLang="zh-CN" dirty="0"/>
              <a:t>:____________</a:t>
            </a:r>
            <a:endParaRPr lang="zh-CN" altLang="en-US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6970" y="1088687"/>
            <a:ext cx="2559943" cy="36215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 build="p"/>
      <p:bldP spid="8" grpId="0" animBg="1"/>
      <p:bldP spid="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2"/>
          <p:cNvSpPr/>
          <p:nvPr/>
        </p:nvSpPr>
        <p:spPr>
          <a:xfrm>
            <a:off x="31814" y="289190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8" name="object 3"/>
          <p:cNvSpPr/>
          <p:nvPr/>
        </p:nvSpPr>
        <p:spPr>
          <a:xfrm>
            <a:off x="107504" y="428533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8951" y="572043"/>
            <a:ext cx="4824536" cy="857250"/>
          </a:xfrm>
        </p:spPr>
        <p:txBody>
          <a:bodyPr/>
          <a:lstStyle/>
          <a:p>
            <a:r>
              <a:rPr lang="zh-CN" altLang="en-US" dirty="0">
                <a:solidFill>
                  <a:srgbClr val="00B0F0"/>
                </a:solidFill>
              </a:rPr>
              <a:t>课后作业</a:t>
            </a:r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6" name="内容占位符 2"/>
          <p:cNvSpPr txBox="1"/>
          <p:nvPr/>
        </p:nvSpPr>
        <p:spPr>
          <a:xfrm>
            <a:off x="876594" y="1594814"/>
            <a:ext cx="2808312" cy="338437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6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6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60000"/>
              </a:lnSpc>
              <a:buFont typeface="Arial" panose="020B0604020202020204" pitchFamily="34" charset="0"/>
              <a:buNone/>
            </a:pPr>
            <a:r>
              <a:rPr lang="en-US" altLang="zh-CN" sz="2000" dirty="0">
                <a:solidFill>
                  <a:prstClr val="black"/>
                </a:solidFill>
              </a:rPr>
              <a:t>3</a:t>
            </a:r>
            <a:r>
              <a:rPr lang="zh-CN" altLang="en-US" sz="2000" dirty="0">
                <a:solidFill>
                  <a:prstClr val="black"/>
                </a:solidFill>
              </a:rPr>
              <a:t>、完善程序。</a:t>
            </a:r>
            <a:endParaRPr lang="en-US" altLang="zh-CN" sz="1800" dirty="0">
              <a:solidFill>
                <a:prstClr val="black"/>
              </a:solidFill>
            </a:endParaRPr>
          </a:p>
          <a:p>
            <a:pPr marL="0" indent="0">
              <a:lnSpc>
                <a:spcPct val="160000"/>
              </a:lnSpc>
              <a:buFont typeface="Arial" panose="020B0604020202020204" pitchFamily="34" charset="0"/>
              <a:buNone/>
            </a:pPr>
            <a:r>
              <a:rPr lang="zh-CN" altLang="en-US" sz="1800" b="0" dirty="0">
                <a:solidFill>
                  <a:prstClr val="black"/>
                </a:solidFill>
              </a:rPr>
              <a:t>求平均分，以</a:t>
            </a:r>
            <a:r>
              <a:rPr lang="en-US" altLang="zh-CN" sz="1800" b="0" dirty="0">
                <a:solidFill>
                  <a:prstClr val="black"/>
                </a:solidFill>
              </a:rPr>
              <a:t>-1</a:t>
            </a:r>
            <a:r>
              <a:rPr lang="zh-CN" altLang="en-US" sz="1800" b="0" dirty="0">
                <a:solidFill>
                  <a:prstClr val="black"/>
                </a:solidFill>
              </a:rPr>
              <a:t>表示输入结束。</a:t>
            </a:r>
            <a:endParaRPr lang="en-US" altLang="zh-CN" sz="2000" b="0" dirty="0">
              <a:solidFill>
                <a:prstClr val="black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71600" y="3795886"/>
            <a:ext cx="2251710" cy="645160"/>
          </a:xfrm>
          <a:prstGeom prst="rect">
            <a:avLst/>
          </a:prstGeom>
          <a:ln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prstClr val="black"/>
                </a:solidFill>
                <a:latin typeface="宋体" panose="02010600030101010101" pitchFamily="2" charset="-122"/>
              </a:rPr>
              <a:t>注：所有程序作业，</a:t>
            </a:r>
            <a:endParaRPr lang="en-US" altLang="zh-CN" b="1" dirty="0">
              <a:solidFill>
                <a:prstClr val="black"/>
              </a:solidFill>
              <a:latin typeface="宋体" panose="02010600030101010101" pitchFamily="2" charset="-122"/>
            </a:endParaRPr>
          </a:p>
          <a:p>
            <a:r>
              <a:rPr lang="zh-CN" altLang="en-US" b="1" dirty="0">
                <a:solidFill>
                  <a:prstClr val="black"/>
                </a:solidFill>
                <a:latin typeface="宋体" panose="02010600030101010101" pitchFamily="2" charset="-122"/>
              </a:rPr>
              <a:t>必须上机完成！</a:t>
            </a:r>
            <a:endParaRPr lang="zh-CN" altLang="en-US" b="1" dirty="0">
              <a:solidFill>
                <a:prstClr val="black"/>
              </a:solidFill>
              <a:latin typeface="宋体" panose="02010600030101010101" pitchFamily="2" charset="-122"/>
            </a:endParaRPr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3275" y="649694"/>
            <a:ext cx="3169301" cy="39504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3"/>
          <p:cNvSpPr/>
          <p:nvPr/>
        </p:nvSpPr>
        <p:spPr>
          <a:xfrm>
            <a:off x="4067943" y="313756"/>
            <a:ext cx="4012253" cy="2458678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4"/>
          <p:cNvSpPr txBox="1">
            <a:spLocks noGrp="1"/>
          </p:cNvSpPr>
          <p:nvPr>
            <p:ph type="title"/>
          </p:nvPr>
        </p:nvSpPr>
        <p:spPr>
          <a:xfrm>
            <a:off x="4283968" y="915566"/>
            <a:ext cx="4012253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200" dirty="0" err="1">
                <a:solidFill>
                  <a:srgbClr val="00B0F0"/>
                </a:solidFill>
              </a:rPr>
              <a:t>下课</a:t>
            </a:r>
            <a:r>
              <a:rPr lang="zh-CN" altLang="en-US" sz="7200" dirty="0">
                <a:solidFill>
                  <a:srgbClr val="00B0F0"/>
                </a:solidFill>
              </a:rPr>
              <a:t>啦</a:t>
            </a:r>
            <a:r>
              <a:rPr sz="7200" dirty="0">
                <a:solidFill>
                  <a:srgbClr val="00B0F0"/>
                </a:solidFill>
              </a:rPr>
              <a:t>！</a:t>
            </a:r>
            <a:endParaRPr sz="7200" dirty="0">
              <a:solidFill>
                <a:srgbClr val="00B0F0"/>
              </a:solidFill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524" y="1744580"/>
            <a:ext cx="3697191" cy="340428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927</Words>
  <Application>WPS 演示</Application>
  <PresentationFormat>全屏显示(16:9)</PresentationFormat>
  <Paragraphs>97</Paragraphs>
  <Slides>8</Slides>
  <Notes>0</Notes>
  <HiddenSlides>1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9" baseType="lpstr">
      <vt:lpstr>Arial</vt:lpstr>
      <vt:lpstr>宋体</vt:lpstr>
      <vt:lpstr>Wingdings</vt:lpstr>
      <vt:lpstr>黑体</vt:lpstr>
      <vt:lpstr>仿宋</vt:lpstr>
      <vt:lpstr>微软雅黑</vt:lpstr>
      <vt:lpstr>Calibri</vt:lpstr>
      <vt:lpstr>楷体</vt:lpstr>
      <vt:lpstr>Times New Roman</vt:lpstr>
      <vt:lpstr>Arial Unicode MS</vt:lpstr>
      <vt:lpstr>Office 主题</vt:lpstr>
      <vt:lpstr>PowerPoint 演示文稿</vt:lpstr>
      <vt:lpstr>蜗牛与葡萄树——死循环</vt:lpstr>
      <vt:lpstr> </vt:lpstr>
      <vt:lpstr> </vt:lpstr>
      <vt:lpstr>编程小词典 </vt:lpstr>
      <vt:lpstr>课后作业</vt:lpstr>
      <vt:lpstr>课后作业</vt:lpstr>
      <vt:lpstr>下课啦！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叮咚</cp:lastModifiedBy>
  <cp:revision>64</cp:revision>
  <dcterms:created xsi:type="dcterms:W3CDTF">2018-07-03T13:24:00Z</dcterms:created>
  <dcterms:modified xsi:type="dcterms:W3CDTF">2021-06-19T03:52:27Z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A19F1E4901354832ACC3335E90E6FF8D</vt:lpwstr>
  </property>
  <property fmtid="{D5CDD505-2E9C-101B-9397-08002B2CF9AE}" pid="3" name="KSOProductBuildVer">
    <vt:lpwstr>2052-11.1.0.10577</vt:lpwstr>
  </property>
</Properties>
</file>