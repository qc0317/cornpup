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2"/>
    <p:sldId id="258" r:id="rId3"/>
    <p:sldId id="269" r:id="rId4"/>
    <p:sldId id="276" r:id="rId5"/>
    <p:sldId id="277" r:id="rId6"/>
    <p:sldId id="278" r:id="rId7"/>
    <p:sldId id="279" r:id="rId8"/>
    <p:sldId id="275" r:id="rId9"/>
    <p:sldId id="267" r:id="rId10"/>
    <p:sldId id="280" r:id="rId11"/>
    <p:sldId id="284" r:id="rId12"/>
    <p:sldId id="283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7945" y="0"/>
            <a:ext cx="9280000" cy="52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智商问题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(if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97" y="506688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选择结构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1705"/>
            <a:ext cx="8229600" cy="339447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明天是星期六，明明和美美商量，如果天气好他们去公园野餐，否则就在家里看书学习。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5856" y="1995686"/>
            <a:ext cx="4709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      根据不同的天气情况，选择不同的安排。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2063" y="2723272"/>
            <a:ext cx="4136069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根据某个条件是否成立，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选择一部分代码执行，略过另一部分，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就叫做选择结构或者分支结构。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程序不再是顺序依次执行，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而是只执行其中的一个分支。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65018"/>
            <a:ext cx="2358918" cy="1862916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76135" y="2865120"/>
            <a:ext cx="1438910" cy="1444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5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780416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智商问题 </a:t>
            </a:r>
            <a:r>
              <a:rPr lang="en-US" altLang="zh-CN" sz="2400" dirty="0">
                <a:solidFill>
                  <a:srgbClr val="00B0F0"/>
                </a:solidFill>
              </a:rPr>
              <a:t>——if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224" y="1635646"/>
            <a:ext cx="791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智商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(IQ)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反映人的聪明程度。智商越高，表示月聪明，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140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分以上称为天才。</a:t>
            </a:r>
          </a:p>
        </p:txBody>
      </p:sp>
      <p:sp>
        <p:nvSpPr>
          <p:cNvPr id="37" name="矩形: 圆角 4"/>
          <p:cNvSpPr>
            <a:spLocks noChangeArrowheads="1"/>
          </p:cNvSpPr>
          <p:nvPr/>
        </p:nvSpPr>
        <p:spPr bwMode="auto">
          <a:xfrm>
            <a:off x="4067944" y="2371829"/>
            <a:ext cx="4225113" cy="165717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试编一程序，输入一个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以内的整数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IQ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，判断是不是天才。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51" y="2159268"/>
            <a:ext cx="2514818" cy="1958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4745" y="1131590"/>
            <a:ext cx="4160113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成绩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大于等于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60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为合格： 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n&gt;=60</a:t>
            </a:r>
          </a:p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整数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是偶数，能被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整除： 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n%2==0</a:t>
            </a:r>
          </a:p>
        </p:txBody>
      </p:sp>
      <p:sp>
        <p:nvSpPr>
          <p:cNvPr id="4" name="右箭头 3"/>
          <p:cNvSpPr/>
          <p:nvPr/>
        </p:nvSpPr>
        <p:spPr>
          <a:xfrm>
            <a:off x="5199241" y="1325148"/>
            <a:ext cx="576064" cy="2880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5" name="TextBox 4"/>
          <p:cNvSpPr txBox="1"/>
          <p:nvPr/>
        </p:nvSpPr>
        <p:spPr>
          <a:xfrm>
            <a:off x="6079688" y="1117002"/>
            <a:ext cx="1475084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关系表达式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关系运算符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22777" y="2427734"/>
          <a:ext cx="6249178" cy="736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6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大于等于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小于等于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不等于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&gt;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&gt;=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&lt;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&lt;=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==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!=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312" y="2784762"/>
            <a:ext cx="1475085" cy="1475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84" y="1563638"/>
            <a:ext cx="4515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关系表达式的结果是一个逻辑值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113" y="1491630"/>
            <a:ext cx="15776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表示假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非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表示真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3990" y="3867894"/>
            <a:ext cx="226215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3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r>
              <a:rPr lang="en-US" altLang="zh-CN" sz="3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即真</a:t>
            </a:r>
            <a:r>
              <a:rPr lang="en-US" altLang="zh-CN" sz="3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endParaRPr lang="zh-CN" altLang="en-US" sz="36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34863" y="2241326"/>
            <a:ext cx="2729389" cy="1143968"/>
            <a:chOff x="5508104" y="1340370"/>
            <a:chExt cx="2729389" cy="1143968"/>
          </a:xfrm>
        </p:grpSpPr>
        <p:grpSp>
          <p:nvGrpSpPr>
            <p:cNvPr id="12" name="组合 33"/>
            <p:cNvGrpSpPr/>
            <p:nvPr/>
          </p:nvGrpSpPr>
          <p:grpSpPr bwMode="auto">
            <a:xfrm>
              <a:off x="5508104" y="1340370"/>
              <a:ext cx="1295334" cy="1088584"/>
              <a:chOff x="0" y="0"/>
              <a:chExt cx="1800200" cy="1512252"/>
            </a:xfrm>
          </p:grpSpPr>
          <p:pic>
            <p:nvPicPr>
              <p:cNvPr id="13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35"/>
              <p:cNvSpPr/>
              <p:nvPr/>
            </p:nvSpPr>
            <p:spPr>
              <a:xfrm>
                <a:off x="240762" y="463862"/>
                <a:ext cx="1539845" cy="641341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kern="100" dirty="0">
                    <a:latin typeface="Calibri" panose="020F0502020204030204" pitchFamily="34" charset="0"/>
                    <a:ea typeface="楷体" panose="02010609060101010101" pitchFamily="49" charset="-122"/>
                    <a:cs typeface="Calibri" panose="020F0502020204030204" pitchFamily="34" charset="0"/>
                  </a:rPr>
                  <a:t>“真”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5" name="组合 33"/>
            <p:cNvGrpSpPr/>
            <p:nvPr/>
          </p:nvGrpSpPr>
          <p:grpSpPr bwMode="auto">
            <a:xfrm>
              <a:off x="6876256" y="1340370"/>
              <a:ext cx="1361237" cy="1143968"/>
              <a:chOff x="0" y="0"/>
              <a:chExt cx="1800200" cy="1512252"/>
            </a:xfrm>
          </p:grpSpPr>
          <p:pic>
            <p:nvPicPr>
              <p:cNvPr id="16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矩形 35"/>
              <p:cNvSpPr/>
              <p:nvPr/>
            </p:nvSpPr>
            <p:spPr>
              <a:xfrm>
                <a:off x="240762" y="463862"/>
                <a:ext cx="1465296" cy="610291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kern="100" dirty="0">
                    <a:latin typeface="Calibri" panose="020F0502020204030204" pitchFamily="34" charset="0"/>
                    <a:ea typeface="楷体" panose="02010609060101010101" pitchFamily="49" charset="-122"/>
                    <a:cs typeface="Calibri" panose="020F0502020204030204" pitchFamily="34" charset="0"/>
                  </a:rPr>
                  <a:t>“假”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35295" y="2886075"/>
            <a:ext cx="1438910" cy="1444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矩形 10"/>
          <p:cNvSpPr/>
          <p:nvPr/>
        </p:nvSpPr>
        <p:spPr>
          <a:xfrm>
            <a:off x="4355976" y="1923678"/>
            <a:ext cx="336502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just">
              <a:spcAft>
                <a:spcPts val="0"/>
              </a:spcAft>
            </a:pP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if(</a:t>
            </a:r>
            <a:r>
              <a:rPr lang="zh-CN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表达式</a:t>
            </a: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)</a:t>
            </a:r>
          </a:p>
          <a:p>
            <a:pPr marL="457200" algn="just">
              <a:spcAft>
                <a:spcPts val="0"/>
              </a:spcAft>
            </a:pP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</a:t>
            </a:r>
            <a:r>
              <a:rPr lang="zh-CN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 语句</a:t>
            </a:r>
            <a:r>
              <a:rPr lang="en-US" altLang="zh-CN" sz="4000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1;</a:t>
            </a:r>
            <a:r>
              <a:rPr lang="en-US" altLang="zh-CN" sz="40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endParaRPr lang="zh-CN" altLang="zh-CN" sz="40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75606"/>
            <a:ext cx="2880320" cy="321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060341"/>
            <a:ext cx="2024236" cy="35324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851920" y="149163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iq</a:t>
            </a:r>
            <a:r>
              <a:rPr lang="en-US" altLang="zh-CN" dirty="0"/>
              <a:t>;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&lt;&lt;"IQ:";                       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</a:t>
            </a:r>
            <a:r>
              <a:rPr lang="en-US" altLang="zh-CN" dirty="0" err="1"/>
              <a:t>iq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C00000"/>
                </a:solidFill>
              </a:rPr>
              <a:t>if (</a:t>
            </a:r>
            <a:r>
              <a:rPr lang="en-US" altLang="zh-CN" dirty="0" err="1">
                <a:solidFill>
                  <a:srgbClr val="C00000"/>
                </a:solidFill>
              </a:rPr>
              <a:t>iq</a:t>
            </a:r>
            <a:r>
              <a:rPr lang="en-US" altLang="zh-CN" dirty="0">
                <a:solidFill>
                  <a:srgbClr val="C00000"/>
                </a:solidFill>
              </a:rPr>
              <a:t>&gt;140) 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          </a:t>
            </a:r>
            <a:r>
              <a:rPr lang="en-US" altLang="zh-CN" dirty="0" err="1">
                <a:solidFill>
                  <a:srgbClr val="C00000"/>
                </a:solidFill>
              </a:rPr>
              <a:t>cout</a:t>
            </a:r>
            <a:r>
              <a:rPr lang="en-US" altLang="zh-CN" dirty="0">
                <a:solidFill>
                  <a:srgbClr val="C00000"/>
                </a:solidFill>
              </a:rPr>
              <a:t>&lt;&lt;"</a:t>
            </a:r>
            <a:r>
              <a:rPr lang="zh-CN" altLang="en-US" dirty="0">
                <a:solidFill>
                  <a:srgbClr val="C00000"/>
                </a:solidFill>
              </a:rPr>
              <a:t>天才</a:t>
            </a:r>
            <a:r>
              <a:rPr lang="en-US" altLang="zh-CN" dirty="0">
                <a:solidFill>
                  <a:srgbClr val="C00000"/>
                </a:solidFill>
              </a:rPr>
              <a:t>";   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889" y="2588794"/>
            <a:ext cx="2036064" cy="204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987574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556792"/>
            <a:ext cx="7416824" cy="2958976"/>
          </a:xfrm>
        </p:spPr>
        <p:txBody>
          <a:bodyPr/>
          <a:lstStyle/>
          <a:p>
            <a:pPr lvl="1"/>
            <a:r>
              <a:rPr lang="en-US" altLang="zh-CN" sz="3200" dirty="0"/>
              <a:t>if   </a:t>
            </a:r>
            <a:r>
              <a:rPr lang="zh-CN" altLang="en-US" sz="3200" dirty="0"/>
              <a:t>如果，假如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2054255"/>
            <a:ext cx="2491956" cy="2651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608" y="56984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下列表达式的值为“真”的是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    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7%2 ==0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'a'&gt;'0'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99&lt;60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7642" y="584031"/>
            <a:ext cx="4936302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 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if(x&gt;100)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      x-=10;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110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x</a:t>
            </a:r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123" y="3442067"/>
            <a:ext cx="1412437" cy="1211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2250" y="643798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输入一个整数，判断是不是偶数，若是就是输出“偶数”。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1067127"/>
            <a:ext cx="4511094" cy="255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请输入一个整数：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_________________________;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if(________)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偶数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063B212-21A0-4F68-8AF2-3B48EDFBB18F}"/>
              </a:ext>
            </a:extLst>
          </p:cNvPr>
          <p:cNvSpPr txBox="1"/>
          <p:nvPr/>
        </p:nvSpPr>
        <p:spPr>
          <a:xfrm>
            <a:off x="2483768" y="4156024"/>
            <a:ext cx="3903633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2250" y="643798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1012598" y="1851670"/>
            <a:ext cx="6295706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4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输入一个年份，判断是不是闰年，若是就是输出“闰年”。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83768" y="4156024"/>
            <a:ext cx="3903633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455</Words>
  <Application>Microsoft Office PowerPoint</Application>
  <PresentationFormat>全屏显示(16:9)</PresentationFormat>
  <Paragraphs>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仿宋</vt:lpstr>
      <vt:lpstr>黑体</vt:lpstr>
      <vt:lpstr>楷体</vt:lpstr>
      <vt:lpstr>隶书</vt:lpstr>
      <vt:lpstr>宋体</vt:lpstr>
      <vt:lpstr>微软雅黑</vt:lpstr>
      <vt:lpstr>Arial</vt:lpstr>
      <vt:lpstr>Calibri</vt:lpstr>
      <vt:lpstr>Cambria</vt:lpstr>
      <vt:lpstr>Consolas</vt:lpstr>
      <vt:lpstr>Times New Roman</vt:lpstr>
      <vt:lpstr>Office 主题</vt:lpstr>
      <vt:lpstr>PowerPoint 演示文稿</vt:lpstr>
      <vt:lpstr>选择结构</vt:lpstr>
      <vt:lpstr>智商问题 ——if语句</vt:lpstr>
      <vt:lpstr>PowerPoint 演示文稿</vt:lpstr>
      <vt:lpstr>PowerPoint 演示文稿</vt:lpstr>
      <vt:lpstr>PowerPoint 演示文稿</vt:lpstr>
      <vt:lpstr>PowerPoint 演示文稿</vt:lpstr>
      <vt:lpstr>编程小词典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 亚涛</cp:lastModifiedBy>
  <cp:revision>69</cp:revision>
  <dcterms:created xsi:type="dcterms:W3CDTF">2018-07-03T13:24:00Z</dcterms:created>
  <dcterms:modified xsi:type="dcterms:W3CDTF">2021-06-09T02:36:23Z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