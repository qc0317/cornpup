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76" r:id="rId4"/>
    <p:sldId id="284" r:id="rId5"/>
    <p:sldId id="283" r:id="rId6"/>
    <p:sldId id="277" r:id="rId7"/>
    <p:sldId id="282" r:id="rId8"/>
    <p:sldId id="268" r:id="rId9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397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43815"/>
            <a:ext cx="9143365" cy="514286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tags" Target="../tags/tag2.xml"/><Relationship Id="rId2" Type="http://schemas.openxmlformats.org/officeDocument/2006/relationships/image" Target="../media/image5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755576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454912" y="23557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7664" y="32558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雪花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300253"/>
            <a:ext cx="9080372" cy="4530345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algn="ctr"/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371882"/>
            <a:ext cx="8824928" cy="4279648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638029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雪花 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累加器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4" name="矩形: 圆角 4"/>
          <p:cNvSpPr>
            <a:spLocks noChangeArrowheads="1"/>
          </p:cNvSpPr>
          <p:nvPr/>
        </p:nvSpPr>
        <p:spPr bwMode="auto">
          <a:xfrm>
            <a:off x="3897122" y="3221210"/>
            <a:ext cx="3240360" cy="136815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试编一程序，算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</a:t>
            </a:r>
            <a:r>
              <a:rPr lang="zh-CN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算《雪花》诗中第一句中数字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的和是多少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altLang="zh-CN" sz="20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/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76" y="1646902"/>
            <a:ext cx="3088475" cy="2861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44008" y="1521416"/>
            <a:ext cx="2236510" cy="16312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雪  花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一片二片三四片，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五片六片七八片。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九片十片无数片，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飞入梅花看不见。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 flipH="1">
            <a:off x="7137400" y="2621915"/>
            <a:ext cx="1649095" cy="1656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35677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矩形: 圆角 4"/>
          <p:cNvSpPr>
            <a:spLocks noChangeArrowheads="1"/>
          </p:cNvSpPr>
          <p:nvPr/>
        </p:nvSpPr>
        <p:spPr bwMode="auto">
          <a:xfrm>
            <a:off x="2483768" y="1360206"/>
            <a:ext cx="4032448" cy="242308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altLang="en-US" sz="20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想一下，有一个箱子，一开始是空的，第一次往里面扔一个球，第二次往里面扔两个球，第三次往里面扔三个球，第四次往里面扔四个球。那么，箱子里面一共有多少个球</a:t>
            </a:r>
            <a:r>
              <a:rPr lang="en-US" altLang="zh-CN" sz="20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?</a:t>
            </a:r>
            <a:endParaRPr lang="zh-CN" altLang="zh-CN" sz="2000" kern="100" dirty="0">
              <a:solidFill>
                <a:schemeClr val="tx1">
                  <a:lumMod val="85000"/>
                  <a:lumOff val="15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916" y="2217410"/>
            <a:ext cx="1851820" cy="2400508"/>
          </a:xfrm>
          <a:prstGeom prst="rect">
            <a:avLst/>
          </a:prstGeom>
        </p:spPr>
      </p:pic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711950" y="2346325"/>
            <a:ext cx="1649095" cy="1656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3"/>
          <p:cNvSpPr/>
          <p:nvPr/>
        </p:nvSpPr>
        <p:spPr>
          <a:xfrm>
            <a:off x="107504" y="35677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矩形 2"/>
          <p:cNvSpPr/>
          <p:nvPr/>
        </p:nvSpPr>
        <p:spPr>
          <a:xfrm>
            <a:off x="159885" y="993183"/>
            <a:ext cx="374441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sum;</a:t>
            </a:r>
            <a:endParaRPr lang="en-US" altLang="zh-CN" dirty="0"/>
          </a:p>
          <a:p>
            <a:r>
              <a:rPr lang="en-US" altLang="zh-CN" dirty="0"/>
              <a:t>    sum=0;</a:t>
            </a:r>
            <a:endParaRPr lang="en-US" altLang="zh-CN" dirty="0"/>
          </a:p>
          <a:p>
            <a:r>
              <a:rPr lang="en-US" altLang="zh-CN" dirty="0"/>
              <a:t>    sum=sum+1;</a:t>
            </a:r>
            <a:endParaRPr lang="en-US" altLang="zh-CN" dirty="0"/>
          </a:p>
          <a:p>
            <a:r>
              <a:rPr lang="en-US" altLang="zh-CN" dirty="0"/>
              <a:t>    sum=sum+2;</a:t>
            </a:r>
            <a:endParaRPr lang="en-US" altLang="zh-CN" dirty="0"/>
          </a:p>
          <a:p>
            <a:r>
              <a:rPr lang="en-US" altLang="zh-CN" dirty="0"/>
              <a:t>    sum=sum+3;</a:t>
            </a:r>
            <a:endParaRPr lang="en-US" altLang="zh-CN" dirty="0"/>
          </a:p>
          <a:p>
            <a:r>
              <a:rPr lang="en-US" altLang="zh-CN" dirty="0"/>
              <a:t>    sum=sum+4;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&lt;&lt;"1+2+3+4="&lt;&lt;sum&lt;&lt;</a:t>
            </a:r>
            <a:r>
              <a:rPr lang="en-US" altLang="zh-CN" dirty="0" err="1"/>
              <a:t>endl</a:t>
            </a:r>
            <a:r>
              <a:rPr lang="en-US" altLang="zh-CN" dirty="0"/>
              <a:t>;  </a:t>
            </a:r>
            <a:endParaRPr lang="en-US" altLang="zh-CN" dirty="0"/>
          </a:p>
          <a:p>
            <a:r>
              <a:rPr lang="en-US" altLang="zh-CN" dirty="0"/>
              <a:t>    return 0;</a:t>
            </a:r>
            <a:endParaRPr lang="en-US" altLang="zh-CN" dirty="0"/>
          </a:p>
          <a:p>
            <a:r>
              <a:rPr lang="en-US" altLang="zh-CN" dirty="0"/>
              <a:t> }</a:t>
            </a:r>
            <a:endParaRPr lang="en-US" altLang="zh-CN" dirty="0"/>
          </a:p>
        </p:txBody>
      </p:sp>
      <p:grpSp>
        <p:nvGrpSpPr>
          <p:cNvPr id="8" name="组合 33"/>
          <p:cNvGrpSpPr/>
          <p:nvPr/>
        </p:nvGrpSpPr>
        <p:grpSpPr bwMode="auto">
          <a:xfrm>
            <a:off x="3127175" y="859584"/>
            <a:ext cx="1228801" cy="1032670"/>
            <a:chOff x="0" y="0"/>
            <a:chExt cx="1800200" cy="1512252"/>
          </a:xfrm>
        </p:grpSpPr>
        <p:pic>
          <p:nvPicPr>
            <p:cNvPr id="9" name="Picture 85" descr="png-144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800200" cy="151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矩形 35"/>
            <p:cNvSpPr/>
            <p:nvPr/>
          </p:nvSpPr>
          <p:spPr>
            <a:xfrm>
              <a:off x="611180" y="441139"/>
              <a:ext cx="721432" cy="676067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累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组合 33"/>
          <p:cNvGrpSpPr/>
          <p:nvPr/>
        </p:nvGrpSpPr>
        <p:grpSpPr bwMode="auto">
          <a:xfrm>
            <a:off x="5007824" y="859584"/>
            <a:ext cx="1228801" cy="1032670"/>
            <a:chOff x="0" y="0"/>
            <a:chExt cx="1800200" cy="1512252"/>
          </a:xfrm>
        </p:grpSpPr>
        <p:pic>
          <p:nvPicPr>
            <p:cNvPr id="12" name="Picture 85" descr="png-144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800200" cy="151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矩形 35"/>
            <p:cNvSpPr/>
            <p:nvPr/>
          </p:nvSpPr>
          <p:spPr>
            <a:xfrm>
              <a:off x="611180" y="441139"/>
              <a:ext cx="721432" cy="676067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加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5" name="组合 33"/>
          <p:cNvGrpSpPr/>
          <p:nvPr/>
        </p:nvGrpSpPr>
        <p:grpSpPr bwMode="auto">
          <a:xfrm>
            <a:off x="6888472" y="859584"/>
            <a:ext cx="1228801" cy="1032670"/>
            <a:chOff x="0" y="0"/>
            <a:chExt cx="1800200" cy="1512252"/>
          </a:xfrm>
        </p:grpSpPr>
        <p:pic>
          <p:nvPicPr>
            <p:cNvPr id="17" name="Picture 85" descr="png-144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800200" cy="1512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矩形 35"/>
            <p:cNvSpPr/>
            <p:nvPr/>
          </p:nvSpPr>
          <p:spPr>
            <a:xfrm>
              <a:off x="611180" y="441139"/>
              <a:ext cx="721432" cy="676067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器</a:t>
              </a:r>
              <a:endParaRPr lang="zh-CN" altLang="en-US" sz="2400" b="1" noProof="1">
                <a:effectLst>
                  <a:outerShdw blurRad="38100" dist="38100" dir="2700000">
                    <a:srgbClr val="C0C0C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3607612" y="1727471"/>
            <a:ext cx="298501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  sum  =   sum     +     ⃝</a:t>
            </a:r>
            <a:endParaRPr lang="en-US" altLang="zh-CN" dirty="0"/>
          </a:p>
          <a:p>
            <a:r>
              <a:rPr lang="en-US" altLang="zh-CN" dirty="0"/>
              <a:t>--------------------------- </a:t>
            </a:r>
            <a:endParaRPr lang="en-US" altLang="zh-CN" dirty="0"/>
          </a:p>
          <a:p>
            <a:r>
              <a:rPr lang="en-US" altLang="zh-CN" dirty="0"/>
              <a:t> sum  </a:t>
            </a:r>
            <a:r>
              <a:rPr lang="en-US" altLang="zh-CN" dirty="0">
                <a:sym typeface="Wingdings" panose="05000000000000000000" pitchFamily="2" charset="2"/>
              </a:rPr>
              <a:t>  </a:t>
            </a:r>
            <a:r>
              <a:rPr lang="en-US" altLang="zh-CN" dirty="0"/>
              <a:t>0;</a:t>
            </a:r>
            <a:endParaRPr lang="en-US" altLang="zh-CN" dirty="0"/>
          </a:p>
          <a:p>
            <a:r>
              <a:rPr lang="en-US" altLang="zh-CN" dirty="0"/>
              <a:t> sum  </a:t>
            </a:r>
            <a:r>
              <a:rPr lang="en-US" altLang="zh-CN" dirty="0">
                <a:sym typeface="Wingdings" panose="05000000000000000000" pitchFamily="2" charset="2"/>
              </a:rPr>
              <a:t>  </a:t>
            </a:r>
            <a:r>
              <a:rPr lang="en-US" altLang="zh-CN" dirty="0"/>
              <a:t>0                 +1;</a:t>
            </a:r>
            <a:endParaRPr lang="en-US" altLang="zh-CN" dirty="0"/>
          </a:p>
          <a:p>
            <a:r>
              <a:rPr lang="en-US" altLang="zh-CN" dirty="0"/>
              <a:t> sum  </a:t>
            </a:r>
            <a:r>
              <a:rPr lang="en-US" altLang="zh-CN" dirty="0">
                <a:sym typeface="Wingdings" panose="05000000000000000000" pitchFamily="2" charset="2"/>
              </a:rPr>
              <a:t>  </a:t>
            </a:r>
            <a:r>
              <a:rPr lang="en-US" altLang="zh-CN" u="sng" dirty="0">
                <a:sym typeface="Wingdings" panose="05000000000000000000" pitchFamily="2" charset="2"/>
              </a:rPr>
              <a:t>0+1</a:t>
            </a:r>
            <a:r>
              <a:rPr lang="en-US" altLang="zh-CN" dirty="0">
                <a:sym typeface="Wingdings" panose="05000000000000000000" pitchFamily="2" charset="2"/>
              </a:rPr>
              <a:t>             </a:t>
            </a:r>
            <a:r>
              <a:rPr lang="en-US" altLang="zh-CN" dirty="0"/>
              <a:t>+2;</a:t>
            </a:r>
            <a:endParaRPr lang="en-US" altLang="zh-CN" dirty="0"/>
          </a:p>
          <a:p>
            <a:r>
              <a:rPr lang="en-US" altLang="zh-CN" dirty="0"/>
              <a:t> sum   </a:t>
            </a:r>
            <a:r>
              <a:rPr lang="en-US" altLang="zh-CN" dirty="0">
                <a:sym typeface="Wingdings" panose="05000000000000000000" pitchFamily="2" charset="2"/>
              </a:rPr>
              <a:t>  </a:t>
            </a:r>
            <a:r>
              <a:rPr lang="en-US" altLang="zh-CN" u="sng" dirty="0">
                <a:sym typeface="Wingdings" panose="05000000000000000000" pitchFamily="2" charset="2"/>
              </a:rPr>
              <a:t>0+1+2</a:t>
            </a:r>
            <a:r>
              <a:rPr lang="en-US" altLang="zh-CN" dirty="0">
                <a:sym typeface="Wingdings" panose="05000000000000000000" pitchFamily="2" charset="2"/>
              </a:rPr>
              <a:t>        </a:t>
            </a:r>
            <a:r>
              <a:rPr lang="en-US" altLang="zh-CN" dirty="0"/>
              <a:t>+3;</a:t>
            </a:r>
            <a:endParaRPr lang="en-US" altLang="zh-CN" dirty="0"/>
          </a:p>
          <a:p>
            <a:r>
              <a:rPr lang="en-US" altLang="zh-CN" dirty="0"/>
              <a:t> sum   </a:t>
            </a:r>
            <a:r>
              <a:rPr lang="en-US" altLang="zh-CN" dirty="0">
                <a:sym typeface="Wingdings" panose="05000000000000000000" pitchFamily="2" charset="2"/>
              </a:rPr>
              <a:t>  </a:t>
            </a:r>
            <a:r>
              <a:rPr lang="en-US" altLang="zh-CN" u="sng" dirty="0">
                <a:sym typeface="Wingdings" panose="05000000000000000000" pitchFamily="2" charset="2"/>
              </a:rPr>
              <a:t>0+1+2+3</a:t>
            </a:r>
            <a:r>
              <a:rPr lang="en-US" altLang="zh-CN" dirty="0">
                <a:sym typeface="Wingdings" panose="05000000000000000000" pitchFamily="2" charset="2"/>
              </a:rPr>
              <a:t>   </a:t>
            </a:r>
            <a:r>
              <a:rPr lang="en-US" altLang="zh-CN" dirty="0"/>
              <a:t>+4;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就是把原来</a:t>
            </a:r>
            <a:r>
              <a:rPr lang="en-US" altLang="zh-CN" dirty="0"/>
              <a:t>sum</a:t>
            </a:r>
            <a:r>
              <a:rPr lang="zh-CN" altLang="en-US" dirty="0"/>
              <a:t>的值，加上</a:t>
            </a:r>
            <a:r>
              <a:rPr lang="en-US" altLang="zh-CN" dirty="0"/>
              <a:t>i</a:t>
            </a:r>
            <a:r>
              <a:rPr lang="zh-CN" altLang="en-US" dirty="0"/>
              <a:t>的值，然后再赋给</a:t>
            </a:r>
            <a:r>
              <a:rPr lang="en-US" altLang="zh-CN" dirty="0"/>
              <a:t>sum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325" y="3887494"/>
            <a:ext cx="1617532" cy="655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08419" y="774973"/>
            <a:ext cx="41764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牛刀“小”试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52122" y="556285"/>
            <a:ext cx="5296342" cy="4207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              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499794" y="1899620"/>
            <a:ext cx="2304256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(8+6)×a-10+c÷2</a:t>
            </a:r>
            <a:endParaRPr lang="en-US" altLang="zh-CN" sz="16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在</a:t>
            </a:r>
            <a:r>
              <a:rPr lang="en-US" altLang="zh-CN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C++</a:t>
            </a:r>
            <a:r>
              <a:rPr lang="zh-CN" altLang="en-US" sz="1600" b="1" dirty="0">
                <a:latin typeface="仿宋" panose="02010609060101010101" pitchFamily="49" charset="-122"/>
                <a:ea typeface="仿宋" panose="02010609060101010101" pitchFamily="49" charset="-122"/>
              </a:rPr>
              <a:t>中应表示为（）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(8+6)×a-10+c÷2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(8+6)*a-10+c÷2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(8+6)*a-10+c/2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lphaUcPeriod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(8+6)×a-10+c/2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22009" y="1145080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a     b     c     s            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759212" y="988333"/>
            <a:ext cx="26849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</a:t>
            </a:r>
            <a:r>
              <a:rPr lang="en-US" altLang="zh-CN" sz="1600" dirty="0" err="1"/>
              <a:t>a,b,c,s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s=0;</a:t>
            </a:r>
            <a:endParaRPr lang="en-US" altLang="zh-CN" sz="1600" dirty="0"/>
          </a:p>
          <a:p>
            <a:r>
              <a:rPr lang="en-US" altLang="zh-CN" sz="1600" dirty="0"/>
              <a:t>      a=7;</a:t>
            </a:r>
            <a:endParaRPr lang="en-US" altLang="zh-CN" sz="1600" dirty="0"/>
          </a:p>
          <a:p>
            <a:r>
              <a:rPr lang="en-US" altLang="zh-CN" sz="1600" dirty="0"/>
              <a:t>      b=8;</a:t>
            </a:r>
            <a:endParaRPr lang="en-US" altLang="zh-CN" sz="1600" dirty="0"/>
          </a:p>
          <a:p>
            <a:r>
              <a:rPr lang="en-US" altLang="zh-CN" sz="1600" dirty="0"/>
              <a:t>      c=3;</a:t>
            </a:r>
            <a:endParaRPr lang="en-US" altLang="zh-CN" sz="1600" dirty="0"/>
          </a:p>
          <a:p>
            <a:r>
              <a:rPr lang="en-US" altLang="zh-CN" sz="1600" dirty="0"/>
              <a:t>      s=</a:t>
            </a:r>
            <a:r>
              <a:rPr lang="en-US" altLang="zh-CN" sz="1600" dirty="0" err="1"/>
              <a:t>s+a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s=</a:t>
            </a:r>
            <a:r>
              <a:rPr lang="en-US" altLang="zh-CN" sz="1600" dirty="0" err="1"/>
              <a:t>s+b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s=</a:t>
            </a:r>
            <a:r>
              <a:rPr lang="en-US" altLang="zh-CN" sz="1600" dirty="0" err="1"/>
              <a:t>s+c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&lt;&lt;"s="&lt;&lt;s&lt;&lt;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7338" y="3403327"/>
            <a:ext cx="936104" cy="121954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147400" y="2994266"/>
            <a:ext cx="2416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10" grpId="0" animBg="1"/>
      <p:bldP spid="5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980728" y="575220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牛刀“小”试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467544" y="1254669"/>
            <a:ext cx="2952328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altLang="zh-CN" sz="1800" dirty="0"/>
              <a:t>3</a:t>
            </a:r>
            <a:r>
              <a:rPr lang="zh-CN" altLang="en-US" sz="1800" dirty="0"/>
              <a:t>、完善程序。</a:t>
            </a:r>
            <a:endParaRPr lang="en-US" altLang="zh-CN" sz="1800" dirty="0"/>
          </a:p>
          <a:p>
            <a:pPr marL="400050" lvl="1"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z="1600" dirty="0"/>
              <a:t>每周三，可可老师要为向日葵班、苹果班、草莓班的同学上智能机器人课，其中向日葵班</a:t>
            </a:r>
            <a:r>
              <a:rPr lang="en-US" altLang="zh-CN" sz="1600" dirty="0"/>
              <a:t>43</a:t>
            </a:r>
            <a:r>
              <a:rPr lang="zh-CN" altLang="en-US" sz="1600" dirty="0"/>
              <a:t>人，苹果班</a:t>
            </a:r>
            <a:r>
              <a:rPr lang="en-US" altLang="zh-CN" sz="1600" dirty="0"/>
              <a:t>42</a:t>
            </a:r>
            <a:r>
              <a:rPr lang="zh-CN" altLang="en-US" sz="1600" dirty="0"/>
              <a:t>人，草莓班</a:t>
            </a:r>
            <a:r>
              <a:rPr lang="en-US" altLang="zh-CN" sz="1600" dirty="0"/>
              <a:t>45</a:t>
            </a:r>
            <a:r>
              <a:rPr lang="zh-CN" altLang="en-US" sz="1600" dirty="0"/>
              <a:t>人。请问每周三可可老师一共为多少名学生上课？</a:t>
            </a:r>
            <a:endParaRPr lang="en-US" altLang="zh-CN" sz="1600" dirty="0"/>
          </a:p>
        </p:txBody>
      </p:sp>
      <p:sp>
        <p:nvSpPr>
          <p:cNvPr id="7" name="矩形 6"/>
          <p:cNvSpPr/>
          <p:nvPr/>
        </p:nvSpPr>
        <p:spPr>
          <a:xfrm>
            <a:off x="3774044" y="853393"/>
            <a:ext cx="2952328" cy="3785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  </a:t>
            </a:r>
            <a:r>
              <a:rPr lang="en-US" altLang="zh-CN" sz="1600" dirty="0" err="1"/>
              <a:t>sum,n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___________;</a:t>
            </a:r>
            <a:endParaRPr lang="en-US" altLang="zh-CN" sz="1600" dirty="0"/>
          </a:p>
          <a:p>
            <a:r>
              <a:rPr lang="en-US" altLang="zh-CN" sz="1600" dirty="0"/>
              <a:t>      n=43;</a:t>
            </a:r>
            <a:endParaRPr lang="en-US" altLang="zh-CN" sz="1600" dirty="0"/>
          </a:p>
          <a:p>
            <a:r>
              <a:rPr lang="en-US" altLang="zh-CN" sz="1600" dirty="0"/>
              <a:t>      sum=</a:t>
            </a:r>
            <a:r>
              <a:rPr lang="en-US" altLang="zh-CN" sz="1600" dirty="0" err="1"/>
              <a:t>sum+n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n=42;</a:t>
            </a:r>
            <a:endParaRPr lang="en-US" altLang="zh-CN" sz="1600" dirty="0"/>
          </a:p>
          <a:p>
            <a:r>
              <a:rPr lang="en-US" altLang="zh-CN" sz="1600" dirty="0"/>
              <a:t>      _____________;</a:t>
            </a:r>
            <a:endParaRPr lang="en-US" altLang="zh-CN" sz="1600" dirty="0"/>
          </a:p>
          <a:p>
            <a:r>
              <a:rPr lang="en-US" altLang="zh-CN" sz="1600" dirty="0"/>
              <a:t>      n=45;</a:t>
            </a:r>
            <a:endParaRPr lang="en-US" altLang="zh-CN" sz="1600" dirty="0"/>
          </a:p>
          <a:p>
            <a:r>
              <a:rPr lang="en-US" altLang="zh-CN" sz="1600" dirty="0"/>
              <a:t>      sum=</a:t>
            </a:r>
            <a:r>
              <a:rPr lang="en-US" altLang="zh-CN" sz="1600" dirty="0" err="1"/>
              <a:t>sum+n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&lt;&lt;"sum="&lt;&lt;sum&lt;&lt;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6223" y="3410312"/>
            <a:ext cx="936104" cy="12195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506.4503937007876,&quot;width&quot;:4863.7401574803152}"/>
</p:tagLst>
</file>

<file path=ppt/tags/tag2.xml><?xml version="1.0" encoding="utf-8"?>
<p:tagLst xmlns:p="http://schemas.openxmlformats.org/presentationml/2006/main">
  <p:tag name="KSO_WM_UNIT_PLACING_PICTURE_USER_VIEWPORT" val="{&quot;height&quot;:2275,&quot;width&quot;:226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1234</Words>
  <Application>WPS 演示</Application>
  <PresentationFormat>全屏显示(16:9)</PresentationFormat>
  <Paragraphs>116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隶书</vt:lpstr>
      <vt:lpstr>Calibri</vt:lpstr>
      <vt:lpstr>Arial Unicode MS</vt:lpstr>
      <vt:lpstr>Office 主题</vt:lpstr>
      <vt:lpstr>PowerPoint 演示文稿</vt:lpstr>
      <vt:lpstr>雪花 ——累加器</vt:lpstr>
      <vt:lpstr>PowerPoint 演示文稿</vt:lpstr>
      <vt:lpstr>PowerPoint 演示文稿</vt:lpstr>
      <vt:lpstr>牛刀“小”试</vt:lpstr>
      <vt:lpstr>牛刀“小”试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74</cp:revision>
  <dcterms:created xsi:type="dcterms:W3CDTF">2018-07-03T13:24:00Z</dcterms:created>
  <dcterms:modified xsi:type="dcterms:W3CDTF">2021-04-12T07:22:24Z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