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96" r:id="rId3"/>
    <p:sldId id="269" r:id="rId4"/>
    <p:sldId id="294" r:id="rId5"/>
    <p:sldId id="295" r:id="rId6"/>
    <p:sldId id="267" r:id="rId7"/>
    <p:sldId id="280" r:id="rId8"/>
    <p:sldId id="298" r:id="rId9"/>
  </p:sldIdLst>
  <p:sldSz cx="9144000" cy="5143500" type="screen16x9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8" d="100"/>
          <a:sy n="108" d="100"/>
        </p:scale>
        <p:origin x="730" y="72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>
            <a:normAutofit/>
          </a:bodyPr>
          <a:lstStyle>
            <a:lvl1pPr>
              <a:defRPr sz="36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 b="1">
                <a:latin typeface="仿宋" panose="02010609060101010101" pitchFamily="49" charset="-122"/>
                <a:ea typeface="仿宋" panose="02010609060101010101" pitchFamily="49" charset="-122"/>
              </a:defRPr>
            </a:lvl1pPr>
            <a:lvl2pPr>
              <a:defRPr sz="2000" b="1">
                <a:latin typeface="仿宋" panose="02010609060101010101" pitchFamily="49" charset="-122"/>
                <a:ea typeface="仿宋" panose="02010609060101010101" pitchFamily="49" charset="-122"/>
              </a:defRPr>
            </a:lvl2pPr>
            <a:lvl3pPr>
              <a:defRPr sz="1800" b="1">
                <a:latin typeface="仿宋" panose="02010609060101010101" pitchFamily="49" charset="-122"/>
                <a:ea typeface="仿宋" panose="02010609060101010101" pitchFamily="49" charset="-122"/>
              </a:defRPr>
            </a:lvl3pPr>
            <a:lvl4pPr>
              <a:defRPr sz="1600" b="1">
                <a:latin typeface="仿宋" panose="02010609060101010101" pitchFamily="49" charset="-122"/>
                <a:ea typeface="仿宋" panose="02010609060101010101" pitchFamily="49" charset="-122"/>
              </a:defRPr>
            </a:lvl4pPr>
            <a:lvl5pPr>
              <a:defRPr sz="1600" b="1">
                <a:latin typeface="仿宋" panose="02010609060101010101" pitchFamily="49" charset="-122"/>
                <a:ea typeface="仿宋" panose="02010609060101010101" pitchFamily="49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图片 6" descr="图片背景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0456" y="771550"/>
            <a:ext cx="5688632" cy="2016973"/>
          </a:xfrm>
          <a:prstGeom prst="rect">
            <a:avLst/>
          </a:prstGeom>
        </p:spPr>
      </p:pic>
      <p:sp>
        <p:nvSpPr>
          <p:cNvPr id="7" name="object 6"/>
          <p:cNvSpPr/>
          <p:nvPr/>
        </p:nvSpPr>
        <p:spPr>
          <a:xfrm>
            <a:off x="1043608" y="2139702"/>
            <a:ext cx="7992888" cy="223224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" name="文本框 1"/>
          <p:cNvSpPr txBox="1"/>
          <p:nvPr/>
        </p:nvSpPr>
        <p:spPr>
          <a:xfrm>
            <a:off x="1743890" y="2353296"/>
            <a:ext cx="633670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36</a:t>
            </a:r>
            <a:r>
              <a:rPr lang="zh-CN" altLang="en-US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课时</a:t>
            </a:r>
            <a:endParaRPr lang="zh-CN" altLang="en-US" sz="40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936104" y="3255826"/>
            <a:ext cx="810039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水仙花数</a:t>
            </a:r>
            <a:r>
              <a:rPr lang="en-US" altLang="zh-CN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数位分离</a:t>
            </a:r>
            <a:r>
              <a:rPr lang="en-US" altLang="zh-CN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sz="40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2"/>
          <p:cNvSpPr/>
          <p:nvPr/>
        </p:nvSpPr>
        <p:spPr>
          <a:xfrm>
            <a:off x="31814" y="289190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" name="object 3"/>
          <p:cNvSpPr/>
          <p:nvPr/>
        </p:nvSpPr>
        <p:spPr>
          <a:xfrm>
            <a:off x="107504" y="428533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751219"/>
            <a:ext cx="8229600" cy="641226"/>
          </a:xfrm>
        </p:spPr>
        <p:txBody>
          <a:bodyPr/>
          <a:lstStyle/>
          <a:p>
            <a:r>
              <a:rPr lang="zh-CN" altLang="en-US" dirty="0">
                <a:solidFill>
                  <a:srgbClr val="00B0F0"/>
                </a:solidFill>
              </a:rPr>
              <a:t>水仙花数</a:t>
            </a:r>
            <a:r>
              <a:rPr lang="en-US" altLang="zh-CN" sz="2400" dirty="0">
                <a:solidFill>
                  <a:srgbClr val="00B0F0"/>
                </a:solidFill>
              </a:rPr>
              <a:t>——</a:t>
            </a:r>
            <a:r>
              <a:rPr lang="zh-CN" altLang="en-US" sz="2400" dirty="0">
                <a:solidFill>
                  <a:srgbClr val="00B0F0"/>
                </a:solidFill>
              </a:rPr>
              <a:t>数位分离</a:t>
            </a:r>
            <a:endParaRPr lang="zh-CN" altLang="en-US" sz="2400" dirty="0">
              <a:solidFill>
                <a:srgbClr val="00B0F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331640" y="1437775"/>
            <a:ext cx="6647974" cy="64633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zh-CN" altLang="en-US" dirty="0">
                <a:latin typeface="+mj-ea"/>
                <a:ea typeface="+mj-ea"/>
              </a:rPr>
              <a:t>水仙花数是一个三位数，它等于自己各个数位上数字的立方和。</a:t>
            </a:r>
            <a:endParaRPr lang="en-US" altLang="zh-CN" dirty="0">
              <a:latin typeface="+mj-ea"/>
              <a:ea typeface="+mj-ea"/>
            </a:endParaRPr>
          </a:p>
          <a:p>
            <a:r>
              <a:rPr lang="zh-CN" altLang="en-US" dirty="0">
                <a:latin typeface="+mj-ea"/>
                <a:ea typeface="+mj-ea"/>
              </a:rPr>
              <a:t>例如：</a:t>
            </a:r>
            <a:r>
              <a:rPr lang="en-US" altLang="zh-CN" dirty="0">
                <a:latin typeface="+mj-ea"/>
                <a:ea typeface="+mj-ea"/>
              </a:rPr>
              <a:t>153=1</a:t>
            </a:r>
            <a:r>
              <a:rPr lang="en-US" altLang="zh-CN" baseline="30000" dirty="0">
                <a:latin typeface="+mj-ea"/>
                <a:ea typeface="+mj-ea"/>
              </a:rPr>
              <a:t>3</a:t>
            </a:r>
            <a:r>
              <a:rPr lang="en-US" altLang="zh-CN" dirty="0">
                <a:latin typeface="+mj-ea"/>
                <a:ea typeface="+mj-ea"/>
              </a:rPr>
              <a:t>+5</a:t>
            </a:r>
            <a:r>
              <a:rPr lang="en-US" altLang="zh-CN" baseline="30000" dirty="0">
                <a:latin typeface="+mj-ea"/>
                <a:ea typeface="+mj-ea"/>
              </a:rPr>
              <a:t>3</a:t>
            </a:r>
            <a:r>
              <a:rPr lang="en-US" altLang="zh-CN" dirty="0">
                <a:latin typeface="+mj-ea"/>
                <a:ea typeface="+mj-ea"/>
              </a:rPr>
              <a:t>+3</a:t>
            </a:r>
            <a:r>
              <a:rPr lang="en-US" altLang="zh-CN" baseline="30000" dirty="0">
                <a:latin typeface="+mj-ea"/>
                <a:ea typeface="+mj-ea"/>
              </a:rPr>
              <a:t>3</a:t>
            </a:r>
            <a:endParaRPr lang="zh-CN" altLang="en-US" baseline="30000" dirty="0">
              <a:latin typeface="+mj-ea"/>
              <a:ea typeface="+mj-ea"/>
            </a:endParaRPr>
          </a:p>
        </p:txBody>
      </p:sp>
      <p:sp>
        <p:nvSpPr>
          <p:cNvPr id="13" name="AutoShape 581"/>
          <p:cNvSpPr>
            <a:spLocks noChangeArrowheads="1"/>
          </p:cNvSpPr>
          <p:nvPr/>
        </p:nvSpPr>
        <p:spPr bwMode="auto">
          <a:xfrm>
            <a:off x="2123728" y="2555120"/>
            <a:ext cx="3886422" cy="1453328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 w="9525">
            <a:solidFill>
              <a:srgbClr val="000000"/>
            </a:solidFill>
            <a:rou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indent="756285" algn="just">
              <a:spcAft>
                <a:spcPts val="0"/>
              </a:spcAft>
            </a:pPr>
            <a:r>
              <a:rPr lang="zh-CN" sz="2800" kern="100" dirty="0">
                <a:effectLst/>
                <a:latin typeface="Calibri" panose="020F0502020204030204" pitchFamily="34" charset="0"/>
                <a:ea typeface="楷体" panose="02010609060101010101" pitchFamily="49" charset="-122"/>
                <a:cs typeface="Times New Roman" panose="02020603050405020304" pitchFamily="18" charset="0"/>
              </a:rPr>
              <a:t>试编一程序，求出所有的水仙花数。</a:t>
            </a:r>
            <a:endParaRPr lang="zh-CN" sz="28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7097" y="2358536"/>
            <a:ext cx="2228388" cy="2197652"/>
          </a:xfrm>
          <a:prstGeom prst="rect">
            <a:avLst/>
          </a:prstGeom>
        </p:spPr>
      </p:pic>
      <p:pic>
        <p:nvPicPr>
          <p:cNvPr id="4" name="图片 3" descr="图片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530" y="2643505"/>
            <a:ext cx="1438910" cy="14446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animBg="1"/>
      <p:bldP spid="1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2"/>
          <p:cNvSpPr/>
          <p:nvPr/>
        </p:nvSpPr>
        <p:spPr>
          <a:xfrm>
            <a:off x="31814" y="289190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9" name="object 3"/>
          <p:cNvSpPr/>
          <p:nvPr/>
        </p:nvSpPr>
        <p:spPr>
          <a:xfrm>
            <a:off x="107504" y="428533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18356"/>
            <a:ext cx="8229600" cy="641226"/>
          </a:xfrm>
        </p:spPr>
        <p:txBody>
          <a:bodyPr/>
          <a:lstStyle/>
          <a:p>
            <a:r>
              <a:rPr lang="en-US" altLang="zh-CN" dirty="0"/>
              <a:t> </a:t>
            </a:r>
            <a:endParaRPr lang="zh-CN" altLang="en-US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683568" y="1437775"/>
            <a:ext cx="4801314" cy="70788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求水仙花数，</a:t>
            </a:r>
            <a:endParaRPr lang="en-US" altLang="zh-CN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要先学会分离百位、十位、个位上的数。</a:t>
            </a:r>
            <a:endParaRPr lang="zh-CN" altLang="en-US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79202" y="569724"/>
            <a:ext cx="2183277" cy="401191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3568" y="2559556"/>
            <a:ext cx="4673074" cy="132343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水仙花数是一个三位数，可以用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for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循环</a:t>
            </a:r>
            <a:endParaRPr lang="en-US" altLang="zh-CN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把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100--999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所有的数字都枚举出来，</a:t>
            </a:r>
            <a:endParaRPr lang="en-US" altLang="zh-CN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然后对每一个数进行计算和判断，</a:t>
            </a:r>
            <a:endParaRPr lang="en-US" altLang="zh-CN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如果是水仙花数则输出。</a:t>
            </a:r>
            <a:endParaRPr lang="zh-CN" altLang="en-US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2"/>
          <p:cNvSpPr/>
          <p:nvPr/>
        </p:nvSpPr>
        <p:spPr>
          <a:xfrm>
            <a:off x="31814" y="289190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" name="object 3"/>
          <p:cNvSpPr/>
          <p:nvPr/>
        </p:nvSpPr>
        <p:spPr>
          <a:xfrm>
            <a:off x="107504" y="428533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矩形 3"/>
          <p:cNvSpPr/>
          <p:nvPr/>
        </p:nvSpPr>
        <p:spPr>
          <a:xfrm>
            <a:off x="755576" y="700554"/>
            <a:ext cx="4572000" cy="415498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sz="1600" dirty="0"/>
              <a:t>#include&lt;</a:t>
            </a:r>
            <a:r>
              <a:rPr lang="en-US" altLang="zh-CN" sz="1600" dirty="0" err="1"/>
              <a:t>iostream</a:t>
            </a:r>
            <a:r>
              <a:rPr lang="en-US" altLang="zh-CN" sz="1600" dirty="0"/>
              <a:t>&gt;</a:t>
            </a:r>
            <a:endParaRPr lang="en-US" altLang="zh-CN" sz="1600" dirty="0"/>
          </a:p>
          <a:p>
            <a:r>
              <a:rPr lang="en-US" altLang="zh-CN" sz="1600" dirty="0"/>
              <a:t>using namespace </a:t>
            </a:r>
            <a:r>
              <a:rPr lang="en-US" altLang="zh-CN" sz="1600" dirty="0" err="1"/>
              <a:t>std</a:t>
            </a:r>
            <a:r>
              <a:rPr lang="en-US" altLang="zh-CN" sz="1600" dirty="0"/>
              <a:t>;</a:t>
            </a:r>
            <a:endParaRPr lang="en-US" altLang="zh-CN" sz="1600" dirty="0"/>
          </a:p>
          <a:p>
            <a:r>
              <a:rPr lang="en-US" altLang="zh-CN" sz="1600" dirty="0" err="1"/>
              <a:t>int</a:t>
            </a:r>
            <a:r>
              <a:rPr lang="en-US" altLang="zh-CN" sz="1600" dirty="0"/>
              <a:t> main()</a:t>
            </a:r>
            <a:endParaRPr lang="en-US" altLang="zh-CN" sz="1600" dirty="0"/>
          </a:p>
          <a:p>
            <a:r>
              <a:rPr lang="en-US" altLang="zh-CN" sz="1600" dirty="0"/>
              <a:t>{</a:t>
            </a:r>
            <a:endParaRPr lang="en-US" altLang="zh-CN" sz="1600" dirty="0"/>
          </a:p>
          <a:p>
            <a:r>
              <a:rPr lang="en-US" altLang="zh-CN" sz="1600" dirty="0"/>
              <a:t>  </a:t>
            </a:r>
            <a:r>
              <a:rPr lang="en-US" altLang="zh-CN" sz="1600" dirty="0" err="1"/>
              <a:t>int</a:t>
            </a:r>
            <a:r>
              <a:rPr lang="en-US" altLang="zh-CN" sz="1600" dirty="0"/>
              <a:t> </a:t>
            </a:r>
            <a:r>
              <a:rPr lang="en-US" altLang="zh-CN" sz="1600" dirty="0" err="1"/>
              <a:t>ge,shi,bai,i</a:t>
            </a:r>
            <a:r>
              <a:rPr lang="en-US" altLang="zh-CN" sz="1600" dirty="0"/>
              <a:t>;</a:t>
            </a:r>
            <a:endParaRPr lang="en-US" altLang="zh-CN" sz="1600" dirty="0"/>
          </a:p>
          <a:p>
            <a:r>
              <a:rPr lang="en-US" altLang="zh-CN" sz="1600" dirty="0"/>
              <a:t>  </a:t>
            </a:r>
            <a:r>
              <a:rPr lang="en-US" altLang="zh-CN" sz="1600" dirty="0" err="1"/>
              <a:t>cout</a:t>
            </a:r>
            <a:r>
              <a:rPr lang="en-US" altLang="zh-CN" sz="1600" dirty="0"/>
              <a:t>&lt;&lt;"</a:t>
            </a:r>
            <a:r>
              <a:rPr lang="zh-CN" altLang="en-US" sz="1600" dirty="0"/>
              <a:t>水仙花数</a:t>
            </a:r>
            <a:r>
              <a:rPr lang="en-US" altLang="zh-CN" sz="1600" dirty="0"/>
              <a:t>"&lt;&lt;</a:t>
            </a:r>
            <a:r>
              <a:rPr lang="en-US" altLang="zh-CN" sz="1600" dirty="0" err="1"/>
              <a:t>endl</a:t>
            </a:r>
            <a:r>
              <a:rPr lang="en-US" altLang="zh-CN" sz="1600" dirty="0"/>
              <a:t>; </a:t>
            </a:r>
            <a:endParaRPr lang="en-US" altLang="zh-CN" sz="1600" dirty="0"/>
          </a:p>
          <a:p>
            <a:r>
              <a:rPr lang="en-US" altLang="zh-CN" sz="1600" dirty="0"/>
              <a:t>  for(i=100;i&lt;1000;i++)</a:t>
            </a:r>
            <a:endParaRPr lang="en-US" altLang="zh-CN" sz="1600" dirty="0"/>
          </a:p>
          <a:p>
            <a:r>
              <a:rPr lang="en-US" altLang="zh-CN" sz="1600" dirty="0"/>
              <a:t>  {</a:t>
            </a:r>
            <a:endParaRPr lang="en-US" altLang="zh-CN" sz="1600" dirty="0"/>
          </a:p>
          <a:p>
            <a:r>
              <a:rPr lang="en-US" altLang="zh-CN" sz="1600" dirty="0"/>
              <a:t>       </a:t>
            </a:r>
            <a:r>
              <a:rPr lang="en-US" altLang="zh-CN" sz="1600" dirty="0" err="1"/>
              <a:t>bai</a:t>
            </a:r>
            <a:r>
              <a:rPr lang="en-US" altLang="zh-CN" sz="1600" dirty="0"/>
              <a:t>=i/100;</a:t>
            </a:r>
            <a:endParaRPr lang="en-US" altLang="zh-CN" sz="1600" dirty="0"/>
          </a:p>
          <a:p>
            <a:r>
              <a:rPr lang="en-US" altLang="zh-CN" sz="1600" dirty="0"/>
              <a:t>       </a:t>
            </a:r>
            <a:r>
              <a:rPr lang="en-US" altLang="zh-CN" sz="1600" dirty="0" err="1"/>
              <a:t>shi</a:t>
            </a:r>
            <a:r>
              <a:rPr lang="en-US" altLang="zh-CN" sz="1600" dirty="0"/>
              <a:t>=(i/10)%10;</a:t>
            </a:r>
            <a:endParaRPr lang="en-US" altLang="zh-CN" sz="1600" dirty="0"/>
          </a:p>
          <a:p>
            <a:r>
              <a:rPr lang="en-US" altLang="zh-CN" sz="1600" dirty="0"/>
              <a:t>       </a:t>
            </a:r>
            <a:r>
              <a:rPr lang="en-US" altLang="zh-CN" sz="1600" dirty="0" err="1"/>
              <a:t>ge</a:t>
            </a:r>
            <a:r>
              <a:rPr lang="en-US" altLang="zh-CN" sz="1600" dirty="0"/>
              <a:t>=i%10;</a:t>
            </a:r>
            <a:endParaRPr lang="en-US" altLang="zh-CN" sz="1600" dirty="0"/>
          </a:p>
          <a:p>
            <a:r>
              <a:rPr lang="en-US" altLang="zh-CN" sz="1600" dirty="0"/>
              <a:t>       if (</a:t>
            </a:r>
            <a:r>
              <a:rPr lang="en-US" altLang="zh-CN" sz="1600" dirty="0" err="1"/>
              <a:t>bai</a:t>
            </a:r>
            <a:r>
              <a:rPr lang="en-US" altLang="zh-CN" sz="1600" dirty="0"/>
              <a:t>*</a:t>
            </a:r>
            <a:r>
              <a:rPr lang="en-US" altLang="zh-CN" sz="1600" dirty="0" err="1"/>
              <a:t>bai</a:t>
            </a:r>
            <a:r>
              <a:rPr lang="en-US" altLang="zh-CN" sz="1600" dirty="0"/>
              <a:t>*</a:t>
            </a:r>
            <a:r>
              <a:rPr lang="en-US" altLang="zh-CN" sz="1600" dirty="0" err="1"/>
              <a:t>bai+shi</a:t>
            </a:r>
            <a:r>
              <a:rPr lang="en-US" altLang="zh-CN" sz="1600" dirty="0"/>
              <a:t>*</a:t>
            </a:r>
            <a:r>
              <a:rPr lang="en-US" altLang="zh-CN" sz="1600" dirty="0" err="1"/>
              <a:t>shi</a:t>
            </a:r>
            <a:r>
              <a:rPr lang="en-US" altLang="zh-CN" sz="1600" dirty="0"/>
              <a:t>*</a:t>
            </a:r>
            <a:r>
              <a:rPr lang="en-US" altLang="zh-CN" sz="1600" dirty="0" err="1"/>
              <a:t>shi+ge</a:t>
            </a:r>
            <a:r>
              <a:rPr lang="en-US" altLang="zh-CN" sz="1600" dirty="0"/>
              <a:t>*</a:t>
            </a:r>
            <a:r>
              <a:rPr lang="en-US" altLang="zh-CN" sz="1600" dirty="0" err="1"/>
              <a:t>ge</a:t>
            </a:r>
            <a:r>
              <a:rPr lang="en-US" altLang="zh-CN" sz="1600" dirty="0"/>
              <a:t>*</a:t>
            </a:r>
            <a:r>
              <a:rPr lang="en-US" altLang="zh-CN" sz="1600" dirty="0" err="1"/>
              <a:t>ge</a:t>
            </a:r>
            <a:r>
              <a:rPr lang="en-US" altLang="zh-CN" sz="1600" dirty="0"/>
              <a:t>==i) </a:t>
            </a:r>
            <a:endParaRPr lang="en-US" altLang="zh-CN" sz="1600" dirty="0"/>
          </a:p>
          <a:p>
            <a:r>
              <a:rPr lang="en-US" altLang="zh-CN" sz="1600" dirty="0"/>
              <a:t>                  </a:t>
            </a:r>
            <a:r>
              <a:rPr lang="en-US" altLang="zh-CN" sz="1600" dirty="0" err="1"/>
              <a:t>cout</a:t>
            </a:r>
            <a:r>
              <a:rPr lang="en-US" altLang="zh-CN" sz="1600" dirty="0"/>
              <a:t>&lt;&lt;i&lt;&lt;"     "; </a:t>
            </a:r>
            <a:endParaRPr lang="en-US" altLang="zh-CN" sz="1600" dirty="0"/>
          </a:p>
          <a:p>
            <a:r>
              <a:rPr lang="en-US" altLang="zh-CN" sz="1600" dirty="0"/>
              <a:t>  }</a:t>
            </a:r>
            <a:endParaRPr lang="en-US" altLang="zh-CN" sz="1600" dirty="0"/>
          </a:p>
          <a:p>
            <a:r>
              <a:rPr lang="en-US" altLang="zh-CN" sz="1600" dirty="0"/>
              <a:t>  return 0; </a:t>
            </a:r>
            <a:endParaRPr lang="en-US" altLang="zh-CN" sz="1600" dirty="0"/>
          </a:p>
          <a:p>
            <a:r>
              <a:rPr lang="en-US" altLang="zh-CN" sz="1600" dirty="0"/>
              <a:t>}</a:t>
            </a:r>
            <a:endParaRPr lang="zh-CN" altLang="en-US" sz="1600" dirty="0"/>
          </a:p>
        </p:txBody>
      </p:sp>
      <p:sp>
        <p:nvSpPr>
          <p:cNvPr id="8" name="矩形 7"/>
          <p:cNvSpPr/>
          <p:nvPr/>
        </p:nvSpPr>
        <p:spPr>
          <a:xfrm>
            <a:off x="4154383" y="1340561"/>
            <a:ext cx="424847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kern="1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如何</a:t>
            </a:r>
            <a:r>
              <a:rPr lang="zh-CN" altLang="zh-CN" kern="1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统计水仙花数的</a:t>
            </a:r>
            <a:r>
              <a:rPr lang="zh-CN" altLang="zh-CN" sz="4800" kern="1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个数</a:t>
            </a:r>
            <a:r>
              <a:rPr lang="en-US" altLang="zh-CN" sz="2000" kern="1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?</a:t>
            </a:r>
            <a:endParaRPr lang="zh-CN" altLang="en-US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4276488" y="2427734"/>
            <a:ext cx="4004263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5400" kern="100" dirty="0">
                <a:latin typeface="Consolas" panose="020B0609020204030204" pitchFamily="49" charset="0"/>
                <a:cs typeface="Consolas" panose="020B0609020204030204" pitchFamily="49" charset="0"/>
              </a:rPr>
              <a:t> count++;</a:t>
            </a:r>
            <a:endParaRPr lang="zh-CN" altLang="en-US" sz="54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5242" y="3410838"/>
            <a:ext cx="1221558" cy="122155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8" grpId="0"/>
      <p:bldP spid="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2"/>
          <p:cNvSpPr/>
          <p:nvPr/>
        </p:nvSpPr>
        <p:spPr>
          <a:xfrm>
            <a:off x="31814" y="289190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0" name="object 3"/>
          <p:cNvSpPr/>
          <p:nvPr/>
        </p:nvSpPr>
        <p:spPr>
          <a:xfrm>
            <a:off x="107504" y="428533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51521" y="649184"/>
            <a:ext cx="3096344" cy="857250"/>
          </a:xfrm>
        </p:spPr>
        <p:txBody>
          <a:bodyPr/>
          <a:lstStyle/>
          <a:p>
            <a:r>
              <a:rPr lang="zh-CN" altLang="en-US" dirty="0">
                <a:solidFill>
                  <a:srgbClr val="00B0F0"/>
                </a:solidFill>
              </a:rPr>
              <a:t>课后作业</a:t>
            </a:r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55719" y="1419622"/>
            <a:ext cx="2576122" cy="23391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latin typeface="仿宋" panose="02010609060101010101" pitchFamily="49" charset="-122"/>
                <a:ea typeface="仿宋" panose="02010609060101010101" pitchFamily="49" charset="-122"/>
              </a:rPr>
              <a:t>1</a:t>
            </a:r>
            <a:r>
              <a:rPr lang="zh-CN" altLang="en-US" sz="2000" b="1" dirty="0">
                <a:latin typeface="仿宋" panose="02010609060101010101" pitchFamily="49" charset="-122"/>
                <a:ea typeface="仿宋" panose="02010609060101010101" pitchFamily="49" charset="-122"/>
              </a:rPr>
              <a:t>、选择题</a:t>
            </a:r>
            <a:endParaRPr lang="en-US" altLang="zh-CN" sz="2000" b="1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计算机有计算的功能，那么这个“计算”是在（  ）完成的。</a:t>
            </a:r>
            <a:endParaRPr lang="zh-CN" altLang="en-US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342900" indent="-342900">
              <a:buAutoNum type="alphaUcPeriod"/>
            </a:pP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内存</a:t>
            </a:r>
            <a:endParaRPr lang="en-US" altLang="zh-CN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342900" indent="-342900">
              <a:buAutoNum type="alphaUcPeriod"/>
            </a:pP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</a:rPr>
              <a:t>CPU</a:t>
            </a: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中央处理器</a:t>
            </a:r>
            <a:endParaRPr lang="en-US" altLang="zh-CN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342900" indent="-342900">
              <a:buAutoNum type="alphaUcPeriod"/>
            </a:pP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硬盘</a:t>
            </a:r>
            <a:endParaRPr lang="en-US" altLang="zh-CN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342900" indent="-342900">
              <a:buAutoNum type="alphaUcPeriod"/>
            </a:pP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显卡</a:t>
            </a:r>
            <a:endParaRPr lang="en-US" altLang="zh-CN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7" name="内容占位符 2"/>
          <p:cNvSpPr>
            <a:spLocks noGrp="1"/>
          </p:cNvSpPr>
          <p:nvPr>
            <p:ph idx="1"/>
          </p:nvPr>
        </p:nvSpPr>
        <p:spPr>
          <a:xfrm>
            <a:off x="3440714" y="764504"/>
            <a:ext cx="4936302" cy="3131190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/>
              <a:t>2</a:t>
            </a:r>
            <a:r>
              <a:rPr lang="zh-CN" altLang="en-US" sz="2000" dirty="0"/>
              <a:t>、阅读程序写结果。</a:t>
            </a:r>
            <a:endParaRPr lang="en-US" altLang="zh-CN" sz="2000" dirty="0"/>
          </a:p>
        </p:txBody>
      </p:sp>
      <p:sp>
        <p:nvSpPr>
          <p:cNvPr id="8" name="TextBox 7"/>
          <p:cNvSpPr txBox="1"/>
          <p:nvPr/>
        </p:nvSpPr>
        <p:spPr>
          <a:xfrm>
            <a:off x="6388249" y="1290078"/>
            <a:ext cx="2288207" cy="1477328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US" altLang="zh-CN" dirty="0"/>
              <a:t>    a0    a1    a2    I    n</a:t>
            </a:r>
            <a:endParaRPr lang="en-US" altLang="zh-CN" dirty="0"/>
          </a:p>
          <a:p>
            <a:r>
              <a:rPr lang="en-US" altLang="zh-CN" dirty="0"/>
              <a:t>------------------------------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4646" y="1196072"/>
            <a:ext cx="2527350" cy="34067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矩形 2"/>
          <p:cNvSpPr/>
          <p:nvPr/>
        </p:nvSpPr>
        <p:spPr>
          <a:xfrm>
            <a:off x="5580112" y="3961271"/>
            <a:ext cx="259228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/>
              <a:t>输入：</a:t>
            </a:r>
            <a:r>
              <a:rPr lang="en-US" altLang="zh-CN" dirty="0"/>
              <a:t>5</a:t>
            </a:r>
            <a:endParaRPr lang="en-US" altLang="zh-CN" dirty="0"/>
          </a:p>
          <a:p>
            <a:r>
              <a:rPr lang="zh-CN" altLang="en-US" dirty="0"/>
              <a:t>输出</a:t>
            </a:r>
            <a:r>
              <a:rPr lang="en-US" altLang="zh-CN" dirty="0"/>
              <a:t>:____________</a:t>
            </a:r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 build="p"/>
      <p:bldP spid="8" grpId="0" animBg="1"/>
      <p:bldP spid="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2"/>
          <p:cNvSpPr/>
          <p:nvPr/>
        </p:nvSpPr>
        <p:spPr>
          <a:xfrm>
            <a:off x="31814" y="289190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" name="object 3"/>
          <p:cNvSpPr/>
          <p:nvPr/>
        </p:nvSpPr>
        <p:spPr>
          <a:xfrm>
            <a:off x="107504" y="428533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-252536" y="639509"/>
            <a:ext cx="4824536" cy="857250"/>
          </a:xfrm>
        </p:spPr>
        <p:txBody>
          <a:bodyPr/>
          <a:lstStyle/>
          <a:p>
            <a:r>
              <a:rPr lang="zh-CN" altLang="en-US" dirty="0">
                <a:solidFill>
                  <a:srgbClr val="00B0F0"/>
                </a:solidFill>
              </a:rPr>
              <a:t>课后作业</a:t>
            </a:r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6" name="内容占位符 2"/>
          <p:cNvSpPr txBox="1"/>
          <p:nvPr/>
        </p:nvSpPr>
        <p:spPr>
          <a:xfrm>
            <a:off x="971600" y="1267530"/>
            <a:ext cx="2808312" cy="338437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6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6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60000"/>
              </a:lnSpc>
              <a:buFont typeface="Arial" panose="020B0604020202020204" pitchFamily="34" charset="0"/>
              <a:buNone/>
            </a:pPr>
            <a:r>
              <a:rPr lang="en-US" altLang="zh-CN" sz="2000" dirty="0">
                <a:solidFill>
                  <a:prstClr val="black"/>
                </a:solidFill>
              </a:rPr>
              <a:t>3</a:t>
            </a:r>
            <a:r>
              <a:rPr lang="zh-CN" altLang="en-US" sz="2000" dirty="0">
                <a:solidFill>
                  <a:prstClr val="black"/>
                </a:solidFill>
              </a:rPr>
              <a:t>、完善程序。</a:t>
            </a:r>
            <a:endParaRPr lang="en-US" altLang="zh-CN" sz="2000" dirty="0">
              <a:solidFill>
                <a:prstClr val="black"/>
              </a:solidFill>
            </a:endParaRPr>
          </a:p>
          <a:p>
            <a:pPr marL="0" indent="0">
              <a:lnSpc>
                <a:spcPct val="160000"/>
              </a:lnSpc>
              <a:buFont typeface="Arial" panose="020B0604020202020204" pitchFamily="34" charset="0"/>
              <a:buNone/>
            </a:pPr>
            <a:r>
              <a:rPr lang="zh-CN" altLang="en-US" sz="1800" dirty="0">
                <a:solidFill>
                  <a:prstClr val="black"/>
                </a:solidFill>
              </a:rPr>
              <a:t>请编程找出三位数中，个位、十位、百位上的数字相同的数</a:t>
            </a:r>
            <a:r>
              <a:rPr lang="zh-CN" altLang="en-US" sz="2000" dirty="0">
                <a:solidFill>
                  <a:prstClr val="black"/>
                </a:solidFill>
              </a:rPr>
              <a:t>。</a:t>
            </a:r>
            <a:endParaRPr lang="en-US" altLang="zh-CN" sz="1800" dirty="0">
              <a:solidFill>
                <a:prstClr val="black"/>
              </a:solidFill>
            </a:endParaRPr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78872" y="628293"/>
            <a:ext cx="3095625" cy="4067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3"/>
          <p:cNvSpPr/>
          <p:nvPr/>
        </p:nvSpPr>
        <p:spPr>
          <a:xfrm>
            <a:off x="4067943" y="313756"/>
            <a:ext cx="4012253" cy="2458678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4"/>
          <p:cNvSpPr txBox="1">
            <a:spLocks noGrp="1"/>
          </p:cNvSpPr>
          <p:nvPr>
            <p:ph type="title"/>
          </p:nvPr>
        </p:nvSpPr>
        <p:spPr>
          <a:xfrm>
            <a:off x="4283968" y="915566"/>
            <a:ext cx="4012253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200" dirty="0" err="1">
                <a:solidFill>
                  <a:srgbClr val="00B0F0"/>
                </a:solidFill>
              </a:rPr>
              <a:t>下课</a:t>
            </a:r>
            <a:r>
              <a:rPr lang="zh-CN" altLang="en-US" sz="7200" dirty="0">
                <a:solidFill>
                  <a:srgbClr val="00B0F0"/>
                </a:solidFill>
              </a:rPr>
              <a:t>啦</a:t>
            </a:r>
            <a:r>
              <a:rPr sz="7200" dirty="0">
                <a:solidFill>
                  <a:srgbClr val="00B0F0"/>
                </a:solidFill>
              </a:rPr>
              <a:t>！</a:t>
            </a:r>
            <a:endParaRPr sz="7200" dirty="0">
              <a:solidFill>
                <a:srgbClr val="00B0F0"/>
              </a:solidFill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524" y="1744580"/>
            <a:ext cx="3697191" cy="340428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644</Words>
  <Application>WPS 演示</Application>
  <PresentationFormat>全屏显示(16:9)</PresentationFormat>
  <Paragraphs>69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9" baseType="lpstr">
      <vt:lpstr>Arial</vt:lpstr>
      <vt:lpstr>宋体</vt:lpstr>
      <vt:lpstr>Wingdings</vt:lpstr>
      <vt:lpstr>黑体</vt:lpstr>
      <vt:lpstr>仿宋</vt:lpstr>
      <vt:lpstr>微软雅黑</vt:lpstr>
      <vt:lpstr>Calibri</vt:lpstr>
      <vt:lpstr>楷体</vt:lpstr>
      <vt:lpstr>Times New Roman</vt:lpstr>
      <vt:lpstr>Consolas</vt:lpstr>
      <vt:lpstr>Arial Unicode MS</vt:lpstr>
      <vt:lpstr>Office 主题</vt:lpstr>
      <vt:lpstr>PowerPoint 演示文稿</vt:lpstr>
      <vt:lpstr>水仙花数——数位分离</vt:lpstr>
      <vt:lpstr> </vt:lpstr>
      <vt:lpstr> </vt:lpstr>
      <vt:lpstr>课后作业</vt:lpstr>
      <vt:lpstr>课后作业</vt:lpstr>
      <vt:lpstr>下课啦！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叮咚</cp:lastModifiedBy>
  <cp:revision>84</cp:revision>
  <dcterms:created xsi:type="dcterms:W3CDTF">2018-07-03T13:24:00Z</dcterms:created>
  <dcterms:modified xsi:type="dcterms:W3CDTF">2021-06-17T09:09:51Z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89130B032AAB424B8DA6925765A348BE</vt:lpwstr>
  </property>
  <property fmtid="{D5CDD505-2E9C-101B-9397-08002B2CF9AE}" pid="3" name="KSOProductBuildVer">
    <vt:lpwstr>2052-11.1.0.10577</vt:lpwstr>
  </property>
</Properties>
</file>