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9" r:id="rId3"/>
    <p:sldId id="276" r:id="rId5"/>
    <p:sldId id="296" r:id="rId6"/>
    <p:sldId id="297" r:id="rId7"/>
    <p:sldId id="275" r:id="rId8"/>
    <p:sldId id="277" r:id="rId9"/>
    <p:sldId id="282" r:id="rId10"/>
    <p:sldId id="298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35716-D3F0-48F8-A6CD-862BD7A622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508F4-7B2D-4D55-955D-55B64867DC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508F4-7B2D-4D55-955D-55B64867DC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41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" Type="http://schemas.openxmlformats.org/officeDocument/2006/relationships/image" Target="../media/image6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古埃及金字塔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3917" y="608665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古埃及金字塔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单精度实数</a:t>
            </a:r>
            <a:r>
              <a:rPr lang="en-US" altLang="zh-CN" sz="2400" dirty="0">
                <a:solidFill>
                  <a:srgbClr val="00B0F0"/>
                </a:solidFill>
              </a:rPr>
              <a:t>float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6425" y="1707654"/>
            <a:ext cx="3087216" cy="1872574"/>
            <a:chOff x="1196752" y="2915816"/>
            <a:chExt cx="4392488" cy="2664296"/>
          </a:xfrm>
        </p:grpSpPr>
        <p:sp>
          <p:nvSpPr>
            <p:cNvPr id="7" name="矩形 6"/>
            <p:cNvSpPr/>
            <p:nvPr/>
          </p:nvSpPr>
          <p:spPr>
            <a:xfrm>
              <a:off x="1196752" y="2915816"/>
              <a:ext cx="4392488" cy="2664296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/>
            <p:nvPr>
              <p:custDataLst>
                <p:tags r:id="rId1"/>
              </p:custDataLst>
            </p:nvPr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0528" y="2998186"/>
              <a:ext cx="4166226" cy="2509917"/>
            </a:xfrm>
            <a:prstGeom prst="rect">
              <a:avLst/>
            </a:prstGeom>
            <a:noFill/>
          </p:spPr>
        </p:pic>
      </p:grpSp>
      <p:sp>
        <p:nvSpPr>
          <p:cNvPr id="10" name="矩形: 圆角 4"/>
          <p:cNvSpPr>
            <a:spLocks noChangeArrowheads="1"/>
          </p:cNvSpPr>
          <p:nvPr/>
        </p:nvSpPr>
        <p:spPr bwMode="auto">
          <a:xfrm>
            <a:off x="3995936" y="1707654"/>
            <a:ext cx="3168352" cy="194421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0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金字塔的底是正方形，四边是由四个大小相等的等腰三角形构成，试编一程序，输入底和高，输出三角形的面积。</a:t>
            </a:r>
            <a:endParaRPr 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7027545" y="318262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矩形 3"/>
          <p:cNvSpPr/>
          <p:nvPr/>
        </p:nvSpPr>
        <p:spPr>
          <a:xfrm>
            <a:off x="445558" y="1354116"/>
            <a:ext cx="33123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a,h,s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en-US" altLang="zh-CN" dirty="0" err="1"/>
              <a:t>a,h</a:t>
            </a:r>
            <a:r>
              <a:rPr lang="en-US" altLang="zh-CN" dirty="0"/>
              <a:t>=";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&gt;&gt;a&gt;&gt;h;</a:t>
            </a:r>
            <a:endParaRPr lang="en-US" altLang="zh-CN" dirty="0"/>
          </a:p>
          <a:p>
            <a:r>
              <a:rPr lang="en-US" altLang="zh-CN" dirty="0"/>
              <a:t>    s=a*h/2;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&lt;&lt;"s="&lt;&lt;s&lt;&lt;</a:t>
            </a:r>
            <a:r>
              <a:rPr lang="en-US" altLang="zh-CN" dirty="0" err="1"/>
              <a:t>endl</a:t>
            </a:r>
            <a:r>
              <a:rPr lang="en-US" altLang="zh-CN" dirty="0"/>
              <a:t>;   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284" y="1139078"/>
            <a:ext cx="3384376" cy="1063661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80" y="2392251"/>
            <a:ext cx="2954490" cy="2213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矩形 3"/>
          <p:cNvSpPr/>
          <p:nvPr/>
        </p:nvSpPr>
        <p:spPr>
          <a:xfrm>
            <a:off x="372551" y="1347614"/>
            <a:ext cx="33123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a,h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float s;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en-US" altLang="zh-CN" dirty="0" err="1"/>
              <a:t>a,h</a:t>
            </a:r>
            <a:r>
              <a:rPr lang="en-US" altLang="zh-CN" dirty="0"/>
              <a:t>=";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&gt;&gt;a&gt;&gt;h;</a:t>
            </a:r>
            <a:endParaRPr lang="en-US" altLang="zh-CN" dirty="0"/>
          </a:p>
          <a:p>
            <a:r>
              <a:rPr lang="en-US" altLang="zh-CN" dirty="0"/>
              <a:t>    s=a*h/2.0;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&lt;&lt;"s="&lt;&lt;s&lt;&lt;</a:t>
            </a:r>
            <a:r>
              <a:rPr lang="en-US" altLang="zh-CN" dirty="0" err="1"/>
              <a:t>endl</a:t>
            </a:r>
            <a:r>
              <a:rPr lang="en-US" altLang="zh-CN" dirty="0"/>
              <a:t>;   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684919" y="1132358"/>
            <a:ext cx="2727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kern="100" dirty="0">
                <a:latin typeface="Calibri" panose="020F0502020204030204" pitchFamily="34" charset="0"/>
                <a:ea typeface="楷体" panose="02010609060101010101" pitchFamily="49" charset="-122"/>
              </a:rPr>
              <a:t>单精度实数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4139953" y="1814749"/>
            <a:ext cx="14954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kern="100" dirty="0">
                <a:latin typeface="Calibri" panose="020F0502020204030204" pitchFamily="34" charset="0"/>
                <a:ea typeface="楷体" panose="02010609060101010101" pitchFamily="49" charset="-122"/>
              </a:rPr>
              <a:t>  float</a:t>
            </a:r>
            <a:endParaRPr lang="zh-CN" altLang="en-US" sz="4400" dirty="0"/>
          </a:p>
        </p:txBody>
      </p:sp>
      <p:sp>
        <p:nvSpPr>
          <p:cNvPr id="8" name="矩形 7"/>
          <p:cNvSpPr/>
          <p:nvPr/>
        </p:nvSpPr>
        <p:spPr>
          <a:xfrm>
            <a:off x="3468070" y="3076574"/>
            <a:ext cx="23671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kern="100" dirty="0">
                <a:latin typeface="Calibri" panose="020F0502020204030204" pitchFamily="34" charset="0"/>
                <a:ea typeface="楷体" panose="02010609060101010101" pitchFamily="49" charset="-122"/>
              </a:rPr>
              <a:t>s=a*h/</a:t>
            </a:r>
            <a:r>
              <a:rPr lang="en-US" altLang="zh-CN" sz="4000" kern="100" dirty="0">
                <a:solidFill>
                  <a:srgbClr val="FF0000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2</a:t>
            </a:r>
            <a:r>
              <a:rPr lang="en-US" altLang="zh-CN" sz="4000" kern="100" dirty="0">
                <a:latin typeface="Calibri" panose="020F0502020204030204" pitchFamily="34" charset="0"/>
                <a:ea typeface="楷体" panose="02010609060101010101" pitchFamily="49" charset="-122"/>
              </a:rPr>
              <a:t>;</a:t>
            </a:r>
            <a:endParaRPr lang="zh-CN" altLang="en-US" sz="4000" dirty="0"/>
          </a:p>
        </p:txBody>
      </p:sp>
      <p:sp>
        <p:nvSpPr>
          <p:cNvPr id="10" name="矩形 9"/>
          <p:cNvSpPr/>
          <p:nvPr/>
        </p:nvSpPr>
        <p:spPr>
          <a:xfrm>
            <a:off x="3468070" y="3868662"/>
            <a:ext cx="23952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kern="100" dirty="0">
                <a:latin typeface="Calibri" panose="020F0502020204030204" pitchFamily="34" charset="0"/>
                <a:ea typeface="楷体" panose="02010609060101010101" pitchFamily="49" charset="-122"/>
              </a:rPr>
              <a:t>s=a*h/</a:t>
            </a:r>
            <a:r>
              <a:rPr lang="en-US" altLang="zh-CN" sz="4000" kern="100" dirty="0">
                <a:solidFill>
                  <a:srgbClr val="FF0000"/>
                </a:solidFill>
                <a:latin typeface="Calibri" panose="020F0502020204030204" pitchFamily="34" charset="0"/>
                <a:ea typeface="楷体" panose="02010609060101010101" pitchFamily="49" charset="-122"/>
              </a:rPr>
              <a:t>2.0</a:t>
            </a:r>
            <a:r>
              <a:rPr lang="en-US" altLang="zh-CN" sz="4000" kern="100" dirty="0">
                <a:latin typeface="Calibri" panose="020F0502020204030204" pitchFamily="34" charset="0"/>
                <a:ea typeface="楷体" panose="02010609060101010101" pitchFamily="49" charset="-122"/>
              </a:rPr>
              <a:t>;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771" y="2518217"/>
            <a:ext cx="2046641" cy="2101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847186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648" y="1790016"/>
            <a:ext cx="7416824" cy="2958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800" dirty="0"/>
              <a:t>float  </a:t>
            </a:r>
            <a:r>
              <a:rPr lang="zh-CN" altLang="en-US" sz="2800" dirty="0"/>
              <a:t>实数、浮点数</a:t>
            </a:r>
            <a:endParaRPr lang="zh-CN" alt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564158"/>
            <a:ext cx="2184834" cy="218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27628" y="547372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122" y="628040"/>
            <a:ext cx="4936302" cy="41764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0.628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69365" y="1449582"/>
            <a:ext cx="259228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世界著名计算机学家、中国科学院院士姚期智因在计算机理论方面的基础性贡献，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2000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年获得美国计算机学会颁发的（ ）。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金鸡奖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诺贝尔奖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菲尔兹奖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图灵奖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6680" y="1395744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</a:t>
            </a:r>
            <a:r>
              <a:rPr lang="en-US" altLang="zh-CN" dirty="0" err="1"/>
              <a:t>ans</a:t>
            </a:r>
            <a:r>
              <a:rPr lang="en-US" altLang="zh-CN" dirty="0"/>
              <a:t>          n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3848" y="1060088"/>
            <a:ext cx="568863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float n;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&gt;&gt;n;</a:t>
            </a:r>
            <a:endParaRPr lang="en-US" altLang="zh-CN" sz="1600" dirty="0"/>
          </a:p>
          <a:p>
            <a:r>
              <a:rPr lang="en-US" altLang="zh-CN" sz="1600" dirty="0"/>
              <a:t>    n*=100;</a:t>
            </a:r>
            <a:endParaRPr lang="en-US" altLang="zh-CN" sz="1600" dirty="0"/>
          </a:p>
          <a:p>
            <a:r>
              <a:rPr lang="en-US" altLang="zh-CN" sz="1600" dirty="0"/>
              <a:t>    n+=0.5;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=n;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398" y="3184860"/>
            <a:ext cx="1277237" cy="1510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0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13480" y="568831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、完善程序。</a:t>
            </a:r>
            <a:endParaRPr lang="en-US" altLang="zh-CN" sz="18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/>
              <a:t>明明非常喜欢喝妈妈煮的糖水，但糖吃多了会影响健康。现在有含糖</a:t>
            </a:r>
            <a:r>
              <a:rPr lang="en-US" altLang="zh-CN" sz="1800" b="0" dirty="0"/>
              <a:t>20%</a:t>
            </a:r>
            <a:r>
              <a:rPr lang="zh-CN" altLang="en-US" sz="1800" b="0" dirty="0"/>
              <a:t>的糖水</a:t>
            </a:r>
            <a:r>
              <a:rPr lang="en-US" altLang="zh-CN" sz="1800" b="0" dirty="0"/>
              <a:t>15</a:t>
            </a:r>
            <a:r>
              <a:rPr lang="zh-CN" altLang="en-US" sz="1800" b="0" dirty="0"/>
              <a:t>克，问再加多少水，糖水中的含糖量会变为</a:t>
            </a:r>
            <a:r>
              <a:rPr lang="en-US" altLang="zh-CN" sz="1800" b="0" dirty="0"/>
              <a:t>15%</a:t>
            </a:r>
            <a:r>
              <a:rPr lang="zh-CN" altLang="en-US" sz="1800" b="0" dirty="0"/>
              <a:t>？</a:t>
            </a:r>
            <a:endParaRPr lang="en-US" altLang="zh-CN" sz="2000" b="0" dirty="0"/>
          </a:p>
        </p:txBody>
      </p:sp>
      <p:sp>
        <p:nvSpPr>
          <p:cNvPr id="7" name="矩形 6"/>
          <p:cNvSpPr/>
          <p:nvPr/>
        </p:nvSpPr>
        <p:spPr>
          <a:xfrm>
            <a:off x="4237370" y="1067127"/>
            <a:ext cx="4511094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float  tang, </a:t>
            </a:r>
            <a:r>
              <a:rPr lang="en-US" altLang="zh-CN" sz="1600" dirty="0" err="1"/>
              <a:t>shui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tangshui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tang=15*0.2;</a:t>
            </a:r>
            <a:r>
              <a:rPr lang="en-US" altLang="zh-CN" sz="1400" dirty="0"/>
              <a:t>    //</a:t>
            </a:r>
            <a:r>
              <a:rPr lang="zh-CN" altLang="en-US" sz="1400" dirty="0"/>
              <a:t>先求出糖多少克，加水后糖不变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tangshui</a:t>
            </a:r>
            <a:r>
              <a:rPr lang="en-US" altLang="zh-CN" sz="1600" dirty="0"/>
              <a:t>=tang/0.15;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shui</a:t>
            </a:r>
            <a:r>
              <a:rPr lang="en-US" altLang="zh-CN" sz="1600" dirty="0"/>
              <a:t>=____________;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应加水：</a:t>
            </a:r>
            <a:r>
              <a:rPr lang="en-US" altLang="zh-CN" sz="1600" dirty="0"/>
              <a:t>"&lt;&lt;________.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4282574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注：所有程序作业，必须上机完成，不能只写在教材上！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778.0633891155221,&quot;width&quot;:4611.3228812879343}"/>
</p:tagLst>
</file>

<file path=ppt/tags/tag2.xml><?xml version="1.0" encoding="utf-8"?>
<p:tagLst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</Words>
  <Application>WPS 演示</Application>
  <PresentationFormat>全屏显示(16:9)</PresentationFormat>
  <Paragraphs>107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等线</vt:lpstr>
      <vt:lpstr>Office 主题</vt:lpstr>
      <vt:lpstr>PowerPoint 演示文稿</vt:lpstr>
      <vt:lpstr>古埃及金字塔——单精度实数float</vt:lpstr>
      <vt:lpstr>PowerPoint 演示文稿</vt:lpstr>
      <vt:lpstr>PowerPoint 演示文稿</vt:lpstr>
      <vt:lpstr>编程小词典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83</cp:revision>
  <dcterms:created xsi:type="dcterms:W3CDTF">2018-07-03T13:24:00Z</dcterms:created>
  <dcterms:modified xsi:type="dcterms:W3CDTF">2021-04-12T08:07:22Z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