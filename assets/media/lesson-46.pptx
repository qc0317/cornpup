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3"/>
    <p:sldId id="269" r:id="rId4"/>
    <p:sldId id="281" r:id="rId5"/>
    <p:sldId id="282" r:id="rId6"/>
    <p:sldId id="283" r:id="rId7"/>
    <p:sldId id="284" r:id="rId8"/>
    <p:sldId id="267" r:id="rId9"/>
    <p:sldId id="280" r:id="rId10"/>
    <p:sldId id="287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蝴蝶效应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(double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及科学计数法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087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蝴蝶效应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双精度实数</a:t>
            </a:r>
            <a:r>
              <a:rPr lang="en-US" altLang="zh-CN" sz="2400" dirty="0">
                <a:solidFill>
                  <a:srgbClr val="00B0F0"/>
                </a:solidFill>
              </a:rPr>
              <a:t>double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132096"/>
            <a:ext cx="8032968" cy="13388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一只蝴蝶在巴西请拍翅膀，可能导致一个月后美国得克萨斯州的一场龙卷风。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蝴蝶效应：初始条件的极小偏差，将会引起结果的极大差异。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“差之毫厘，谬以千里</a:t>
            </a:r>
            <a:r>
              <a:rPr lang="en-US" altLang="zh-CN" dirty="0"/>
              <a:t>.</a:t>
            </a:r>
            <a:r>
              <a:rPr lang="zh-CN" altLang="en-US" dirty="0"/>
              <a:t>”</a:t>
            </a:r>
            <a:endParaRPr lang="zh-CN" altLang="en-US" dirty="0"/>
          </a:p>
        </p:txBody>
      </p:sp>
      <p:sp>
        <p:nvSpPr>
          <p:cNvPr id="7" name="AutoShape 742"/>
          <p:cNvSpPr>
            <a:spLocks noChangeArrowheads="1"/>
          </p:cNvSpPr>
          <p:nvPr/>
        </p:nvSpPr>
        <p:spPr bwMode="auto">
          <a:xfrm>
            <a:off x="2555776" y="2610034"/>
            <a:ext cx="3681536" cy="1975759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683895" algn="just">
              <a:spcAft>
                <a:spcPts val="0"/>
              </a:spcAft>
            </a:pP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n 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的初始值设为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，让它产生极小偏差。减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0.01 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后得到的值是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0.99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，加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0.01 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后得到的值是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1.01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，以后每次得到的值都是自己乘自己。试编一程序算一算，第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15 </a:t>
            </a:r>
            <a:r>
              <a:rPr lang="zh-CN" altLang="en-US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次后分别是多少</a:t>
            </a:r>
            <a:r>
              <a:rPr lang="en-US" altLang="zh-CN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?</a:t>
            </a:r>
            <a:endParaRPr lang="zh-CN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6049" y="2776111"/>
            <a:ext cx="2377646" cy="1813717"/>
          </a:xfrm>
          <a:prstGeom prst="rect">
            <a:avLst/>
          </a:prstGeom>
        </p:spPr>
      </p:pic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301942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b="60826"/>
          <a:stretch>
            <a:fillRect/>
          </a:stretch>
        </p:blipFill>
        <p:spPr>
          <a:xfrm>
            <a:off x="395536" y="1059582"/>
            <a:ext cx="3238500" cy="2589551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90030"/>
            <a:ext cx="3229016" cy="406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872" y="2602091"/>
            <a:ext cx="2051298" cy="20512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453635" y="915566"/>
            <a:ext cx="302433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dirty="0"/>
              <a:t>#include&lt;iostream&gt;</a:t>
            </a:r>
            <a:endParaRPr lang="pt-BR" altLang="zh-CN" dirty="0"/>
          </a:p>
          <a:p>
            <a:r>
              <a:rPr lang="pt-BR" altLang="zh-CN" dirty="0"/>
              <a:t>using namespace std;</a:t>
            </a:r>
            <a:endParaRPr lang="pt-BR" altLang="zh-CN" dirty="0"/>
          </a:p>
          <a:p>
            <a:r>
              <a:rPr lang="pt-BR" altLang="zh-CN" dirty="0"/>
              <a:t>int main()</a:t>
            </a:r>
            <a:endParaRPr lang="pt-BR" altLang="zh-CN" dirty="0"/>
          </a:p>
          <a:p>
            <a:r>
              <a:rPr lang="pt-BR" altLang="zh-CN" dirty="0"/>
              <a:t>{</a:t>
            </a:r>
            <a:endParaRPr lang="pt-BR" altLang="zh-CN" dirty="0"/>
          </a:p>
          <a:p>
            <a:r>
              <a:rPr lang="pt-BR" altLang="zh-CN" dirty="0"/>
              <a:t>  int n,i;</a:t>
            </a:r>
            <a:endParaRPr lang="pt-BR" altLang="zh-CN" dirty="0"/>
          </a:p>
          <a:p>
            <a:r>
              <a:rPr lang="pt-BR" altLang="zh-CN" dirty="0"/>
              <a:t>  double  n1,n2;</a:t>
            </a:r>
            <a:endParaRPr lang="pt-BR" altLang="zh-CN" dirty="0"/>
          </a:p>
          <a:p>
            <a:r>
              <a:rPr lang="pt-BR" altLang="zh-CN" dirty="0"/>
              <a:t>  n=1;</a:t>
            </a:r>
            <a:endParaRPr lang="pt-BR" altLang="zh-CN" dirty="0"/>
          </a:p>
          <a:p>
            <a:r>
              <a:rPr lang="pt-BR" altLang="zh-CN" dirty="0"/>
              <a:t>  n1=n-0.1;</a:t>
            </a:r>
            <a:endParaRPr lang="pt-BR" altLang="zh-CN" dirty="0"/>
          </a:p>
          <a:p>
            <a:r>
              <a:rPr lang="pt-BR" altLang="zh-CN" dirty="0"/>
              <a:t>  n2=n+0.1;</a:t>
            </a:r>
            <a:endParaRPr lang="pt-BR" altLang="zh-CN" dirty="0"/>
          </a:p>
          <a:p>
            <a:r>
              <a:rPr lang="pt-BR" altLang="zh-CN" dirty="0"/>
              <a:t>  cout&lt;&lt;"   "&lt;&lt;n1;</a:t>
            </a:r>
            <a:endParaRPr lang="pt-BR" altLang="zh-CN" dirty="0"/>
          </a:p>
          <a:p>
            <a:r>
              <a:rPr lang="pt-BR" altLang="zh-CN" dirty="0"/>
              <a:t>  cout&lt;&lt;"   "&lt;&lt;n2&lt;&lt;endl; </a:t>
            </a:r>
            <a:endParaRPr lang="pt-BR" altLang="zh-CN" dirty="0"/>
          </a:p>
        </p:txBody>
      </p:sp>
      <p:sp>
        <p:nvSpPr>
          <p:cNvPr id="4" name="矩形 3"/>
          <p:cNvSpPr/>
          <p:nvPr/>
        </p:nvSpPr>
        <p:spPr>
          <a:xfrm>
            <a:off x="3541795" y="915566"/>
            <a:ext cx="42484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dirty="0"/>
              <a:t> i=1;</a:t>
            </a:r>
            <a:endParaRPr lang="pt-BR" altLang="zh-CN" dirty="0"/>
          </a:p>
          <a:p>
            <a:r>
              <a:rPr lang="pt-BR" altLang="zh-CN" dirty="0"/>
              <a:t>  while(i&lt;=15)</a:t>
            </a:r>
            <a:endParaRPr lang="pt-BR" altLang="zh-CN" dirty="0"/>
          </a:p>
          <a:p>
            <a:r>
              <a:rPr lang="pt-BR" altLang="zh-CN" dirty="0"/>
              <a:t>  {</a:t>
            </a:r>
            <a:endParaRPr lang="pt-BR" altLang="zh-CN" dirty="0"/>
          </a:p>
          <a:p>
            <a:r>
              <a:rPr lang="pt-BR" altLang="zh-CN" dirty="0"/>
              <a:t>    n1*=n1;</a:t>
            </a:r>
            <a:endParaRPr lang="pt-BR" altLang="zh-CN" dirty="0"/>
          </a:p>
          <a:p>
            <a:r>
              <a:rPr lang="pt-BR" altLang="zh-CN" dirty="0"/>
              <a:t>    n2*=n2;</a:t>
            </a:r>
            <a:endParaRPr lang="pt-BR" altLang="zh-CN" dirty="0"/>
          </a:p>
          <a:p>
            <a:r>
              <a:rPr lang="pt-BR" altLang="zh-CN" dirty="0"/>
              <a:t>    cout&lt;&lt;i&lt;&lt;"  "&lt;&lt;n1&lt;&lt;"   "&lt;&lt;n2&lt;&lt;endl;</a:t>
            </a:r>
            <a:endParaRPr lang="pt-BR" altLang="zh-CN" dirty="0"/>
          </a:p>
          <a:p>
            <a:r>
              <a:rPr lang="pt-BR" altLang="zh-CN" dirty="0"/>
              <a:t>    i++;</a:t>
            </a:r>
            <a:endParaRPr lang="pt-BR" altLang="zh-CN" dirty="0"/>
          </a:p>
          <a:p>
            <a:r>
              <a:rPr lang="pt-BR" altLang="zh-CN" dirty="0"/>
              <a:t>  }</a:t>
            </a:r>
            <a:endParaRPr lang="pt-BR" altLang="zh-CN" dirty="0"/>
          </a:p>
          <a:p>
            <a:r>
              <a:rPr lang="pt-BR" altLang="zh-CN" dirty="0"/>
              <a:t>  return 0;</a:t>
            </a:r>
            <a:endParaRPr lang="pt-BR" altLang="zh-CN" dirty="0"/>
          </a:p>
          <a:p>
            <a:r>
              <a:rPr lang="pt-BR" altLang="zh-CN" dirty="0"/>
              <a:t>}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833" y="2749358"/>
            <a:ext cx="1791559" cy="179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矩形 4"/>
          <p:cNvSpPr/>
          <p:nvPr/>
        </p:nvSpPr>
        <p:spPr>
          <a:xfrm>
            <a:off x="755576" y="1347614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指数形式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1271381" y="2069520"/>
            <a:ext cx="2464136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 2900</a:t>
            </a:r>
            <a:endParaRPr lang="en-US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=2.9*1000</a:t>
            </a:r>
            <a:endParaRPr lang="en-US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=2.9*10</a:t>
            </a:r>
            <a:r>
              <a:rPr lang="en-US" altLang="zh-CN" sz="3600" kern="100" baseline="30000" dirty="0">
                <a:latin typeface="Consolas" panose="020B0609020204030204" pitchFamily="49" charset="0"/>
                <a:ea typeface="楷体" panose="02010609060101010101" pitchFamily="49" charset="-122"/>
              </a:rPr>
              <a:t>3</a:t>
            </a:r>
            <a:endParaRPr lang="en-US" altLang="zh-CN" sz="3600" kern="100" baseline="300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=2.9e+3</a:t>
            </a:r>
            <a:endParaRPr lang="en-US" altLang="zh-CN" sz="3600" kern="100" baseline="3000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04048" y="2067693"/>
            <a:ext cx="271741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 0.0321</a:t>
            </a:r>
            <a:endParaRPr lang="en-US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=3.21*0.01</a:t>
            </a:r>
            <a:endParaRPr lang="en-US" altLang="zh-CN" sz="3600" kern="1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=3.21*10</a:t>
            </a:r>
            <a:r>
              <a:rPr lang="en-US" altLang="zh-CN" sz="3600" kern="100" baseline="30000" dirty="0">
                <a:latin typeface="Consolas" panose="020B0609020204030204" pitchFamily="49" charset="0"/>
                <a:ea typeface="楷体" panose="02010609060101010101" pitchFamily="49" charset="-122"/>
              </a:rPr>
              <a:t>-2</a:t>
            </a:r>
            <a:endParaRPr lang="en-US" altLang="zh-CN" sz="3600" kern="100" baseline="30000" dirty="0">
              <a:latin typeface="Consolas" panose="020B0609020204030204" pitchFamily="49" charset="0"/>
              <a:ea typeface="楷体" panose="02010609060101010101" pitchFamily="49" charset="-122"/>
            </a:endParaRPr>
          </a:p>
          <a:p>
            <a:r>
              <a:rPr lang="en-US" altLang="zh-CN" sz="3600" kern="100" dirty="0">
                <a:latin typeface="Consolas" panose="020B0609020204030204" pitchFamily="49" charset="0"/>
                <a:ea typeface="楷体" panose="02010609060101010101" pitchFamily="49" charset="-122"/>
              </a:rPr>
              <a:t>=3.21e-2</a:t>
            </a:r>
            <a:endParaRPr lang="en-US" altLang="zh-CN" sz="3600" kern="100" baseline="30000" dirty="0">
              <a:latin typeface="Consolas" panose="020B0609020204030204" pitchFamily="49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2508840" y="1176764"/>
            <a:ext cx="402225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双精度实数</a:t>
            </a:r>
            <a:r>
              <a:rPr lang="en-US" altLang="zh-CN" sz="3200" dirty="0"/>
              <a:t>double</a:t>
            </a:r>
            <a:endParaRPr lang="en-US" altLang="zh-CN" sz="3200" dirty="0"/>
          </a:p>
          <a:p>
            <a:r>
              <a:rPr lang="en-US" altLang="zh-CN" sz="3200" dirty="0"/>
              <a:t>-1.79e308 ~~ 1.79e308</a:t>
            </a:r>
            <a:endParaRPr lang="zh-CN" altLang="en-US" sz="3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236" y="2973720"/>
            <a:ext cx="2571462" cy="12857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739" y="572043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304056"/>
            <a:ext cx="27921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、用科学计数法表示</a:t>
            </a:r>
            <a:r>
              <a:rPr lang="en-US" altLang="zh-CN" dirty="0">
                <a:latin typeface="+mn-ea"/>
              </a:rPr>
              <a:t>2600</a:t>
            </a:r>
            <a:r>
              <a:rPr lang="zh-CN" altLang="en-US" dirty="0">
                <a:latin typeface="+mn-ea"/>
              </a:rPr>
              <a:t>，应该是（  ）。</a:t>
            </a:r>
            <a:endParaRPr lang="zh-CN" altLang="en-US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2.6e+2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2.6e+3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2.6e-2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+mn-ea"/>
              </a:rPr>
              <a:t>2.6e-3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72340" y="679443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n     x       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3995157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20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825" y="1157896"/>
            <a:ext cx="2778053" cy="3554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46325" y="543118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05737" y="1256858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韩信带</a:t>
            </a:r>
            <a:r>
              <a:rPr lang="en-US" altLang="zh-CN" sz="2000" b="0" dirty="0">
                <a:solidFill>
                  <a:prstClr val="black"/>
                </a:solidFill>
              </a:rPr>
              <a:t>1500</a:t>
            </a:r>
            <a:r>
              <a:rPr lang="zh-CN" altLang="en-US" sz="2000" b="0" dirty="0">
                <a:solidFill>
                  <a:prstClr val="black"/>
                </a:solidFill>
              </a:rPr>
              <a:t>名士兵打仗，战死</a:t>
            </a:r>
            <a:r>
              <a:rPr lang="zh-CN" altLang="en-US" sz="2000" b="0" dirty="0">
                <a:solidFill>
                  <a:srgbClr val="C00000"/>
                </a:solidFill>
              </a:rPr>
              <a:t>四五百</a:t>
            </a:r>
            <a:r>
              <a:rPr lang="zh-CN" altLang="en-US" sz="2000" b="0" dirty="0">
                <a:solidFill>
                  <a:prstClr val="black"/>
                </a:solidFill>
              </a:rPr>
              <a:t>人，幸存的战士站</a:t>
            </a:r>
            <a:r>
              <a:rPr lang="en-US" altLang="zh-CN" sz="2000" b="0" dirty="0">
                <a:solidFill>
                  <a:prstClr val="black"/>
                </a:solidFill>
              </a:rPr>
              <a:t>3</a:t>
            </a:r>
            <a:r>
              <a:rPr lang="zh-CN" altLang="en-US" sz="2000" b="0" dirty="0">
                <a:solidFill>
                  <a:prstClr val="black"/>
                </a:solidFill>
              </a:rPr>
              <a:t>人一排多出</a:t>
            </a:r>
            <a:r>
              <a:rPr lang="en-US" altLang="zh-CN" sz="2000" b="0" dirty="0">
                <a:solidFill>
                  <a:prstClr val="black"/>
                </a:solidFill>
              </a:rPr>
              <a:t>2</a:t>
            </a:r>
            <a:r>
              <a:rPr lang="zh-CN" altLang="en-US" sz="2000" b="0" dirty="0">
                <a:solidFill>
                  <a:prstClr val="black"/>
                </a:solidFill>
              </a:rPr>
              <a:t>人；站</a:t>
            </a:r>
            <a:r>
              <a:rPr lang="en-US" altLang="zh-CN" sz="2000" b="0" dirty="0">
                <a:solidFill>
                  <a:prstClr val="black"/>
                </a:solidFill>
              </a:rPr>
              <a:t>5</a:t>
            </a:r>
            <a:r>
              <a:rPr lang="zh-CN" altLang="en-US" sz="2000" b="0" dirty="0">
                <a:solidFill>
                  <a:prstClr val="black"/>
                </a:solidFill>
              </a:rPr>
              <a:t>人一排多出</a:t>
            </a:r>
            <a:r>
              <a:rPr lang="en-US" altLang="zh-CN" sz="2000" b="0" dirty="0">
                <a:solidFill>
                  <a:prstClr val="black"/>
                </a:solidFill>
              </a:rPr>
              <a:t>4</a:t>
            </a:r>
            <a:r>
              <a:rPr lang="zh-CN" altLang="en-US" sz="2000" b="0" dirty="0">
                <a:solidFill>
                  <a:prstClr val="black"/>
                </a:solidFill>
              </a:rPr>
              <a:t>人；站</a:t>
            </a:r>
            <a:r>
              <a:rPr lang="en-US" altLang="zh-CN" sz="2000" b="0" dirty="0">
                <a:solidFill>
                  <a:prstClr val="black"/>
                </a:solidFill>
              </a:rPr>
              <a:t>7</a:t>
            </a:r>
            <a:r>
              <a:rPr lang="zh-CN" altLang="en-US" sz="2000" b="0" dirty="0">
                <a:solidFill>
                  <a:prstClr val="black"/>
                </a:solidFill>
              </a:rPr>
              <a:t>人一排多出</a:t>
            </a:r>
            <a:r>
              <a:rPr lang="en-US" altLang="zh-CN" sz="2000" b="0" dirty="0">
                <a:solidFill>
                  <a:prstClr val="black"/>
                </a:solidFill>
              </a:rPr>
              <a:t>6</a:t>
            </a:r>
            <a:r>
              <a:rPr lang="zh-CN" altLang="en-US" sz="2000" b="0" dirty="0">
                <a:solidFill>
                  <a:prstClr val="black"/>
                </a:solidFill>
              </a:rPr>
              <a:t>人，算一算幸存的士兵至少有多少人？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281" y="672664"/>
            <a:ext cx="4568765" cy="383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603083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WPS 演示</Application>
  <PresentationFormat>全屏显示(16:9)</PresentationFormat>
  <Paragraphs>82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Calibri</vt:lpstr>
      <vt:lpstr>Times New Roman</vt:lpstr>
      <vt:lpstr>Consolas</vt:lpstr>
      <vt:lpstr>Arial Unicode MS</vt:lpstr>
      <vt:lpstr>Office 主题</vt:lpstr>
      <vt:lpstr>PowerPoint 演示文稿</vt:lpstr>
      <vt:lpstr>蝴蝶效应——双精度实数double</vt:lpstr>
      <vt:lpstr> 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87</cp:revision>
  <dcterms:created xsi:type="dcterms:W3CDTF">2018-07-03T13:24:00Z</dcterms:created>
  <dcterms:modified xsi:type="dcterms:W3CDTF">2021-06-19T06:36:38Z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3444A0DD14CC44628315BE7AD429122D</vt:lpwstr>
  </property>
  <property fmtid="{D5CDD505-2E9C-101B-9397-08002B2CF9AE}" pid="3" name="KSOProductBuildVer">
    <vt:lpwstr>2052-11.1.0.10577</vt:lpwstr>
  </property>
</Properties>
</file>