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9" r:id="rId3"/>
    <p:sldId id="289" r:id="rId4"/>
    <p:sldId id="295" r:id="rId5"/>
    <p:sldId id="294" r:id="rId6"/>
    <p:sldId id="293" r:id="rId7"/>
    <p:sldId id="288" r:id="rId8"/>
    <p:sldId id="280" r:id="rId9"/>
    <p:sldId id="296" r:id="rId10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730" y="7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tags" Target="../tags/tag1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tags" Target="../tags/tag2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jpeg"/><Relationship Id="rId2" Type="http://schemas.openxmlformats.org/officeDocument/2006/relationships/hyperlink" Target="http://www.tsinghua.edu.cn/" TargetMode="Externa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jpeg"/><Relationship Id="rId2" Type="http://schemas.openxmlformats.org/officeDocument/2006/relationships/image" Target="../media/image12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jpeg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75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哥德巴赫猜想</a:t>
            </a:r>
            <a:r>
              <a:rPr lang="en-US" altLang="zh-CN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函数的应用</a:t>
            </a:r>
            <a:r>
              <a:rPr lang="en-US" altLang="zh-CN" sz="36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36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54158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哥德巴赫猜想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函数的应用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6" name="AutoShape 1037"/>
          <p:cNvSpPr>
            <a:spLocks noChangeArrowheads="1"/>
          </p:cNvSpPr>
          <p:nvPr/>
        </p:nvSpPr>
        <p:spPr bwMode="auto">
          <a:xfrm>
            <a:off x="2987824" y="2870324"/>
            <a:ext cx="4257675" cy="1728192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20090" algn="just">
              <a:spcAft>
                <a:spcPts val="0"/>
              </a:spcAft>
            </a:pPr>
            <a:r>
              <a:rPr 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自定义一个判断素数的函数，利用它验证</a:t>
            </a:r>
            <a:r>
              <a:rPr 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之间的偶数都能够分解为两个素数之和，其中</a:t>
            </a:r>
            <a:r>
              <a:rPr 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≥</a:t>
            </a:r>
            <a:r>
              <a:rPr lang="en-US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sz="2400" kern="100" dirty="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zh-CN" sz="2400" kern="100" dirty="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11560" y="1365055"/>
            <a:ext cx="7515199" cy="13388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世界近代三个数学难题是：费马猜想、四色猜想和哥德巴赫猜想。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dirty="0"/>
              <a:t>费马猜想和四色猜想已经被证明，哥德巴赫猜想尚未被完全证明。</a:t>
            </a:r>
            <a:endParaRPr lang="en-US" altLang="zh-C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C00000"/>
                </a:solidFill>
              </a:rPr>
              <a:t>哥德巴赫猜想：任何一个大于</a:t>
            </a:r>
            <a:r>
              <a:rPr lang="en-US" altLang="zh-CN" b="1" dirty="0">
                <a:solidFill>
                  <a:srgbClr val="C00000"/>
                </a:solidFill>
              </a:rPr>
              <a:t>2</a:t>
            </a:r>
            <a:r>
              <a:rPr lang="zh-CN" altLang="en-US" b="1" dirty="0">
                <a:solidFill>
                  <a:srgbClr val="C00000"/>
                </a:solidFill>
              </a:rPr>
              <a:t>的偶数，都可以表示成两个素数之和。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pic>
        <p:nvPicPr>
          <p:cNvPr id="4" name="图片 3" descr="图片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827405" y="2832100"/>
            <a:ext cx="2137410" cy="21469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518793" y="1315187"/>
            <a:ext cx="6250430" cy="50129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C00000"/>
                </a:solidFill>
              </a:rPr>
              <a:t>任何一个大于</a:t>
            </a:r>
            <a:r>
              <a:rPr lang="en-US" altLang="zh-CN" sz="2000" b="1" dirty="0">
                <a:solidFill>
                  <a:srgbClr val="C00000"/>
                </a:solidFill>
              </a:rPr>
              <a:t>2</a:t>
            </a:r>
            <a:r>
              <a:rPr lang="zh-CN" altLang="en-US" sz="2000" b="1" dirty="0">
                <a:solidFill>
                  <a:srgbClr val="C00000"/>
                </a:solidFill>
              </a:rPr>
              <a:t>的偶数，都可以表示成两个素数之和。</a:t>
            </a:r>
            <a:endParaRPr lang="zh-CN" altLang="en-US" sz="2000" b="1" dirty="0">
              <a:solidFill>
                <a:srgbClr val="C00000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2012573"/>
            <a:ext cx="1485900" cy="2628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00" y="2072083"/>
            <a:ext cx="2362405" cy="2362405"/>
          </a:xfrm>
          <a:prstGeom prst="rect">
            <a:avLst/>
          </a:prstGeom>
        </p:spPr>
      </p:pic>
      <p:pic>
        <p:nvPicPr>
          <p:cNvPr id="8" name="图片 7" descr="图片3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915285" y="1966595"/>
            <a:ext cx="2708275" cy="27203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1504523"/>
            <a:ext cx="3352800" cy="2543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278" y="951365"/>
            <a:ext cx="4060980" cy="3802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558949"/>
            <a:ext cx="777686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99663" y="1288000"/>
            <a:ext cx="711262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4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4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dirty="0">
                <a:latin typeface="+mn-ea"/>
              </a:rPr>
              <a:t>   </a:t>
            </a:r>
            <a:r>
              <a:rPr lang="zh-CN" altLang="en-US" sz="2400" dirty="0">
                <a:latin typeface="+mn-ea"/>
              </a:rPr>
              <a:t>网址</a:t>
            </a:r>
            <a:r>
              <a:rPr lang="en-US" altLang="zh-CN" sz="2400" dirty="0">
                <a:latin typeface="+mn-ea"/>
                <a:hlinkClick r:id="rId2"/>
              </a:rPr>
              <a:t>www.tsinghua.edu.cn</a:t>
            </a:r>
            <a:r>
              <a:rPr lang="zh-CN" altLang="en-US" sz="2400" dirty="0">
                <a:latin typeface="+mn-ea"/>
              </a:rPr>
              <a:t>表示在（  ）</a:t>
            </a:r>
            <a:r>
              <a:rPr lang="zh-CN" altLang="en-US" sz="2000" dirty="0">
                <a:latin typeface="+mn-ea"/>
                <a:sym typeface="Wingdings" panose="05000000000000000000" pitchFamily="2" charset="2"/>
              </a:rPr>
              <a:t>？</a:t>
            </a:r>
            <a:endParaRPr lang="en-US" altLang="zh-CN" sz="20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+mn-ea"/>
              </a:rPr>
              <a:t>中国</a:t>
            </a:r>
            <a:endParaRPr lang="en-US" altLang="zh-CN" sz="20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+mn-ea"/>
              </a:rPr>
              <a:t>法国</a:t>
            </a:r>
            <a:endParaRPr lang="en-US" altLang="zh-CN" sz="20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+mn-ea"/>
              </a:rPr>
              <a:t>英国</a:t>
            </a:r>
            <a:endParaRPr lang="en-US" altLang="zh-CN" sz="2000" dirty="0">
              <a:latin typeface="+mn-ea"/>
            </a:endParaRPr>
          </a:p>
          <a:p>
            <a:pPr marL="800100" lvl="1" indent="-342900">
              <a:lnSpc>
                <a:spcPct val="150000"/>
              </a:lnSpc>
              <a:buAutoNum type="alphaUcPeriod"/>
            </a:pPr>
            <a:r>
              <a:rPr lang="zh-CN" altLang="en-US" sz="2000" dirty="0">
                <a:latin typeface="+mn-ea"/>
              </a:rPr>
              <a:t>美国</a:t>
            </a:r>
            <a:endParaRPr lang="en-US" altLang="zh-CN" sz="2000" dirty="0">
              <a:latin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5028" y="3219822"/>
            <a:ext cx="1485900" cy="1495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4238" y="562372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539552" y="1203598"/>
            <a:ext cx="3024336" cy="14401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、阅读程序写结果。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>
                <a:latin typeface="+mn-lt"/>
              </a:rPr>
              <a:t>        </a:t>
            </a:r>
            <a:r>
              <a:rPr lang="zh-CN" altLang="en-US" dirty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 </a:t>
            </a:r>
            <a:endParaRPr lang="en-US" altLang="zh-CN" dirty="0"/>
          </a:p>
        </p:txBody>
      </p:sp>
      <p:sp>
        <p:nvSpPr>
          <p:cNvPr id="8" name="TextBox 7"/>
          <p:cNvSpPr txBox="1"/>
          <p:nvPr/>
        </p:nvSpPr>
        <p:spPr>
          <a:xfrm>
            <a:off x="827584" y="1635646"/>
            <a:ext cx="2088232" cy="2585323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-----------------------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36746" y="4227934"/>
            <a:ext cx="209384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输入： </a:t>
            </a:r>
            <a:r>
              <a:rPr lang="en-US" altLang="zh-CN" dirty="0"/>
              <a:t>5</a:t>
            </a:r>
            <a:endParaRPr lang="en-US" altLang="zh-CN" dirty="0"/>
          </a:p>
          <a:p>
            <a:r>
              <a:rPr lang="zh-CN" altLang="en-US" dirty="0"/>
              <a:t>输出</a:t>
            </a:r>
            <a:r>
              <a:rPr lang="en-US" altLang="zh-CN" dirty="0"/>
              <a:t>:____________</a:t>
            </a:r>
            <a:endParaRPr lang="zh-CN" alt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7699" y="759615"/>
            <a:ext cx="2828925" cy="4219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5028" y="3219822"/>
            <a:ext cx="1485900" cy="1495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  <p:bldP spid="8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/>
          <p:nvPr/>
        </p:nvSpPr>
        <p:spPr>
          <a:xfrm>
            <a:off x="31814" y="50445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643798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9127" y="541600"/>
            <a:ext cx="4119657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691731" y="1428606"/>
            <a:ext cx="316835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prstClr val="black"/>
                </a:solidFill>
              </a:rPr>
              <a:t>3</a:t>
            </a:r>
            <a:r>
              <a:rPr lang="zh-CN" altLang="en-US" dirty="0">
                <a:solidFill>
                  <a:prstClr val="black"/>
                </a:solidFill>
              </a:rPr>
              <a:t>、完善程序。</a:t>
            </a:r>
            <a:endParaRPr lang="en-US" altLang="zh-CN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一个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n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位超级素数是指这样一个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n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位正整数，它的前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1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位，前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2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位，。。。，前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n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位都是素数。</a:t>
            </a:r>
            <a:endParaRPr lang="en-US" altLang="zh-CN" sz="1800" b="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例如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733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就是一个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3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位超级素数，因为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7,73,733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都是素数。</a:t>
            </a:r>
            <a:endParaRPr lang="en-US" altLang="zh-CN" sz="1800" b="0" dirty="0">
              <a:solidFill>
                <a:prstClr val="black"/>
              </a:solidFill>
              <a:latin typeface="+mn-ea"/>
              <a:ea typeface="+mn-ea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编写程序，输出全部的</a:t>
            </a:r>
            <a:r>
              <a:rPr lang="en-US" altLang="zh-CN" sz="1800" b="0" dirty="0">
                <a:solidFill>
                  <a:prstClr val="black"/>
                </a:solidFill>
                <a:latin typeface="+mn-ea"/>
                <a:ea typeface="+mn-ea"/>
              </a:rPr>
              <a:t>3</a:t>
            </a:r>
            <a:r>
              <a:rPr lang="zh-CN" altLang="en-US" sz="1800" b="0" dirty="0">
                <a:solidFill>
                  <a:prstClr val="black"/>
                </a:solidFill>
                <a:latin typeface="+mn-ea"/>
                <a:ea typeface="+mn-ea"/>
              </a:rPr>
              <a:t>位数的超级素数。</a:t>
            </a:r>
            <a:endParaRPr lang="en-US" altLang="zh-CN" sz="1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687" y="731401"/>
            <a:ext cx="2716154" cy="4160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5028" y="3219822"/>
            <a:ext cx="1485900" cy="14954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4284,&quot;width&quot;:4265}"/>
</p:tagLst>
</file>

<file path=ppt/tags/tag2.xml><?xml version="1.0" encoding="utf-8"?>
<p:tagLst xmlns:p="http://schemas.openxmlformats.org/presentationml/2006/main">
  <p:tag name="KSO_WM_UNIT_PLACING_PICTURE_USER_VIEWPORT" val="{&quot;height&quot;:3555,&quot;width&quot;:3540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445</Words>
  <Application>WPS 演示</Application>
  <PresentationFormat>全屏显示(16:9)</PresentationFormat>
  <Paragraphs>54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Calibri</vt:lpstr>
      <vt:lpstr>Arial Unicode MS</vt:lpstr>
      <vt:lpstr>Office 主题</vt:lpstr>
      <vt:lpstr>PowerPoint 演示文稿</vt:lpstr>
      <vt:lpstr>哥德巴赫猜想——函数的应用</vt:lpstr>
      <vt:lpstr> </vt:lpstr>
      <vt:lpstr> </vt:lpstr>
      <vt:lpstr>课后作业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康汉卿</cp:lastModifiedBy>
  <cp:revision>113</cp:revision>
  <dcterms:created xsi:type="dcterms:W3CDTF">2018-07-03T13:24:00Z</dcterms:created>
  <dcterms:modified xsi:type="dcterms:W3CDTF">2021-10-23T11:49:24Z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D07D8FA94E214C2AA244A055B1874505</vt:lpwstr>
  </property>
  <property fmtid="{D5CDD505-2E9C-101B-9397-08002B2CF9AE}" pid="3" name="KSOProductBuildVer">
    <vt:lpwstr>2052-11.1.0.11045</vt:lpwstr>
  </property>
</Properties>
</file>