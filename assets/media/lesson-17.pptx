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handoutMasterIdLst>
    <p:handoutMasterId r:id="rId11"/>
  </p:handoutMasterIdLst>
  <p:sldIdLst>
    <p:sldId id="293" r:id="rId2"/>
    <p:sldId id="269" r:id="rId3"/>
    <p:sldId id="290" r:id="rId4"/>
    <p:sldId id="291" r:id="rId5"/>
    <p:sldId id="292" r:id="rId6"/>
    <p:sldId id="275" r:id="rId7"/>
    <p:sldId id="267" r:id="rId8"/>
    <p:sldId id="280" r:id="rId9"/>
    <p:sldId id="295" r:id="rId1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3">
          <p15:clr>
            <a:srgbClr val="A4A3A4"/>
          </p15:clr>
        </p15:guide>
        <p15:guide id="2" pos="28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13"/>
        <p:guide pos="2847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5" d="100"/>
          <a:sy n="65" d="100"/>
        </p:scale>
        <p:origin x="3154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315234-0B96-4579-BD19-0301E0EAF884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CB8828-2EEE-42CC-BA22-2F7575327C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开灯关灯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逻辑变量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5168" y="963125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开灯关灯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逻辑变量</a:t>
            </a:r>
          </a:p>
        </p:txBody>
      </p:sp>
      <p:sp>
        <p:nvSpPr>
          <p:cNvPr id="5" name="矩形: 圆角 4"/>
          <p:cNvSpPr>
            <a:spLocks noChangeArrowheads="1"/>
          </p:cNvSpPr>
          <p:nvPr/>
        </p:nvSpPr>
        <p:spPr bwMode="auto">
          <a:xfrm>
            <a:off x="2457450" y="1923678"/>
            <a:ext cx="4229100" cy="1257894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试编一个程序，算一算灯是亮还是灭</a:t>
            </a:r>
            <a:r>
              <a:rPr 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  <a:endParaRPr lang="zh-CN" sz="28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98989" y="1987777"/>
            <a:ext cx="2020703" cy="2672215"/>
          </a:xfrm>
          <a:prstGeom prst="rect">
            <a:avLst/>
          </a:prstGeom>
        </p:spPr>
      </p:pic>
      <p:pic>
        <p:nvPicPr>
          <p:cNvPr id="4" name="图片 3" descr="图片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45" y="2431415"/>
            <a:ext cx="1680845" cy="16878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矩形 5"/>
          <p:cNvSpPr/>
          <p:nvPr/>
        </p:nvSpPr>
        <p:spPr>
          <a:xfrm>
            <a:off x="2771800" y="2388825"/>
            <a:ext cx="326243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4800" kern="100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逻辑型变量</a:t>
            </a:r>
            <a:endParaRPr lang="zh-CN" altLang="en-US" sz="4800" dirty="0"/>
          </a:p>
        </p:txBody>
      </p:sp>
      <p:grpSp>
        <p:nvGrpSpPr>
          <p:cNvPr id="3" name="组合 2"/>
          <p:cNvGrpSpPr/>
          <p:nvPr/>
        </p:nvGrpSpPr>
        <p:grpSpPr>
          <a:xfrm>
            <a:off x="1203337" y="1181993"/>
            <a:ext cx="6275223" cy="1101725"/>
            <a:chOff x="547852" y="1257245"/>
            <a:chExt cx="6275223" cy="1101725"/>
          </a:xfrm>
        </p:grpSpPr>
        <p:grpSp>
          <p:nvGrpSpPr>
            <p:cNvPr id="7" name="组合 33"/>
            <p:cNvGrpSpPr/>
            <p:nvPr/>
          </p:nvGrpSpPr>
          <p:grpSpPr bwMode="auto">
            <a:xfrm>
              <a:off x="547852" y="1257245"/>
              <a:ext cx="1310971" cy="1101725"/>
              <a:chOff x="0" y="0"/>
              <a:chExt cx="1800200" cy="1512252"/>
            </a:xfrm>
          </p:grpSpPr>
          <p:pic>
            <p:nvPicPr>
              <p:cNvPr id="8" name="Picture 85" descr="png-1449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" name="矩形 35"/>
              <p:cNvSpPr/>
              <p:nvPr/>
            </p:nvSpPr>
            <p:spPr>
              <a:xfrm>
                <a:off x="600067" y="410990"/>
                <a:ext cx="543731" cy="523000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布</a:t>
                </a:r>
                <a:endParaRPr lang="zh-CN" altLang="en-US" sz="2800" noProof="1">
                  <a:effectLst>
                    <a:outerShdw blurRad="38100" dist="38100" dir="2700000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10" name="组合 33"/>
            <p:cNvGrpSpPr/>
            <p:nvPr/>
          </p:nvGrpSpPr>
          <p:grpSpPr bwMode="auto">
            <a:xfrm>
              <a:off x="2202603" y="1257245"/>
              <a:ext cx="1310971" cy="1101725"/>
              <a:chOff x="0" y="0"/>
              <a:chExt cx="1800200" cy="1512252"/>
            </a:xfrm>
          </p:grpSpPr>
          <p:pic>
            <p:nvPicPr>
              <p:cNvPr id="11" name="Picture 85" descr="png-1449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" name="矩形 35"/>
              <p:cNvSpPr/>
              <p:nvPr/>
            </p:nvSpPr>
            <p:spPr>
              <a:xfrm>
                <a:off x="600067" y="410990"/>
                <a:ext cx="543731" cy="523000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zh-CN" sz="2800" kern="100">
                    <a:latin typeface="黑体" panose="02010609060101010101" pitchFamily="49" charset="-122"/>
                    <a:ea typeface="黑体" panose="02010609060101010101" pitchFamily="49" charset="-122"/>
                    <a:cs typeface="Calibri" panose="020F0502020204030204" pitchFamily="34" charset="0"/>
                  </a:rPr>
                  <a:t>尔</a:t>
                </a:r>
                <a:endParaRPr lang="zh-CN" altLang="en-US" sz="2800" noProof="1">
                  <a:effectLst>
                    <a:outerShdw blurRad="38100" dist="38100" dir="2700000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13" name="组合 33"/>
            <p:cNvGrpSpPr/>
            <p:nvPr/>
          </p:nvGrpSpPr>
          <p:grpSpPr bwMode="auto">
            <a:xfrm>
              <a:off x="3857354" y="1257245"/>
              <a:ext cx="1310971" cy="1101725"/>
              <a:chOff x="0" y="0"/>
              <a:chExt cx="1800200" cy="1512252"/>
            </a:xfrm>
          </p:grpSpPr>
          <p:pic>
            <p:nvPicPr>
              <p:cNvPr id="14" name="Picture 85" descr="png-1449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" name="矩形 35"/>
              <p:cNvSpPr/>
              <p:nvPr/>
            </p:nvSpPr>
            <p:spPr>
              <a:xfrm>
                <a:off x="600067" y="410990"/>
                <a:ext cx="543731" cy="523000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zh-CN" sz="2800" kern="100">
                    <a:latin typeface="黑体" panose="02010609060101010101" pitchFamily="49" charset="-122"/>
                    <a:ea typeface="黑体" panose="02010609060101010101" pitchFamily="49" charset="-122"/>
                    <a:cs typeface="Calibri" panose="020F0502020204030204" pitchFamily="34" charset="0"/>
                  </a:rPr>
                  <a:t>变</a:t>
                </a:r>
                <a:endParaRPr lang="zh-CN" altLang="en-US" sz="2800" noProof="1">
                  <a:effectLst>
                    <a:outerShdw blurRad="38100" dist="38100" dir="2700000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16" name="组合 33"/>
            <p:cNvGrpSpPr/>
            <p:nvPr/>
          </p:nvGrpSpPr>
          <p:grpSpPr bwMode="auto">
            <a:xfrm>
              <a:off x="5512104" y="1257245"/>
              <a:ext cx="1310971" cy="1101725"/>
              <a:chOff x="0" y="0"/>
              <a:chExt cx="1800200" cy="1512252"/>
            </a:xfrm>
          </p:grpSpPr>
          <p:pic>
            <p:nvPicPr>
              <p:cNvPr id="17" name="Picture 85" descr="png-1449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" name="矩形 35"/>
              <p:cNvSpPr/>
              <p:nvPr/>
            </p:nvSpPr>
            <p:spPr>
              <a:xfrm>
                <a:off x="600067" y="410990"/>
                <a:ext cx="543731" cy="523000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zh-CN" sz="2800" kern="100">
                    <a:latin typeface="黑体" panose="02010609060101010101" pitchFamily="49" charset="-122"/>
                    <a:ea typeface="黑体" panose="02010609060101010101" pitchFamily="49" charset="-122"/>
                    <a:cs typeface="Calibri" panose="020F0502020204030204" pitchFamily="34" charset="0"/>
                  </a:rPr>
                  <a:t>量</a:t>
                </a:r>
                <a:endParaRPr lang="zh-CN" altLang="en-US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</p:grpSp>
      <p:sp>
        <p:nvSpPr>
          <p:cNvPr id="19" name="矩形 18"/>
          <p:cNvSpPr/>
          <p:nvPr/>
        </p:nvSpPr>
        <p:spPr>
          <a:xfrm>
            <a:off x="1403648" y="3219822"/>
            <a:ext cx="2441694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8000" kern="100" dirty="0" err="1"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endParaRPr lang="zh-CN" altLang="en-US" sz="8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174281" y="3219822"/>
            <a:ext cx="1739579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400" kern="100" dirty="0"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</a:p>
          <a:p>
            <a:r>
              <a:rPr lang="en-US" altLang="zh-CN" sz="4400" kern="100" dirty="0"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endParaRPr lang="zh-CN" altLang="en-US" sz="4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9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7446" y="490590"/>
            <a:ext cx="2494354" cy="4252647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197186" y="588253"/>
            <a:ext cx="4572000" cy="415498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 dirty="0"/>
              <a:t>#include&lt;</a:t>
            </a:r>
            <a:r>
              <a:rPr lang="en-US" altLang="zh-CN" sz="1600" dirty="0" err="1"/>
              <a:t>iostream</a:t>
            </a:r>
            <a:r>
              <a:rPr lang="en-US" altLang="zh-CN" sz="1600" dirty="0"/>
              <a:t>&gt;</a:t>
            </a:r>
          </a:p>
          <a:p>
            <a:r>
              <a:rPr lang="en-US" altLang="zh-CN" sz="1600" dirty="0"/>
              <a:t>using namespace </a:t>
            </a:r>
            <a:r>
              <a:rPr lang="en-US" altLang="zh-CN" sz="1600" dirty="0" err="1"/>
              <a:t>std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 err="1"/>
              <a:t>int</a:t>
            </a:r>
            <a:r>
              <a:rPr lang="en-US" altLang="zh-CN" sz="1600" dirty="0"/>
              <a:t> main()</a:t>
            </a:r>
          </a:p>
          <a:p>
            <a:r>
              <a:rPr lang="en-US" altLang="zh-CN" sz="1600" dirty="0"/>
              <a:t>{</a:t>
            </a:r>
          </a:p>
          <a:p>
            <a:r>
              <a:rPr lang="en-US" altLang="zh-CN" sz="1600" dirty="0"/>
              <a:t>  </a:t>
            </a:r>
            <a:r>
              <a:rPr lang="en-US" altLang="zh-CN" sz="1600" dirty="0" err="1"/>
              <a:t>bool</a:t>
            </a:r>
            <a:r>
              <a:rPr lang="en-US" altLang="zh-CN" sz="1600" dirty="0"/>
              <a:t> light=false;  </a:t>
            </a:r>
          </a:p>
          <a:p>
            <a:r>
              <a:rPr lang="en-US" altLang="zh-CN" sz="1600" dirty="0"/>
              <a:t>  light=!light;  //</a:t>
            </a:r>
            <a:r>
              <a:rPr lang="zh-CN" altLang="en-US" sz="1600" dirty="0"/>
              <a:t>拉一下开关</a:t>
            </a:r>
          </a:p>
          <a:p>
            <a:r>
              <a:rPr lang="zh-CN" altLang="en-US" sz="1600" dirty="0"/>
              <a:t>  </a:t>
            </a:r>
            <a:r>
              <a:rPr lang="en-US" altLang="zh-CN" sz="1600" dirty="0"/>
              <a:t>light=!light; </a:t>
            </a:r>
          </a:p>
          <a:p>
            <a:r>
              <a:rPr lang="en-US" altLang="zh-CN" sz="1600" dirty="0"/>
              <a:t>  light=!light;  </a:t>
            </a:r>
          </a:p>
          <a:p>
            <a:r>
              <a:rPr lang="en-US" altLang="zh-CN" sz="1600" dirty="0"/>
              <a:t>  light=!light;  </a:t>
            </a:r>
          </a:p>
          <a:p>
            <a:r>
              <a:rPr lang="en-US" altLang="zh-CN" sz="1600" dirty="0"/>
              <a:t>  light=!light;  </a:t>
            </a:r>
          </a:p>
          <a:p>
            <a:r>
              <a:rPr lang="en-US" altLang="zh-CN" sz="1600" dirty="0"/>
              <a:t>  if(light==true) 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&lt;&lt;"</a:t>
            </a:r>
            <a:r>
              <a:rPr lang="zh-CN" altLang="en-US" sz="1600" dirty="0"/>
              <a:t>灯亮</a:t>
            </a:r>
            <a:r>
              <a:rPr lang="en-US" altLang="zh-CN" sz="1600" dirty="0"/>
              <a:t>";</a:t>
            </a:r>
          </a:p>
          <a:p>
            <a:r>
              <a:rPr lang="en-US" altLang="zh-CN" sz="1600" dirty="0"/>
              <a:t>  else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&lt;&lt;"</a:t>
            </a:r>
            <a:r>
              <a:rPr lang="zh-CN" altLang="en-US" sz="1600" dirty="0"/>
              <a:t>灯灭</a:t>
            </a:r>
            <a:r>
              <a:rPr lang="en-US" altLang="zh-CN" sz="1600" dirty="0"/>
              <a:t>";</a:t>
            </a:r>
          </a:p>
          <a:p>
            <a:r>
              <a:rPr lang="en-US" altLang="zh-CN" sz="1600" dirty="0"/>
              <a:t>  return  0; </a:t>
            </a:r>
          </a:p>
          <a:p>
            <a:r>
              <a:rPr lang="en-US" altLang="zh-CN" sz="1600" dirty="0"/>
              <a:t>}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83001" y="1924437"/>
            <a:ext cx="2020703" cy="26722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683569" y="1275606"/>
            <a:ext cx="460851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kern="100" dirty="0" err="1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bool</a:t>
            </a:r>
            <a:r>
              <a:rPr lang="en-US" altLang="zh-CN" sz="36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 light=false;  </a:t>
            </a:r>
          </a:p>
          <a:p>
            <a:r>
              <a:rPr lang="en-US" altLang="zh-CN" sz="36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light=!light; </a:t>
            </a:r>
          </a:p>
        </p:txBody>
      </p:sp>
      <p:sp>
        <p:nvSpPr>
          <p:cNvPr id="6" name="矩形 5"/>
          <p:cNvSpPr/>
          <p:nvPr/>
        </p:nvSpPr>
        <p:spPr>
          <a:xfrm>
            <a:off x="713244" y="2715766"/>
            <a:ext cx="3575018" cy="15696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CN" sz="32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!  : </a:t>
            </a:r>
            <a:r>
              <a:rPr lang="zh-CN" altLang="en-US" sz="32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非，取反</a:t>
            </a:r>
            <a:endParaRPr lang="en-US" altLang="zh-CN" sz="3200" kern="100" dirty="0"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32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!true  : false </a:t>
            </a:r>
          </a:p>
          <a:p>
            <a:r>
              <a:rPr lang="en-US" altLang="zh-CN" sz="3200" kern="1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!false : true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43021" y="1473754"/>
            <a:ext cx="2202719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800" dirty="0"/>
              <a:t>if(light==true)</a:t>
            </a:r>
            <a:endParaRPr lang="zh-CN" alt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6046905" y="3005086"/>
            <a:ext cx="1231299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800" dirty="0"/>
              <a:t>if(light)</a:t>
            </a:r>
            <a:endParaRPr lang="zh-CN" altLang="en-US" sz="2800" dirty="0"/>
          </a:p>
        </p:txBody>
      </p:sp>
      <p:sp>
        <p:nvSpPr>
          <p:cNvPr id="9" name="左右箭头 8"/>
          <p:cNvSpPr/>
          <p:nvPr/>
        </p:nvSpPr>
        <p:spPr>
          <a:xfrm rot="5400000">
            <a:off x="6228006" y="2290227"/>
            <a:ext cx="864096" cy="383278"/>
          </a:xfrm>
          <a:prstGeom prst="left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3384796"/>
            <a:ext cx="1231300" cy="12349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3" grpId="0" animBg="1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915566"/>
            <a:ext cx="8229600" cy="56921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编程小词典</a:t>
            </a:r>
            <a:br>
              <a:rPr lang="en-US" altLang="zh-CN" dirty="0">
                <a:solidFill>
                  <a:srgbClr val="00B0F0"/>
                </a:solidFill>
              </a:rPr>
            </a:b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592" y="1748820"/>
            <a:ext cx="5904656" cy="1800200"/>
          </a:xfrm>
        </p:spPr>
        <p:txBody>
          <a:bodyPr>
            <a:normAutofit/>
          </a:bodyPr>
          <a:lstStyle/>
          <a:p>
            <a:pPr lvl="1"/>
            <a:r>
              <a:rPr lang="en-US" altLang="zh-CN" sz="2800" dirty="0" err="1"/>
              <a:t>bool</a:t>
            </a:r>
            <a:r>
              <a:rPr lang="en-US" altLang="zh-CN" sz="2800" dirty="0"/>
              <a:t>  </a:t>
            </a:r>
            <a:r>
              <a:rPr lang="zh-CN" altLang="en-US" sz="2800" dirty="0"/>
              <a:t>布尔</a:t>
            </a:r>
            <a:endParaRPr lang="en-US" altLang="zh-CN" sz="2800" dirty="0"/>
          </a:p>
          <a:p>
            <a:pPr lvl="1"/>
            <a:r>
              <a:rPr lang="en-US" altLang="zh-CN" sz="2800" dirty="0"/>
              <a:t>false  </a:t>
            </a:r>
            <a:r>
              <a:rPr lang="zh-CN" altLang="en-US" sz="2800" dirty="0"/>
              <a:t>假</a:t>
            </a:r>
            <a:endParaRPr lang="en-US" altLang="zh-CN" sz="2800" dirty="0"/>
          </a:p>
          <a:p>
            <a:pPr lvl="1"/>
            <a:r>
              <a:rPr lang="en-US" altLang="zh-CN" sz="2800" dirty="0"/>
              <a:t>true   </a:t>
            </a:r>
            <a:r>
              <a:rPr lang="zh-CN" altLang="en-US" sz="2800" dirty="0"/>
              <a:t>真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006" y="1624127"/>
            <a:ext cx="2926334" cy="18823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5608" y="698540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5719" y="1419622"/>
            <a:ext cx="2576122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表达式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(5==6)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的值是（  ）。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true</a:t>
            </a: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false</a:t>
            </a: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467642" y="549742"/>
            <a:ext cx="4936302" cy="424847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#include &lt;</a:t>
            </a:r>
            <a:r>
              <a:rPr lang="en-US" altLang="zh-CN" sz="1400" b="0" dirty="0" err="1">
                <a:latin typeface="Cambria" panose="02040503050406030204" pitchFamily="18" charset="0"/>
              </a:rPr>
              <a:t>iostream</a:t>
            </a:r>
            <a:r>
              <a:rPr lang="en-US" altLang="zh-CN" sz="1400" b="0" dirty="0">
                <a:latin typeface="Cambria" panose="02040503050406030204" pitchFamily="18" charset="0"/>
              </a:rPr>
              <a:t>&gt;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using namespace </a:t>
            </a:r>
            <a:r>
              <a:rPr lang="en-US" altLang="zh-CN" sz="1400" b="0" dirty="0" err="1">
                <a:latin typeface="Cambria" panose="02040503050406030204" pitchFamily="18" charset="0"/>
              </a:rPr>
              <a:t>std</a:t>
            </a:r>
            <a:r>
              <a:rPr lang="en-US" altLang="zh-CN" sz="1400" b="0" dirty="0">
                <a:latin typeface="Cambria" panose="02040503050406030204" pitchFamily="18" charset="0"/>
              </a:rPr>
              <a:t>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 err="1">
                <a:latin typeface="Cambria" panose="02040503050406030204" pitchFamily="18" charset="0"/>
              </a:rPr>
              <a:t>int</a:t>
            </a:r>
            <a:r>
              <a:rPr lang="en-US" altLang="zh-CN" sz="1400" b="0" dirty="0">
                <a:latin typeface="Cambria" panose="02040503050406030204" pitchFamily="18" charset="0"/>
              </a:rPr>
              <a:t> main()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{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</a:t>
            </a:r>
            <a:r>
              <a:rPr lang="en-US" altLang="zh-CN" sz="1400" b="0" dirty="0" err="1">
                <a:latin typeface="Cambria" panose="02040503050406030204" pitchFamily="18" charset="0"/>
              </a:rPr>
              <a:t>bool</a:t>
            </a:r>
            <a:r>
              <a:rPr lang="en-US" altLang="zh-CN" sz="1400" b="0" dirty="0">
                <a:latin typeface="Cambria" panose="02040503050406030204" pitchFamily="18" charset="0"/>
              </a:rPr>
              <a:t> flag;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</a:t>
            </a:r>
            <a:r>
              <a:rPr lang="en-US" altLang="zh-CN" sz="1400" b="0" dirty="0" err="1">
                <a:latin typeface="Cambria" panose="02040503050406030204" pitchFamily="18" charset="0"/>
              </a:rPr>
              <a:t>int</a:t>
            </a:r>
            <a:r>
              <a:rPr lang="en-US" altLang="zh-CN" sz="1400" b="0" dirty="0">
                <a:latin typeface="Cambria" panose="02040503050406030204" pitchFamily="18" charset="0"/>
              </a:rPr>
              <a:t>  n;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</a:t>
            </a:r>
            <a:r>
              <a:rPr lang="en-US" altLang="zh-CN" sz="1400" b="0" dirty="0" err="1">
                <a:latin typeface="Cambria" panose="02040503050406030204" pitchFamily="18" charset="0"/>
              </a:rPr>
              <a:t>cin</a:t>
            </a:r>
            <a:r>
              <a:rPr lang="en-US" altLang="zh-CN" sz="1400" b="0" dirty="0">
                <a:latin typeface="Cambria" panose="02040503050406030204" pitchFamily="18" charset="0"/>
              </a:rPr>
              <a:t>&gt;&gt;n;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if(n%2==0)  flag=true;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else  flag=false;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if(flag)  </a:t>
            </a:r>
            <a:r>
              <a:rPr lang="en-US" altLang="zh-CN" sz="1400" b="0" dirty="0" err="1">
                <a:latin typeface="Cambria" panose="02040503050406030204" pitchFamily="18" charset="0"/>
              </a:rPr>
              <a:t>cout</a:t>
            </a:r>
            <a:r>
              <a:rPr lang="en-US" altLang="zh-CN" sz="1400" b="0" dirty="0">
                <a:latin typeface="Cambria" panose="02040503050406030204" pitchFamily="18" charset="0"/>
              </a:rPr>
              <a:t>&lt;&lt;"yes";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else </a:t>
            </a:r>
            <a:r>
              <a:rPr lang="en-US" altLang="zh-CN" sz="1400" b="0" dirty="0" err="1">
                <a:latin typeface="Cambria" panose="02040503050406030204" pitchFamily="18" charset="0"/>
              </a:rPr>
              <a:t>cout</a:t>
            </a:r>
            <a:r>
              <a:rPr lang="en-US" altLang="zh-CN" sz="1400" b="0" dirty="0">
                <a:latin typeface="Cambria" panose="02040503050406030204" pitchFamily="18" charset="0"/>
              </a:rPr>
              <a:t>&lt;&lt;"no";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return 0;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}</a:t>
            </a:r>
          </a:p>
          <a:p>
            <a:pPr marL="0" indent="0">
              <a:buNone/>
            </a:pPr>
            <a:r>
              <a:rPr lang="zh-CN" altLang="en-US" sz="2000" dirty="0"/>
              <a:t>         输入：</a:t>
            </a:r>
            <a:r>
              <a:rPr lang="en-US" altLang="zh-CN" sz="2000" dirty="0"/>
              <a:t>12</a:t>
            </a:r>
            <a:r>
              <a:rPr lang="zh-CN" altLang="en-US" sz="2000" dirty="0"/>
              <a:t>       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  输出</a:t>
            </a:r>
            <a:r>
              <a:rPr lang="en-US" altLang="zh-CN" sz="2000" dirty="0"/>
              <a:t>:____________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8555" y="1804401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  n         flag</a:t>
            </a:r>
          </a:p>
          <a:p>
            <a:r>
              <a:rPr lang="en-US" altLang="zh-CN" dirty="0"/>
              <a:t>----------------------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allAtOnce"/>
      <p:bldP spid="8" grpId="0" build="allAtOnce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289190"/>
            <a:ext cx="9080372" cy="4639045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44823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08520" y="483771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</a:p>
        </p:txBody>
      </p:sp>
      <p:sp>
        <p:nvSpPr>
          <p:cNvPr id="6" name="内容占位符 2"/>
          <p:cNvSpPr txBox="1"/>
          <p:nvPr/>
        </p:nvSpPr>
        <p:spPr>
          <a:xfrm>
            <a:off x="971600" y="1267530"/>
            <a:ext cx="280831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1800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</a:rPr>
              <a:t>美美家里有</a:t>
            </a:r>
            <a:r>
              <a:rPr lang="en-US" altLang="zh-CN" sz="1800" b="0" dirty="0">
                <a:solidFill>
                  <a:prstClr val="black"/>
                </a:solidFill>
              </a:rPr>
              <a:t>7</a:t>
            </a:r>
            <a:r>
              <a:rPr lang="zh-CN" altLang="en-US" sz="1800" b="0" dirty="0">
                <a:solidFill>
                  <a:prstClr val="black"/>
                </a:solidFill>
              </a:rPr>
              <a:t>扇门，编号分别为</a:t>
            </a:r>
            <a:r>
              <a:rPr lang="en-US" altLang="zh-CN" sz="1800" b="0" dirty="0">
                <a:solidFill>
                  <a:prstClr val="black"/>
                </a:solidFill>
              </a:rPr>
              <a:t>1</a:t>
            </a:r>
            <a:r>
              <a:rPr lang="zh-CN" altLang="en-US" sz="1800" b="0" dirty="0">
                <a:solidFill>
                  <a:prstClr val="black"/>
                </a:solidFill>
              </a:rPr>
              <a:t>到</a:t>
            </a:r>
            <a:r>
              <a:rPr lang="en-US" altLang="zh-CN" sz="1800" b="0" dirty="0">
                <a:solidFill>
                  <a:prstClr val="black"/>
                </a:solidFill>
              </a:rPr>
              <a:t>7.</a:t>
            </a:r>
            <a:r>
              <a:rPr lang="zh-CN" altLang="en-US" sz="1800" b="0" dirty="0">
                <a:solidFill>
                  <a:prstClr val="black"/>
                </a:solidFill>
              </a:rPr>
              <a:t>美美的爸爸把所有的门都打开，妈妈把所有编号是</a:t>
            </a:r>
            <a:r>
              <a:rPr lang="en-US" altLang="zh-CN" sz="1800" b="0" dirty="0">
                <a:solidFill>
                  <a:prstClr val="black"/>
                </a:solidFill>
              </a:rPr>
              <a:t>2</a:t>
            </a:r>
            <a:r>
              <a:rPr lang="zh-CN" altLang="en-US" sz="1800" b="0" dirty="0">
                <a:solidFill>
                  <a:prstClr val="black"/>
                </a:solidFill>
              </a:rPr>
              <a:t>的倍数的房门做相反的处理，美美把所有编号是</a:t>
            </a:r>
            <a:r>
              <a:rPr lang="en-US" altLang="zh-CN" sz="1800" b="0" dirty="0">
                <a:solidFill>
                  <a:prstClr val="black"/>
                </a:solidFill>
              </a:rPr>
              <a:t>3</a:t>
            </a:r>
            <a:r>
              <a:rPr lang="zh-CN" altLang="en-US" sz="1800" b="0" dirty="0">
                <a:solidFill>
                  <a:prstClr val="black"/>
                </a:solidFill>
              </a:rPr>
              <a:t>的倍数的房门做相反的处理。问共有几扇门开着？</a:t>
            </a:r>
            <a:endParaRPr lang="en-US" altLang="zh-CN" sz="2000" b="0" dirty="0">
              <a:solidFill>
                <a:prstClr val="black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201243" y="746277"/>
            <a:ext cx="4511094" cy="39703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door1,door2,door3,door4,door5,door6,doo7;</a:t>
            </a: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s=0;</a:t>
            </a: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door1=door2=door3=door4=door5=door6=door7=true;  </a:t>
            </a: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door2 = !door2;</a:t>
            </a: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door4 = !door4;</a:t>
            </a: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door6 = !door6;</a:t>
            </a: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_________________;</a:t>
            </a: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door6 = !door6;</a:t>
            </a: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if(door1)  s++;  if(door2)  s++;  if(door3)  s++; </a:t>
            </a: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________________;</a:t>
            </a: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if(door5)  s++;  if(door6)  s++;  if(door7)  s++;</a:t>
            </a: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&lt;&lt;________&lt;&lt;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4461" y="4144918"/>
            <a:ext cx="3398574" cy="646331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</a:rPr>
              <a:t>注：学完后面的循环知识后，可以简化此程序！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471</Words>
  <Application>Microsoft Office PowerPoint</Application>
  <PresentationFormat>全屏显示(16:9)</PresentationFormat>
  <Paragraphs>91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等线</vt:lpstr>
      <vt:lpstr>仿宋</vt:lpstr>
      <vt:lpstr>黑体</vt:lpstr>
      <vt:lpstr>楷体</vt:lpstr>
      <vt:lpstr>宋体</vt:lpstr>
      <vt:lpstr>微软雅黑</vt:lpstr>
      <vt:lpstr>Arial</vt:lpstr>
      <vt:lpstr>Calibri</vt:lpstr>
      <vt:lpstr>Cambria</vt:lpstr>
      <vt:lpstr>Consolas</vt:lpstr>
      <vt:lpstr>Times New Roman</vt:lpstr>
      <vt:lpstr>Office 主题</vt:lpstr>
      <vt:lpstr>PowerPoint 演示文稿</vt:lpstr>
      <vt:lpstr>开灯关灯——逻辑变量</vt:lpstr>
      <vt:lpstr>PowerPoint 演示文稿</vt:lpstr>
      <vt:lpstr> </vt:lpstr>
      <vt:lpstr> </vt:lpstr>
      <vt:lpstr>编程小词典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李 亚涛</cp:lastModifiedBy>
  <cp:revision>67</cp:revision>
  <dcterms:created xsi:type="dcterms:W3CDTF">2018-07-03T13:24:00Z</dcterms:created>
  <dcterms:modified xsi:type="dcterms:W3CDTF">2021-06-09T02:40:01Z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2052-11.1.0.10463</vt:lpwstr>
  </property>
  <property fmtid="{D5CDD505-2E9C-101B-9397-08002B2CF9AE}" pid="3" name="ICV">
    <vt:lpwstr>0969A1DCFA57429CB337978FB7F2F135</vt:lpwstr>
  </property>
</Properties>
</file>