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0" r:id="rId3"/>
    <p:sldId id="269" r:id="rId4"/>
    <p:sldId id="288" r:id="rId5"/>
    <p:sldId id="289" r:id="rId6"/>
    <p:sldId id="267" r:id="rId7"/>
    <p:sldId id="280" r:id="rId8"/>
    <p:sldId id="292" r:id="rId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82" y="115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33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个兄弟姐妹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字符型循环变量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65625"/>
            <a:ext cx="8229600" cy="641226"/>
          </a:xfrm>
        </p:spPr>
        <p:txBody>
          <a:bodyPr/>
          <a:lstStyle/>
          <a:p>
            <a:r>
              <a:rPr lang="en-US" altLang="zh-CN" dirty="0">
                <a:solidFill>
                  <a:srgbClr val="00B0F0"/>
                </a:solidFill>
              </a:rPr>
              <a:t>26</a:t>
            </a:r>
            <a:r>
              <a:rPr lang="zh-CN" altLang="en-US" dirty="0">
                <a:solidFill>
                  <a:srgbClr val="00B0F0"/>
                </a:solidFill>
              </a:rPr>
              <a:t>个兄弟姐妹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字符型循环变量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47664" y="1518802"/>
            <a:ext cx="6024880" cy="398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j-ea"/>
                <a:ea typeface="+mj-ea"/>
              </a:rPr>
              <a:t>美美：“</a:t>
            </a:r>
            <a:r>
              <a:rPr lang="en-US" altLang="zh-CN" sz="2000" dirty="0">
                <a:latin typeface="+mj-ea"/>
                <a:ea typeface="+mj-ea"/>
              </a:rPr>
              <a:t>26</a:t>
            </a:r>
            <a:r>
              <a:rPr lang="zh-CN" altLang="en-US" sz="2000" dirty="0">
                <a:latin typeface="+mj-ea"/>
                <a:ea typeface="+mj-ea"/>
              </a:rPr>
              <a:t>个字母</a:t>
            </a:r>
            <a:r>
              <a:rPr lang="en-US" altLang="zh-CN" sz="2000" dirty="0">
                <a:latin typeface="+mj-ea"/>
                <a:ea typeface="+mj-ea"/>
              </a:rPr>
              <a:t>26</a:t>
            </a:r>
            <a:r>
              <a:rPr lang="zh-CN" altLang="en-US" sz="2000" dirty="0">
                <a:latin typeface="+mj-ea"/>
                <a:ea typeface="+mj-ea"/>
              </a:rPr>
              <a:t>枝花，</a:t>
            </a:r>
            <a:r>
              <a:rPr lang="en-US" altLang="zh-CN" sz="2000" dirty="0">
                <a:latin typeface="+mj-ea"/>
                <a:ea typeface="+mj-ea"/>
              </a:rPr>
              <a:t>26</a:t>
            </a:r>
            <a:r>
              <a:rPr lang="zh-CN" altLang="en-US" sz="2000" dirty="0">
                <a:latin typeface="+mj-ea"/>
                <a:ea typeface="+mj-ea"/>
              </a:rPr>
              <a:t>个兄弟姐妹是一家。</a:t>
            </a:r>
            <a:r>
              <a:rPr lang="zh-CN" altLang="en-US" sz="2000" dirty="0">
                <a:latin typeface="+mj-ea"/>
              </a:rPr>
              <a:t>”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9" name="AutoShape 488"/>
          <p:cNvSpPr>
            <a:spLocks noChangeArrowheads="1"/>
          </p:cNvSpPr>
          <p:nvPr/>
        </p:nvSpPr>
        <p:spPr bwMode="auto">
          <a:xfrm>
            <a:off x="2901276" y="2584598"/>
            <a:ext cx="4200525" cy="183658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试编一程序，按字典顺序输出</a:t>
            </a:r>
            <a:r>
              <a:rPr 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26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个小写英文字母。</a:t>
            </a:r>
            <a:endParaRPr lang="zh-CN" sz="28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780030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ldLvl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628293"/>
            <a:ext cx="3689825" cy="40580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9552" y="843558"/>
            <a:ext cx="4288353" cy="24208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循环变量</a:t>
            </a:r>
            <a:endParaRPr lang="en-US" altLang="zh-CN" sz="24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循环变量的类型可以是整型，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也可以是字符型，也可以是布尔型。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但不能是实型，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因为实型的个数是不可以枚举的。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366" y="3515208"/>
            <a:ext cx="1192053" cy="11920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1409094" y="3199565"/>
            <a:ext cx="2749471" cy="14975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循环变量</a:t>
            </a:r>
            <a:endParaRPr lang="en-US" altLang="zh-CN" sz="24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循环变量可以是递增的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也可以是递减的。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t="48432"/>
          <a:stretch>
            <a:fillRect/>
          </a:stretch>
        </p:blipFill>
        <p:spPr>
          <a:xfrm>
            <a:off x="5148064" y="1131590"/>
            <a:ext cx="3552825" cy="3585675"/>
          </a:xfrm>
          <a:prstGeom prst="rect">
            <a:avLst/>
          </a:prstGeom>
        </p:spPr>
      </p:pic>
      <p:sp>
        <p:nvSpPr>
          <p:cNvPr id="8" name="AutoShape 488"/>
          <p:cNvSpPr>
            <a:spLocks noChangeArrowheads="1"/>
          </p:cNvSpPr>
          <p:nvPr/>
        </p:nvSpPr>
        <p:spPr bwMode="auto">
          <a:xfrm>
            <a:off x="683568" y="1275607"/>
            <a:ext cx="4200525" cy="1512168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试编一程序，</a:t>
            </a:r>
            <a:r>
              <a:rPr lang="zh-CN" alt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逆序输出</a:t>
            </a:r>
            <a:r>
              <a:rPr lang="en-US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26</a:t>
            </a:r>
            <a:r>
              <a:rPr lang="zh-CN" alt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个大写字母，你能实现吗？</a:t>
            </a:r>
            <a:endParaRPr lang="zh-CN" sz="28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3290" y="699542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719" y="1419622"/>
            <a:ext cx="2576122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字符型变量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n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，初始值为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'a'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，则表达式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n+3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的值是（  ）。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65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68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'a'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100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69634" y="555779"/>
            <a:ext cx="4936302" cy="31311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800" dirty="0"/>
              <a:t>2</a:t>
            </a:r>
            <a:r>
              <a:rPr lang="zh-CN" altLang="en-US" sz="1800" dirty="0"/>
              <a:t>、阅读程序写结果。</a:t>
            </a:r>
            <a:endParaRPr lang="en-US" altLang="zh-CN" sz="1800" dirty="0"/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600" b="0" dirty="0">
                <a:latin typeface="+mn-lt"/>
              </a:rPr>
              <a:t>#include&lt;</a:t>
            </a:r>
            <a:r>
              <a:rPr lang="en-US" altLang="zh-CN" sz="1600" b="0" dirty="0" err="1">
                <a:latin typeface="+mn-lt"/>
              </a:rPr>
              <a:t>iostream</a:t>
            </a:r>
            <a:r>
              <a:rPr lang="en-US" altLang="zh-CN" sz="1600" b="0" dirty="0">
                <a:latin typeface="+mn-lt"/>
              </a:rPr>
              <a:t>&gt;</a:t>
            </a:r>
            <a:endParaRPr lang="en-US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600" b="0" dirty="0">
                <a:latin typeface="+mn-lt"/>
              </a:rPr>
              <a:t>using namespace </a:t>
            </a:r>
            <a:r>
              <a:rPr lang="en-US" altLang="zh-CN" sz="1600" b="0" dirty="0" err="1">
                <a:latin typeface="+mn-lt"/>
              </a:rPr>
              <a:t>std</a:t>
            </a:r>
            <a:r>
              <a:rPr lang="en-US" altLang="zh-CN" sz="1600" b="0" dirty="0">
                <a:latin typeface="+mn-lt"/>
              </a:rPr>
              <a:t>;</a:t>
            </a:r>
            <a:endParaRPr lang="en-US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600" b="0" dirty="0" err="1">
                <a:latin typeface="+mn-lt"/>
              </a:rPr>
              <a:t>int</a:t>
            </a:r>
            <a:r>
              <a:rPr lang="en-US" altLang="zh-CN" sz="1600" b="0" dirty="0">
                <a:latin typeface="+mn-lt"/>
              </a:rPr>
              <a:t> main()</a:t>
            </a:r>
            <a:endParaRPr lang="en-US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600" b="0" dirty="0">
                <a:latin typeface="+mn-lt"/>
              </a:rPr>
              <a:t>{</a:t>
            </a:r>
            <a:endParaRPr lang="en-US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fr-FR" altLang="zh-CN" sz="1600" b="0" dirty="0">
                <a:latin typeface="+mn-lt"/>
              </a:rPr>
              <a:t>      int x,y;</a:t>
            </a:r>
            <a:endParaRPr lang="fr-FR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fr-FR" altLang="zh-CN" sz="1600" b="0" dirty="0">
                <a:latin typeface="+mn-lt"/>
              </a:rPr>
              <a:t>      char i,ans;</a:t>
            </a:r>
            <a:endParaRPr lang="fr-FR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fr-FR" altLang="zh-CN" sz="1600" b="0" dirty="0">
                <a:latin typeface="+mn-lt"/>
              </a:rPr>
              <a:t>      for(i='a';i&lt;'f';i++)</a:t>
            </a:r>
            <a:endParaRPr lang="fr-FR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fr-FR" altLang="zh-CN" sz="1600" b="0" dirty="0">
                <a:latin typeface="+mn-lt"/>
              </a:rPr>
              <a:t>      {</a:t>
            </a:r>
            <a:endParaRPr lang="fr-FR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fr-FR" altLang="zh-CN" sz="1600" b="0" dirty="0">
                <a:latin typeface="+mn-lt"/>
              </a:rPr>
              <a:t>	x=i-'a'+1;</a:t>
            </a:r>
            <a:endParaRPr lang="fr-FR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fr-FR" altLang="zh-CN" sz="1600" b="0" dirty="0">
                <a:latin typeface="+mn-lt"/>
              </a:rPr>
              <a:t>	if(x%2==1) y=i+1;</a:t>
            </a:r>
            <a:endParaRPr lang="fr-FR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fr-FR" altLang="zh-CN" sz="1600" b="0" dirty="0">
                <a:latin typeface="+mn-lt"/>
              </a:rPr>
              <a:t>	else y=i-1;</a:t>
            </a:r>
            <a:endParaRPr lang="fr-FR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fr-FR" altLang="zh-CN" sz="1600" b="0" dirty="0">
                <a:latin typeface="+mn-lt"/>
              </a:rPr>
              <a:t>	ans=y;</a:t>
            </a:r>
            <a:endParaRPr lang="fr-FR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fr-FR" altLang="zh-CN" sz="1600" b="0" dirty="0">
                <a:latin typeface="+mn-lt"/>
              </a:rPr>
              <a:t>	cout&lt;&lt;ans;</a:t>
            </a:r>
            <a:endParaRPr lang="fr-FR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fr-FR" altLang="zh-CN" sz="1600" b="0" dirty="0">
                <a:latin typeface="+mn-lt"/>
              </a:rPr>
              <a:t>      }</a:t>
            </a:r>
            <a:endParaRPr lang="fr-FR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fr-FR" altLang="zh-CN" sz="1600" b="0" dirty="0">
                <a:latin typeface="+mn-lt"/>
              </a:rPr>
              <a:t>      return 0;</a:t>
            </a:r>
            <a:endParaRPr lang="fr-FR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600" b="0" dirty="0">
                <a:latin typeface="+mn-lt"/>
              </a:rPr>
              <a:t>}</a:t>
            </a:r>
            <a:r>
              <a:rPr lang="zh-CN" altLang="en-US" sz="1800" dirty="0">
                <a:latin typeface="+mn-lt"/>
              </a:rPr>
              <a:t>        </a:t>
            </a:r>
            <a:r>
              <a:rPr lang="zh-CN" altLang="en-US" sz="1800" dirty="0"/>
              <a:t> </a:t>
            </a:r>
            <a:endParaRPr lang="en-US" altLang="zh-CN" sz="1800" dirty="0"/>
          </a:p>
        </p:txBody>
      </p:sp>
      <p:sp>
        <p:nvSpPr>
          <p:cNvPr id="8" name="TextBox 7"/>
          <p:cNvSpPr txBox="1"/>
          <p:nvPr/>
        </p:nvSpPr>
        <p:spPr>
          <a:xfrm>
            <a:off x="6588555" y="1804401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x    y    i    </a:t>
            </a:r>
            <a:r>
              <a:rPr lang="en-US" altLang="zh-CN" dirty="0" err="1"/>
              <a:t>ans</a:t>
            </a:r>
            <a:r>
              <a:rPr lang="en-US" altLang="zh-CN" dirty="0"/>
              <a:t>     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551264" y="3967743"/>
            <a:ext cx="25922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allAtOnce"/>
      <p:bldP spid="8" grpId="0" animBg="1" build="allAtOnce"/>
      <p:bldP spid="3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299139" y="770327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971600" y="1619508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</a:rPr>
              <a:t>按照字典顺序输出大小写字母对照表。</a:t>
            </a:r>
            <a:r>
              <a:rPr lang="zh-CN" altLang="en-US" sz="2000" b="0" dirty="0">
                <a:solidFill>
                  <a:prstClr val="black"/>
                </a:solidFill>
              </a:rPr>
              <a:t>先输出一个大写字母，再输出一个小写字母。</a:t>
            </a:r>
            <a:endParaRPr lang="en-US" altLang="zh-CN" sz="1800" b="0" dirty="0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37370" y="843558"/>
            <a:ext cx="4511094" cy="37856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char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n='a'-'A';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for(i='A';______;i++)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{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&lt;&lt;i;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j=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i+n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_____________;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return 0;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351" y="3193405"/>
            <a:ext cx="1098826" cy="13062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763</Words>
  <Application>WPS 演示</Application>
  <PresentationFormat>全屏显示(16:9)</PresentationFormat>
  <Paragraphs>84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Calibri</vt:lpstr>
      <vt:lpstr>Arial Unicode MS</vt:lpstr>
      <vt:lpstr>Office 主题</vt:lpstr>
      <vt:lpstr>PowerPoint 演示文稿</vt:lpstr>
      <vt:lpstr>26个兄弟姐妹——字符型循环变量</vt:lpstr>
      <vt:lpstr> </vt:lpstr>
      <vt:lpstr>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68</cp:revision>
  <dcterms:created xsi:type="dcterms:W3CDTF">2018-07-03T13:24:00Z</dcterms:created>
  <dcterms:modified xsi:type="dcterms:W3CDTF">2021-06-17T08:54:05Z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03E92E9321AF4B4692A441C7C2BD27DF</vt:lpwstr>
  </property>
  <property fmtid="{D5CDD505-2E9C-101B-9397-08002B2CF9AE}" pid="3" name="KSOProductBuildVer">
    <vt:lpwstr>2052-11.1.0.10577</vt:lpwstr>
  </property>
</Properties>
</file>