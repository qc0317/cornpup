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3"/>
    <p:sldId id="269" r:id="rId4"/>
    <p:sldId id="284" r:id="rId5"/>
    <p:sldId id="285" r:id="rId6"/>
    <p:sldId id="286" r:id="rId7"/>
    <p:sldId id="275" r:id="rId8"/>
    <p:sldId id="267" r:id="rId9"/>
    <p:sldId id="280" r:id="rId10"/>
    <p:sldId id="289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59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比大小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9954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比大小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复合语句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矩形: 圆角 4"/>
          <p:cNvSpPr>
            <a:spLocks noChangeArrowheads="1"/>
          </p:cNvSpPr>
          <p:nvPr/>
        </p:nvSpPr>
        <p:spPr bwMode="auto">
          <a:xfrm>
            <a:off x="3131840" y="1563638"/>
            <a:ext cx="4286250" cy="160426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试编一个程序，输入两个整数，比较大小，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并按由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小到大的顺序输出。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2584" y="3175038"/>
            <a:ext cx="1944216" cy="1441778"/>
          </a:xfrm>
          <a:prstGeom prst="rect">
            <a:avLst/>
          </a:prstGeom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65" y="2526665"/>
            <a:ext cx="1913255" cy="1920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7842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1776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968" y="1347614"/>
            <a:ext cx="4005579" cy="3302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9552" y="1093778"/>
            <a:ext cx="3383280" cy="14763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：明明的方法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a&lt;=b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时，先输出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，再输出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否则先输出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，再输出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56" y="2763134"/>
            <a:ext cx="1752711" cy="18866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88914" y="757196"/>
            <a:ext cx="4299110" cy="3553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：美美的方法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先判断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是否大于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，当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大于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用“阿布拉卡达布拉”咒语，交换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的值；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再输出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48064" y="988586"/>
            <a:ext cx="4320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kern="100" dirty="0">
                <a:ea typeface="楷体" panose="02010609060101010101" pitchFamily="49" charset="-122"/>
                <a:cs typeface="Calibri" panose="020F0502020204030204" pitchFamily="34" charset="0"/>
              </a:rPr>
              <a:t>阿布拉卡达布拉</a:t>
            </a:r>
            <a:endParaRPr lang="zh-CN" altLang="en-US" sz="3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5387" y="547868"/>
            <a:ext cx="2166229" cy="40967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2355726"/>
            <a:ext cx="1555260" cy="16741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07524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1689104" y="2438908"/>
            <a:ext cx="21306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Calibri" panose="020F0502020204030204" pitchFamily="34" charset="0"/>
              </a:rPr>
              <a:t>if(a&gt;b)</a:t>
            </a:r>
            <a:endParaRPr lang="en-US" altLang="zh-CN" sz="24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  <a:cs typeface="Calibri" panose="020F0502020204030204" pitchFamily="34" charset="0"/>
              </a:rPr>
              <a:t>{</a:t>
            </a:r>
            <a:endParaRPr lang="zh-CN" altLang="zh-CN" sz="24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  <a:cs typeface="Calibri" panose="020F0502020204030204" pitchFamily="34" charset="0"/>
              </a:rPr>
              <a:t>  t=a;</a:t>
            </a:r>
            <a:endParaRPr lang="en-US" altLang="zh-CN" sz="24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en-US" altLang="zh-CN" sz="2400" kern="100" dirty="0">
                <a:latin typeface="Consolas" panose="020B0609020204030204" pitchFamily="49" charset="0"/>
                <a:cs typeface="Calibri" panose="020F0502020204030204" pitchFamily="34" charset="0"/>
              </a:rPr>
              <a:t>  a=b;</a:t>
            </a:r>
            <a:endParaRPr lang="en-US" altLang="zh-CN" sz="2400" kern="1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400" kern="100" dirty="0">
                <a:latin typeface="Consolas" panose="020B0609020204030204" pitchFamily="49" charset="0"/>
                <a:cs typeface="Calibri" panose="020F0502020204030204" pitchFamily="34" charset="0"/>
              </a:rPr>
              <a:t>  </a:t>
            </a:r>
            <a:r>
              <a:rPr lang="en-US" altLang="zh-CN" sz="2400" kern="100" dirty="0">
                <a:latin typeface="Consolas" panose="020B0609020204030204" pitchFamily="49" charset="0"/>
                <a:cs typeface="Calibri" panose="020F0502020204030204" pitchFamily="34" charset="0"/>
              </a:rPr>
              <a:t>b=t;</a:t>
            </a:r>
            <a:endParaRPr lang="en-US" altLang="zh-CN" sz="2400" kern="1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dirty="0">
                <a:latin typeface="Consolas" panose="020B0609020204030204" pitchFamily="49" charset="0"/>
                <a:cs typeface="Calibri" panose="020F0502020204030204" pitchFamily="34" charset="0"/>
              </a:rPr>
              <a:t>}</a:t>
            </a:r>
            <a:endParaRPr lang="zh-CN" altLang="zh-CN" sz="2400" kern="1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7200" y="2579238"/>
            <a:ext cx="12879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6000" kern="100" dirty="0">
                <a:ea typeface="楷体" panose="02010609060101010101" pitchFamily="49" charset="-122"/>
                <a:cs typeface="Calibri" panose="020F0502020204030204" pitchFamily="34" charset="0"/>
              </a:rPr>
              <a:t>缩进</a:t>
            </a:r>
            <a:endParaRPr lang="zh-CN" altLang="en-US" sz="6000" dirty="0"/>
          </a:p>
        </p:txBody>
      </p:sp>
      <p:grpSp>
        <p:nvGrpSpPr>
          <p:cNvPr id="3" name="组合 2"/>
          <p:cNvGrpSpPr/>
          <p:nvPr/>
        </p:nvGrpSpPr>
        <p:grpSpPr>
          <a:xfrm>
            <a:off x="1688058" y="975228"/>
            <a:ext cx="5533158" cy="1289210"/>
            <a:chOff x="1507629" y="775619"/>
            <a:chExt cx="6493159" cy="1512888"/>
          </a:xfrm>
        </p:grpSpPr>
        <p:grpSp>
          <p:nvGrpSpPr>
            <p:cNvPr id="8" name="组合 33"/>
            <p:cNvGrpSpPr/>
            <p:nvPr/>
          </p:nvGrpSpPr>
          <p:grpSpPr bwMode="auto">
            <a:xfrm>
              <a:off x="1507629" y="775619"/>
              <a:ext cx="1800225" cy="1512888"/>
              <a:chOff x="0" y="0"/>
              <a:chExt cx="1800200" cy="1512252"/>
            </a:xfrm>
          </p:grpSpPr>
          <p:pic>
            <p:nvPicPr>
              <p:cNvPr id="9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矩形 35"/>
              <p:cNvSpPr/>
              <p:nvPr/>
            </p:nvSpPr>
            <p:spPr>
              <a:xfrm>
                <a:off x="611180" y="441139"/>
                <a:ext cx="698264" cy="685945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</a:rPr>
                  <a:t>复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1" name="组合 33"/>
            <p:cNvGrpSpPr/>
            <p:nvPr/>
          </p:nvGrpSpPr>
          <p:grpSpPr bwMode="auto">
            <a:xfrm>
              <a:off x="3071940" y="775619"/>
              <a:ext cx="1800225" cy="1512888"/>
              <a:chOff x="0" y="0"/>
              <a:chExt cx="1800200" cy="1512252"/>
            </a:xfrm>
          </p:grpSpPr>
          <p:pic>
            <p:nvPicPr>
              <p:cNvPr id="12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矩形 35"/>
              <p:cNvSpPr/>
              <p:nvPr/>
            </p:nvSpPr>
            <p:spPr>
              <a:xfrm>
                <a:off x="611180" y="441139"/>
                <a:ext cx="698264" cy="685945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</a:rPr>
                  <a:t>合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6" name="组合 33"/>
            <p:cNvGrpSpPr/>
            <p:nvPr/>
          </p:nvGrpSpPr>
          <p:grpSpPr bwMode="auto">
            <a:xfrm>
              <a:off x="4636251" y="775619"/>
              <a:ext cx="1800225" cy="1512888"/>
              <a:chOff x="0" y="0"/>
              <a:chExt cx="1800200" cy="1512252"/>
            </a:xfrm>
          </p:grpSpPr>
          <p:pic>
            <p:nvPicPr>
              <p:cNvPr id="17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矩形 35"/>
              <p:cNvSpPr/>
              <p:nvPr/>
            </p:nvSpPr>
            <p:spPr>
              <a:xfrm>
                <a:off x="611180" y="441139"/>
                <a:ext cx="698264" cy="685945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</a:rPr>
                  <a:t>语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9" name="组合 33"/>
            <p:cNvGrpSpPr/>
            <p:nvPr/>
          </p:nvGrpSpPr>
          <p:grpSpPr bwMode="auto">
            <a:xfrm>
              <a:off x="6200563" y="775619"/>
              <a:ext cx="1800225" cy="1512888"/>
              <a:chOff x="0" y="0"/>
              <a:chExt cx="1800200" cy="1512252"/>
            </a:xfrm>
          </p:grpSpPr>
          <p:pic>
            <p:nvPicPr>
              <p:cNvPr id="20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矩形 35"/>
              <p:cNvSpPr/>
              <p:nvPr/>
            </p:nvSpPr>
            <p:spPr>
              <a:xfrm>
                <a:off x="611180" y="441139"/>
                <a:ext cx="698264" cy="685945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</a:rPr>
                  <a:t>句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5" name="TextBox 4"/>
          <p:cNvSpPr txBox="1"/>
          <p:nvPr/>
        </p:nvSpPr>
        <p:spPr>
          <a:xfrm>
            <a:off x="3633641" y="2829444"/>
            <a:ext cx="2608406" cy="13388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用</a:t>
            </a:r>
            <a:r>
              <a:rPr lang="en-US" altLang="zh-CN" dirty="0">
                <a:latin typeface="+mn-ea"/>
              </a:rPr>
              <a:t>{ }</a:t>
            </a:r>
            <a:r>
              <a:rPr lang="zh-CN" altLang="en-US" dirty="0">
                <a:latin typeface="+mn-ea"/>
              </a:rPr>
              <a:t>把几条语句括起来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变成一个整体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称为一个复合语句</a:t>
            </a:r>
            <a:endParaRPr lang="zh-CN" altLang="en-US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183" y="2763464"/>
            <a:ext cx="2194750" cy="1470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059582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6408712" cy="1800200"/>
          </a:xfrm>
        </p:spPr>
        <p:txBody>
          <a:bodyPr>
            <a:normAutofit/>
          </a:bodyPr>
          <a:lstStyle/>
          <a:p>
            <a:pPr lvl="1"/>
            <a:r>
              <a:rPr lang="en-US" altLang="zh-CN" sz="2800" dirty="0"/>
              <a:t>'else' without a previous 'if'</a:t>
            </a:r>
            <a:endParaRPr lang="en-US" altLang="zh-CN" sz="2800" dirty="0"/>
          </a:p>
          <a:p>
            <a:pPr marL="914400" lvl="2" indent="0">
              <a:buNone/>
            </a:pPr>
            <a:r>
              <a:rPr lang="en-US" altLang="zh-CN" sz="2600" dirty="0"/>
              <a:t>    'else' </a:t>
            </a:r>
            <a:r>
              <a:rPr lang="zh-CN" altLang="en-US" sz="2600" dirty="0"/>
              <a:t>前面没有一个‘</a:t>
            </a:r>
            <a:r>
              <a:rPr lang="en-US" altLang="zh-CN" sz="2600" dirty="0"/>
              <a:t>if</a:t>
            </a:r>
            <a:r>
              <a:rPr lang="zh-CN" altLang="en-US" sz="2600" dirty="0"/>
              <a:t>’</a:t>
            </a:r>
            <a:endParaRPr lang="zh-CN" altLang="en-US" sz="2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36" y="2732316"/>
            <a:ext cx="2038599" cy="1931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665" y="555779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8" y="1419622"/>
            <a:ext cx="27201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判断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不等于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，且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等于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的逻辑表达式是（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a!=0 &amp;&amp; b==0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!(a!=0 &amp;&amp; b=0)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!(a==0 &amp;&amp; b==0)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a!==0 || b!==0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851920" y="471993"/>
            <a:ext cx="3928190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char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sum,n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sum=0;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if(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&gt;='a' &amp;&amp;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&lt;='z')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n=ch-'a'+1;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sum+=n;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else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sum=27;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&lt;&lt;sum;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</a:t>
            </a:r>
            <a:r>
              <a:rPr lang="en-US" altLang="zh-CN" dirty="0" err="1"/>
              <a:t>ch</a:t>
            </a:r>
            <a:r>
              <a:rPr lang="en-US" altLang="zh-CN" dirty="0"/>
              <a:t>      sum     n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203057" y="4012416"/>
            <a:ext cx="2770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        输入：</a:t>
            </a:r>
            <a:r>
              <a:rPr lang="en-US" altLang="zh-CN" dirty="0"/>
              <a:t>b</a:t>
            </a:r>
            <a:endParaRPr lang="en-US" altLang="zh-CN" dirty="0"/>
          </a:p>
          <a:p>
            <a:r>
              <a:rPr lang="zh-CN" altLang="en-US" dirty="0"/>
              <a:t>         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0946" y="555779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83568" y="1281993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prstClr val="black"/>
                </a:solidFill>
              </a:rPr>
              <a:t>设当前电梯停在第</a:t>
            </a:r>
            <a:r>
              <a:rPr lang="en-US" altLang="zh-CN" sz="1600" b="0" dirty="0">
                <a:solidFill>
                  <a:prstClr val="black"/>
                </a:solidFill>
              </a:rPr>
              <a:t>10</a:t>
            </a:r>
            <a:r>
              <a:rPr lang="zh-CN" altLang="en-US" sz="1600" b="0" dirty="0">
                <a:solidFill>
                  <a:prstClr val="black"/>
                </a:solidFill>
              </a:rPr>
              <a:t>层，此时第</a:t>
            </a:r>
            <a:r>
              <a:rPr lang="en-US" altLang="zh-CN" sz="1600" b="0" dirty="0">
                <a:solidFill>
                  <a:prstClr val="black"/>
                </a:solidFill>
              </a:rPr>
              <a:t>20</a:t>
            </a:r>
            <a:r>
              <a:rPr lang="zh-CN" altLang="en-US" sz="1600" b="0" dirty="0">
                <a:solidFill>
                  <a:prstClr val="black"/>
                </a:solidFill>
              </a:rPr>
              <a:t>层和第</a:t>
            </a:r>
            <a:r>
              <a:rPr lang="en-US" altLang="zh-CN" sz="1600" b="0" dirty="0">
                <a:solidFill>
                  <a:prstClr val="black"/>
                </a:solidFill>
              </a:rPr>
              <a:t>7</a:t>
            </a:r>
            <a:r>
              <a:rPr lang="zh-CN" altLang="en-US" sz="1600" b="0" dirty="0">
                <a:solidFill>
                  <a:prstClr val="black"/>
                </a:solidFill>
              </a:rPr>
              <a:t>层同时有人按下按钮，电梯总是选择离它近的楼层，于是先服务在第</a:t>
            </a:r>
            <a:r>
              <a:rPr lang="en-US" altLang="zh-CN" sz="1600" b="0" dirty="0">
                <a:solidFill>
                  <a:prstClr val="black"/>
                </a:solidFill>
              </a:rPr>
              <a:t>7</a:t>
            </a:r>
            <a:r>
              <a:rPr lang="zh-CN" altLang="en-US" sz="1600" b="0" dirty="0">
                <a:solidFill>
                  <a:prstClr val="black"/>
                </a:solidFill>
              </a:rPr>
              <a:t>层的人，再服务第</a:t>
            </a:r>
            <a:r>
              <a:rPr lang="en-US" altLang="zh-CN" sz="1600" b="0" dirty="0">
                <a:solidFill>
                  <a:prstClr val="black"/>
                </a:solidFill>
              </a:rPr>
              <a:t>20</a:t>
            </a:r>
            <a:r>
              <a:rPr lang="zh-CN" altLang="en-US" sz="1600" b="0" dirty="0">
                <a:solidFill>
                  <a:prstClr val="black"/>
                </a:solidFill>
              </a:rPr>
              <a:t>层的人。</a:t>
            </a:r>
            <a:endParaRPr lang="en-US" altLang="zh-CN" sz="16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6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prstClr val="black"/>
                </a:solidFill>
              </a:rPr>
              <a:t>编程模拟电梯调度。输入三个数，第</a:t>
            </a:r>
            <a:r>
              <a:rPr lang="en-US" altLang="zh-CN" sz="1600" b="0" dirty="0">
                <a:solidFill>
                  <a:prstClr val="black"/>
                </a:solidFill>
              </a:rPr>
              <a:t>1</a:t>
            </a:r>
            <a:r>
              <a:rPr lang="zh-CN" altLang="en-US" sz="1600" b="0" dirty="0">
                <a:solidFill>
                  <a:prstClr val="black"/>
                </a:solidFill>
              </a:rPr>
              <a:t>个数表示电梯当前停在的楼层，后两个数表示同时需要使用电梯的楼层，按服务先后的次序输出楼层。</a:t>
            </a: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11960" y="503348"/>
            <a:ext cx="4511094" cy="4185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n,n1,n2,len1,len2;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输入当前电梯停在的楼层：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&gt;&gt;n;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输入同时需要服务的两个楼层：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&gt;&gt;n1&gt;&gt;n2;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if(n-n1&gt;0)  len1=n-n1;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else  ____________;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if(n-n2&gt;0)____________;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else len2=n2-n;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if(___________)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&lt;&lt;n1&lt;&lt;"---------&gt;"&lt;&lt;n2;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else 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&lt;&lt;n2&lt;&lt;"-------&gt;"&lt;&lt;n1; 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演示</Application>
  <PresentationFormat>全屏显示(16:9)</PresentationFormat>
  <Paragraphs>118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Consolas</vt:lpstr>
      <vt:lpstr>Arial Unicode MS</vt:lpstr>
      <vt:lpstr>Office 主题</vt:lpstr>
      <vt:lpstr>PowerPoint 演示文稿</vt:lpstr>
      <vt:lpstr>比大小——复合语句</vt:lpstr>
      <vt:lpstr> 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90</cp:revision>
  <dcterms:created xsi:type="dcterms:W3CDTF">2018-07-03T13:24:00Z</dcterms:created>
  <dcterms:modified xsi:type="dcterms:W3CDTF">2021-04-13T02:46:33Z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