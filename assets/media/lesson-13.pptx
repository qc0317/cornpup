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76" r:id="rId4"/>
    <p:sldId id="301" r:id="rId5"/>
    <p:sldId id="302" r:id="rId6"/>
    <p:sldId id="303" r:id="rId7"/>
    <p:sldId id="304" r:id="rId8"/>
    <p:sldId id="305" r:id="rId9"/>
    <p:sldId id="306" r:id="rId10"/>
    <p:sldId id="275" r:id="rId11"/>
    <p:sldId id="277" r:id="rId12"/>
    <p:sldId id="282" r:id="rId13"/>
    <p:sldId id="307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小写变大写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(ASCII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码与字符型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569934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小写变大写</a:t>
            </a:r>
            <a:r>
              <a:rPr lang="en-US" altLang="zh-CN" sz="2400" dirty="0">
                <a:solidFill>
                  <a:srgbClr val="00B0F0"/>
                </a:solidFill>
              </a:rPr>
              <a:t>—-ASCII</a:t>
            </a:r>
            <a:r>
              <a:rPr lang="zh-CN" altLang="en-US" sz="2400" dirty="0">
                <a:solidFill>
                  <a:srgbClr val="00B0F0"/>
                </a:solidFill>
              </a:rPr>
              <a:t>码与字符型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593261" y="3053152"/>
            <a:ext cx="449353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kern="100" dirty="0">
                <a:latin typeface="Calibri" panose="020F0502020204030204" pitchFamily="34" charset="0"/>
                <a:ea typeface="楷体" panose="02010609060101010101" pitchFamily="49" charset="-122"/>
              </a:rPr>
              <a:t>美国标准信息</a:t>
            </a:r>
            <a:endParaRPr lang="en-US" altLang="zh-CN" sz="4400" kern="100" dirty="0">
              <a:latin typeface="Calibri" panose="020F0502020204030204" pitchFamily="34" charset="0"/>
              <a:ea typeface="楷体" panose="02010609060101010101" pitchFamily="49" charset="-122"/>
            </a:endParaRPr>
          </a:p>
          <a:p>
            <a:r>
              <a:rPr lang="zh-CN" altLang="en-US" sz="4400" kern="100" dirty="0">
                <a:latin typeface="Calibri" panose="020F0502020204030204" pitchFamily="34" charset="0"/>
                <a:ea typeface="楷体" panose="02010609060101010101" pitchFamily="49" charset="-122"/>
              </a:rPr>
              <a:t>                交换代码</a:t>
            </a:r>
            <a:endParaRPr lang="zh-CN" altLang="en-US" sz="4400" dirty="0"/>
          </a:p>
        </p:txBody>
      </p:sp>
      <p:grpSp>
        <p:nvGrpSpPr>
          <p:cNvPr id="14" name="组合 33"/>
          <p:cNvGrpSpPr/>
          <p:nvPr/>
        </p:nvGrpSpPr>
        <p:grpSpPr bwMode="auto">
          <a:xfrm>
            <a:off x="1835696" y="1347614"/>
            <a:ext cx="1724579" cy="1311268"/>
            <a:chOff x="0" y="0"/>
            <a:chExt cx="1800200" cy="1512252"/>
          </a:xfrm>
        </p:grpSpPr>
        <p:pic>
          <p:nvPicPr>
            <p:cNvPr id="18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00200" cy="151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矩形 35"/>
            <p:cNvSpPr/>
            <p:nvPr/>
          </p:nvSpPr>
          <p:spPr>
            <a:xfrm>
              <a:off x="466589" y="532527"/>
              <a:ext cx="748712" cy="3982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kern="100" dirty="0">
                  <a:latin typeface="Calibri" panose="020F0502020204030204" pitchFamily="34" charset="0"/>
                  <a:ea typeface="楷体" panose="02010609060101010101" pitchFamily="49" charset="-122"/>
                  <a:cs typeface="Calibri" panose="020F0502020204030204" pitchFamily="34" charset="0"/>
                </a:rPr>
                <a:t> ASCII 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779912" y="1563638"/>
            <a:ext cx="95410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kern="1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endParaRPr lang="zh-CN" altLang="en-US" sz="6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E8F6E9"/>
              </a:clrFrom>
              <a:clrTo>
                <a:srgbClr val="E8F6E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2690957"/>
            <a:ext cx="2053709" cy="2135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7544" y="1174254"/>
          <a:ext cx="417646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2088232"/>
              </a:tblGrid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ASCII</a:t>
                      </a:r>
                      <a:r>
                        <a:rPr lang="zh-CN" altLang="en-US" dirty="0"/>
                        <a:t>值</a:t>
                      </a:r>
                      <a:endParaRPr lang="zh-CN" altLang="en-US" dirty="0"/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空格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48</a:t>
                      </a:r>
                      <a:endParaRPr lang="zh-CN" altLang="en-US" dirty="0"/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57</a:t>
                      </a:r>
                      <a:endParaRPr lang="zh-CN" altLang="en-US" dirty="0"/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65</a:t>
                      </a:r>
                      <a:endParaRPr lang="zh-CN" altLang="en-US" dirty="0"/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90</a:t>
                      </a:r>
                      <a:endParaRPr lang="zh-CN" altLang="en-US" dirty="0"/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97</a:t>
                      </a:r>
                      <a:endParaRPr lang="zh-CN" altLang="en-US" dirty="0"/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122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64088" y="1171641"/>
            <a:ext cx="28520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字符在内存中</a:t>
            </a:r>
            <a:endParaRPr lang="en-US" altLang="zh-CN" sz="3200" dirty="0">
              <a:latin typeface="+mn-ea"/>
            </a:endParaRPr>
          </a:p>
          <a:p>
            <a:r>
              <a:rPr lang="zh-CN" altLang="en-US" sz="3200" dirty="0">
                <a:latin typeface="+mn-ea"/>
              </a:rPr>
              <a:t>是以</a:t>
            </a:r>
            <a:r>
              <a:rPr lang="en-US" altLang="zh-CN" sz="3200" dirty="0">
                <a:latin typeface="+mn-ea"/>
              </a:rPr>
              <a:t>ASCII</a:t>
            </a:r>
            <a:r>
              <a:rPr lang="zh-CN" altLang="en-US" sz="3200" dirty="0">
                <a:latin typeface="+mn-ea"/>
              </a:rPr>
              <a:t>码的</a:t>
            </a:r>
            <a:endParaRPr lang="en-US" altLang="zh-CN" sz="3200" dirty="0">
              <a:latin typeface="+mn-ea"/>
            </a:endParaRPr>
          </a:p>
          <a:p>
            <a:r>
              <a:rPr lang="zh-CN" altLang="en-US" sz="3200" dirty="0">
                <a:latin typeface="+mn-ea"/>
              </a:rPr>
              <a:t>形式存放的。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6056" y="3038311"/>
            <a:ext cx="3724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'A'</a:t>
            </a:r>
            <a:r>
              <a:rPr lang="zh-CN" altLang="en-US" sz="2400" b="1" dirty="0">
                <a:latin typeface="+mn-ea"/>
              </a:rPr>
              <a:t>在内存中，存储的是</a:t>
            </a:r>
            <a:r>
              <a:rPr lang="en-US" altLang="zh-CN" sz="2400" b="1" dirty="0">
                <a:latin typeface="+mn-ea"/>
              </a:rPr>
              <a:t>65</a:t>
            </a:r>
            <a:endParaRPr lang="zh-CN" altLang="en-US" sz="2400" b="1" dirty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985" y="3740091"/>
            <a:ext cx="1011471" cy="9989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9551" y="1389109"/>
            <a:ext cx="7848872" cy="2123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Cambria" panose="02040503050406030204" pitchFamily="18" charset="0"/>
              </a:rPr>
              <a:t>字符型</a:t>
            </a:r>
            <a:endParaRPr lang="en-US" altLang="zh-CN" sz="2800" b="1" dirty="0">
              <a:latin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Cambria" panose="02040503050406030204" pitchFamily="18" charset="0"/>
              </a:rPr>
              <a:t>字符常量</a:t>
            </a:r>
            <a:r>
              <a:rPr lang="zh-CN" altLang="en-US" sz="2000" dirty="0">
                <a:latin typeface="Cambria" panose="02040503050406030204" pitchFamily="18" charset="0"/>
              </a:rPr>
              <a:t>：用单引号引起来的</a:t>
            </a:r>
            <a:r>
              <a:rPr lang="zh-CN" altLang="en-US" sz="2000" b="1" dirty="0">
                <a:solidFill>
                  <a:srgbClr val="C00000"/>
                </a:solidFill>
                <a:latin typeface="Cambria" panose="02040503050406030204" pitchFamily="18" charset="0"/>
              </a:rPr>
              <a:t>一个字符</a:t>
            </a:r>
            <a:r>
              <a:rPr lang="zh-CN" altLang="en-US" sz="2000" dirty="0">
                <a:latin typeface="Cambria" panose="02040503050406030204" pitchFamily="18" charset="0"/>
              </a:rPr>
              <a:t>，</a:t>
            </a:r>
            <a:r>
              <a:rPr lang="en-US" altLang="zh-CN" sz="2000" dirty="0">
                <a:latin typeface="Cambria" panose="02040503050406030204" pitchFamily="18" charset="0"/>
              </a:rPr>
              <a:t>'a',  '3',  'B' , '=',  '#',  ' '</a:t>
            </a:r>
            <a:endParaRPr lang="en-US" altLang="zh-CN" sz="2000" dirty="0">
              <a:latin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Cambria" panose="02040503050406030204" pitchFamily="18" charset="0"/>
              </a:rPr>
              <a:t>字符变量</a:t>
            </a:r>
            <a:r>
              <a:rPr lang="zh-CN" altLang="en-US" sz="2000" dirty="0">
                <a:latin typeface="Cambria" panose="02040503050406030204" pitchFamily="18" charset="0"/>
              </a:rPr>
              <a:t>：用</a:t>
            </a:r>
            <a:r>
              <a:rPr lang="en-US" altLang="zh-CN" sz="2000" dirty="0">
                <a:latin typeface="Cambria" panose="02040503050406030204" pitchFamily="18" charset="0"/>
              </a:rPr>
              <a:t>char</a:t>
            </a:r>
            <a:r>
              <a:rPr lang="zh-CN" altLang="en-US" sz="2000" dirty="0">
                <a:latin typeface="Cambria" panose="02040503050406030204" pitchFamily="18" charset="0"/>
              </a:rPr>
              <a:t>来定义字符型变量，就像用</a:t>
            </a:r>
            <a:r>
              <a:rPr lang="en-US" altLang="zh-CN" sz="2000" dirty="0" err="1">
                <a:latin typeface="Cambria" panose="02040503050406030204" pitchFamily="18" charset="0"/>
              </a:rPr>
              <a:t>int</a:t>
            </a:r>
            <a:r>
              <a:rPr lang="zh-CN" altLang="en-US" sz="2000" dirty="0">
                <a:latin typeface="Cambria" panose="02040503050406030204" pitchFamily="18" charset="0"/>
              </a:rPr>
              <a:t>来定义整型一样。</a:t>
            </a:r>
            <a:endParaRPr lang="en-US" altLang="zh-CN" sz="2000" dirty="0">
              <a:latin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mbria" panose="02040503050406030204" pitchFamily="18" charset="0"/>
              </a:rPr>
              <a:t>	      </a:t>
            </a:r>
            <a:r>
              <a:rPr lang="zh-CN" altLang="en-US" sz="2000" dirty="0">
                <a:latin typeface="Cambria" panose="02040503050406030204" pitchFamily="18" charset="0"/>
              </a:rPr>
              <a:t>只能把一个字符或者整型数赋给字符变量。</a:t>
            </a:r>
            <a:r>
              <a:rPr lang="en-US" altLang="zh-CN" sz="2000" dirty="0">
                <a:latin typeface="Cambria" panose="02040503050406030204" pitchFamily="18" charset="0"/>
              </a:rPr>
              <a:t> 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93275" y="880434"/>
            <a:ext cx="614142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既然字符是以整数来存放的，所以可以进行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算术运算。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512820"/>
            <a:ext cx="1268095" cy="1120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矩形: 圆角 4"/>
          <p:cNvSpPr>
            <a:spLocks noChangeArrowheads="1"/>
          </p:cNvSpPr>
          <p:nvPr/>
        </p:nvSpPr>
        <p:spPr bwMode="auto">
          <a:xfrm>
            <a:off x="3256606" y="1277942"/>
            <a:ext cx="4171950" cy="19699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355600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输入一个小写字母，试编一程序，输出它的大写字母。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85" y="3248025"/>
            <a:ext cx="1371600" cy="1371600"/>
          </a:xfrm>
          <a:prstGeom prst="rect">
            <a:avLst/>
          </a:prstGeom>
        </p:spPr>
      </p:pic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95" y="2021840"/>
            <a:ext cx="2238375" cy="224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矩形 5"/>
          <p:cNvSpPr/>
          <p:nvPr/>
        </p:nvSpPr>
        <p:spPr>
          <a:xfrm>
            <a:off x="982936" y="1064806"/>
            <a:ext cx="1910804" cy="1205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'A'</a:t>
            </a:r>
            <a:endParaRPr lang="nn-NO" altLang="zh-CN" sz="54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93740" y="1126649"/>
            <a:ext cx="1360249" cy="1205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65</a:t>
            </a:r>
            <a:r>
              <a:rPr lang="pt-BR" altLang="zh-CN" sz="5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endParaRPr lang="nn-NO" altLang="zh-CN" sz="54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2214" y="2427734"/>
            <a:ext cx="2232248" cy="1205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'a'</a:t>
            </a:r>
            <a:endParaRPr lang="nn-NO" altLang="zh-CN" sz="54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93740" y="2374532"/>
            <a:ext cx="1360249" cy="1205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97</a:t>
            </a:r>
            <a:r>
              <a:rPr lang="pt-BR" altLang="zh-CN" sz="5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endParaRPr lang="nn-NO" altLang="zh-CN" sz="54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24129" y="1840673"/>
            <a:ext cx="2160240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600" kern="100" dirty="0">
                <a:ea typeface="楷体" panose="02010609060101010101" pitchFamily="49" charset="-122"/>
                <a:cs typeface="Times New Roman" panose="02020603050405020304" pitchFamily="18" charset="0"/>
              </a:rPr>
              <a:t>32</a:t>
            </a:r>
            <a:endParaRPr lang="zh-CN" altLang="en-US" sz="9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140" y="3096895"/>
            <a:ext cx="1494790" cy="1499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827584" y="1103334"/>
            <a:ext cx="60486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char  n;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输入</a:t>
            </a:r>
            <a:r>
              <a:rPr lang="en-US" altLang="zh-CN" dirty="0"/>
              <a:t>a--z:";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  <a:endParaRPr lang="en-US" altLang="zh-CN" dirty="0"/>
          </a:p>
          <a:p>
            <a:r>
              <a:rPr lang="en-US" altLang="zh-CN" dirty="0"/>
              <a:t>  n=n-32;		// </a:t>
            </a:r>
            <a:r>
              <a:rPr lang="zh-CN" altLang="en-US" dirty="0"/>
              <a:t>小写字母</a:t>
            </a:r>
            <a:r>
              <a:rPr lang="en-US" altLang="zh-CN" dirty="0"/>
              <a:t>-32</a:t>
            </a:r>
            <a:r>
              <a:rPr lang="zh-CN" altLang="en-US" dirty="0"/>
              <a:t>，变为对应的大写字母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&lt;&lt;n&lt;&lt;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237" y="2570093"/>
            <a:ext cx="1840152" cy="1840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1403648" y="1665263"/>
            <a:ext cx="60486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思考题：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数字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和字符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'1'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，一样吗？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64902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1620" y="1549762"/>
            <a:ext cx="6840760" cy="29589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400" dirty="0"/>
              <a:t>ASCII </a:t>
            </a:r>
            <a:r>
              <a:rPr lang="zh-CN" altLang="en-US" sz="2400" dirty="0"/>
              <a:t>美国标准信息交换代码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GB2312  </a:t>
            </a:r>
            <a:r>
              <a:rPr lang="zh-CN" altLang="en-US" sz="2400" dirty="0"/>
              <a:t>国标</a:t>
            </a:r>
            <a:r>
              <a:rPr lang="en-US" altLang="zh-CN" sz="2400" dirty="0"/>
              <a:t>《</a:t>
            </a:r>
            <a:r>
              <a:rPr lang="zh-CN" altLang="en-US" sz="2400" dirty="0"/>
              <a:t>信息交换用汉字编码字符集</a:t>
            </a:r>
            <a:r>
              <a:rPr lang="en-US" altLang="zh-CN" sz="2400" dirty="0"/>
              <a:t>》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char   character</a:t>
            </a:r>
            <a:r>
              <a:rPr lang="zh-CN" altLang="en-US" sz="2400" dirty="0"/>
              <a:t>的缩写，字符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20612"/>
            <a:ext cx="9080372" cy="465615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altLang="zh-CN" dirty="0"/>
              <a:t> </a:t>
            </a:r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76224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1200" y="503521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9634" y="627787"/>
            <a:ext cx="4936302" cy="41764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#include 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iostream</a:t>
            </a:r>
            <a:r>
              <a:rPr lang="en-US" altLang="zh-CN" sz="1400" b="0" dirty="0">
                <a:latin typeface="Cambria" panose="02040503050406030204" pitchFamily="18" charset="0"/>
              </a:rPr>
              <a:t>&gt;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using namespace </a:t>
            </a:r>
            <a:r>
              <a:rPr lang="en-US" altLang="zh-CN" sz="1400" b="0" dirty="0" err="1">
                <a:latin typeface="Cambria" panose="02040503050406030204" pitchFamily="18" charset="0"/>
              </a:rPr>
              <a:t>std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main()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{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char  </a:t>
            </a:r>
            <a:r>
              <a:rPr lang="en-US" altLang="zh-CN" sz="1400" b="0" dirty="0" err="1">
                <a:latin typeface="Cambria" panose="02040503050406030204" pitchFamily="18" charset="0"/>
              </a:rPr>
              <a:t>ch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 n;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</a:t>
            </a:r>
            <a:r>
              <a:rPr lang="en-US" altLang="zh-CN" sz="1400" b="0" dirty="0" err="1">
                <a:latin typeface="Cambria" panose="02040503050406030204" pitchFamily="18" charset="0"/>
              </a:rPr>
              <a:t>ch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n=</a:t>
            </a:r>
            <a:r>
              <a:rPr lang="en-US" altLang="zh-CN" sz="1400" b="0" dirty="0" err="1">
                <a:latin typeface="Cambria" panose="02040503050406030204" pitchFamily="18" charset="0"/>
              </a:rPr>
              <a:t>ch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ch</a:t>
            </a:r>
            <a:r>
              <a:rPr lang="en-US" altLang="zh-CN" sz="1400" b="0" dirty="0">
                <a:latin typeface="Cambria" panose="02040503050406030204" pitchFamily="18" charset="0"/>
              </a:rPr>
              <a:t>&lt;&lt;'  '&lt;&lt;n&lt;&lt;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endl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return 0;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}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zh-CN" altLang="en-US" sz="2000" dirty="0"/>
              <a:t>         输入：</a:t>
            </a:r>
            <a:r>
              <a:rPr lang="en-US" altLang="zh-CN" sz="2000" dirty="0"/>
              <a:t>A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60861" y="1147442"/>
            <a:ext cx="25922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为了显示本国的语言，不同的国家和地区制定了不同的标准，扩充了（），如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GB-2312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字符集是目前最常用的汉字编码标准。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ASCII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码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补码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汉字编码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BCD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码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a     b     c      d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918" y="3659205"/>
            <a:ext cx="1250176" cy="10484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540568" y="596870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、完善程序。</a:t>
            </a:r>
            <a:endParaRPr lang="en-US" altLang="zh-CN" sz="18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/>
              <a:t>输入一个字母，输出它的前一个字母、它自己和后一个字母，如输入</a:t>
            </a:r>
            <a:r>
              <a:rPr lang="en-US" altLang="zh-CN" sz="1800" b="0" dirty="0"/>
              <a:t>b</a:t>
            </a:r>
            <a:r>
              <a:rPr lang="zh-CN" altLang="en-US" sz="1800" b="0" dirty="0"/>
              <a:t>，则输出</a:t>
            </a:r>
            <a:r>
              <a:rPr lang="en-US" altLang="zh-CN" sz="1800" b="0" dirty="0" err="1"/>
              <a:t>abc</a:t>
            </a:r>
            <a:r>
              <a:rPr lang="zh-CN" altLang="en-US" sz="1800" b="0" dirty="0"/>
              <a:t>。</a:t>
            </a:r>
            <a:endParaRPr lang="en-US" altLang="zh-CN" sz="2000" b="0" dirty="0"/>
          </a:p>
        </p:txBody>
      </p:sp>
      <p:sp>
        <p:nvSpPr>
          <p:cNvPr id="7" name="矩形 6"/>
          <p:cNvSpPr/>
          <p:nvPr/>
        </p:nvSpPr>
        <p:spPr>
          <a:xfrm>
            <a:off x="4237370" y="1067127"/>
            <a:ext cx="4511094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char  ch1,ch2,ch3;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&gt;&gt;ch2;</a:t>
            </a:r>
            <a:endParaRPr lang="en-US" altLang="zh-CN" sz="1600" dirty="0"/>
          </a:p>
          <a:p>
            <a:r>
              <a:rPr lang="en-US" altLang="zh-CN" sz="1600" dirty="0"/>
              <a:t>       ch1=ch2-1;</a:t>
            </a:r>
            <a:endParaRPr lang="en-US" altLang="zh-CN" sz="1600" dirty="0"/>
          </a:p>
          <a:p>
            <a:r>
              <a:rPr lang="en-US" altLang="zh-CN" sz="1600" dirty="0"/>
              <a:t>      _________________;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&lt;&lt;ch1&lt;&lt;ch2&lt;&lt;_______&lt;&lt;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259632" y="4282574"/>
            <a:ext cx="5955476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注：所有程序作业，必须上机完成，不能只写在教材上！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WPS 演示</Application>
  <PresentationFormat>全屏显示(16:9)</PresentationFormat>
  <Paragraphs>147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隶书</vt:lpstr>
      <vt:lpstr>Cambria</vt:lpstr>
      <vt:lpstr>Times New Roman</vt:lpstr>
      <vt:lpstr>Consolas</vt:lpstr>
      <vt:lpstr>Arial Unicode MS</vt:lpstr>
      <vt:lpstr>Office 主题</vt:lpstr>
      <vt:lpstr>PowerPoint 演示文稿</vt:lpstr>
      <vt:lpstr>小写变大写—-ASCII码与字符型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编程小词典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99</cp:revision>
  <dcterms:created xsi:type="dcterms:W3CDTF">2018-07-03T13:24:00Z</dcterms:created>
  <dcterms:modified xsi:type="dcterms:W3CDTF">2021-04-13T02:20:07Z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