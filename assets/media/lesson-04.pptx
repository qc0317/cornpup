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76" r:id="rId4"/>
    <p:sldId id="278" r:id="rId5"/>
    <p:sldId id="279" r:id="rId6"/>
    <p:sldId id="280" r:id="rId7"/>
    <p:sldId id="281" r:id="rId8"/>
    <p:sldId id="275" r:id="rId9"/>
    <p:sldId id="277" r:id="rId10"/>
    <p:sldId id="282" r:id="rId11"/>
    <p:sldId id="268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08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37160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3317B83-4136-4B07-AFD1-19B2AA7833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07618-3165-459F-BCD8-779BB3ABF0B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13" name="object 6"/>
          <p:cNvSpPr/>
          <p:nvPr/>
        </p:nvSpPr>
        <p:spPr>
          <a:xfrm>
            <a:off x="755576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文本框 13"/>
          <p:cNvSpPr txBox="1"/>
          <p:nvPr/>
        </p:nvSpPr>
        <p:spPr>
          <a:xfrm>
            <a:off x="1454912" y="23557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47664" y="32558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天安门广场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/>
          <p:cNvSpPr/>
          <p:nvPr/>
        </p:nvSpPr>
        <p:spPr>
          <a:xfrm>
            <a:off x="31942" y="203269"/>
            <a:ext cx="9080372" cy="4667815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3"/>
          <p:cNvSpPr/>
          <p:nvPr/>
        </p:nvSpPr>
        <p:spPr>
          <a:xfrm>
            <a:off x="107504" y="309729"/>
            <a:ext cx="8824928" cy="4454196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11560" y="515861"/>
            <a:ext cx="8229600" cy="85725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2800" dirty="0">
                <a:solidFill>
                  <a:srgbClr val="00B0F0"/>
                </a:solidFill>
              </a:rPr>
              <a:t>变量、表达式和赋值语句</a:t>
            </a:r>
            <a:endParaRPr lang="zh-CN" altLang="en-US" sz="2800" dirty="0">
              <a:solidFill>
                <a:srgbClr val="00B0F0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9" y="1216633"/>
            <a:ext cx="3096493" cy="2059999"/>
          </a:xfrm>
          <a:prstGeom prst="rect">
            <a:avLst/>
          </a:prstGeom>
        </p:spPr>
      </p:pic>
      <p:sp>
        <p:nvSpPr>
          <p:cNvPr id="10" name="矩形: 圆角 4"/>
          <p:cNvSpPr>
            <a:spLocks noChangeArrowheads="1"/>
          </p:cNvSpPr>
          <p:nvPr/>
        </p:nvSpPr>
        <p:spPr bwMode="auto">
          <a:xfrm>
            <a:off x="3779913" y="1537420"/>
            <a:ext cx="3168352" cy="108889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355600" algn="just"/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试编一程序，算算天安门广场面积是多少平方米？</a:t>
            </a:r>
            <a:endParaRPr lang="zh-CN" altLang="zh-CN" sz="20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355600" algn="just">
              <a:spcAft>
                <a:spcPts val="0"/>
              </a:spcAft>
            </a:pPr>
            <a:endParaRPr 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: 圆角 4"/>
          <p:cNvSpPr>
            <a:spLocks noChangeArrowheads="1"/>
          </p:cNvSpPr>
          <p:nvPr/>
        </p:nvSpPr>
        <p:spPr bwMode="auto">
          <a:xfrm>
            <a:off x="1763688" y="3947736"/>
            <a:ext cx="4392488" cy="72008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355600" algn="just"/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长方形的面积计算公式是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s=</a:t>
            </a:r>
            <a:r>
              <a:rPr lang="en-US" altLang="zh-CN" sz="2000" kern="100" dirty="0" err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a×b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，那么如何编写程序呢？</a:t>
            </a:r>
            <a:endParaRPr 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云形标注 3"/>
          <p:cNvSpPr/>
          <p:nvPr/>
        </p:nvSpPr>
        <p:spPr>
          <a:xfrm>
            <a:off x="1619673" y="3440941"/>
            <a:ext cx="576064" cy="282937"/>
          </a:xfrm>
          <a:prstGeom prst="cloudCallout">
            <a:avLst>
              <a:gd name="adj1" fmla="val -67058"/>
              <a:gd name="adj2" fmla="val 12848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？</a:t>
            </a:r>
            <a:endParaRPr lang="zh-CN" altLang="en-US" dirty="0"/>
          </a:p>
        </p:txBody>
      </p:sp>
      <p:pic>
        <p:nvPicPr>
          <p:cNvPr id="3" name="图片 2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" y="3204845"/>
            <a:ext cx="1444625" cy="1444625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508750" y="2272665"/>
            <a:ext cx="1786255" cy="1793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11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467544" y="1203598"/>
            <a:ext cx="3096344" cy="3416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 err="1"/>
              <a:t>a,b,s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a=880;</a:t>
            </a:r>
            <a:endParaRPr lang="en-US" altLang="zh-CN" dirty="0"/>
          </a:p>
          <a:p>
            <a:r>
              <a:rPr lang="en-US" altLang="zh-CN" dirty="0"/>
              <a:t>    b=500;</a:t>
            </a:r>
            <a:endParaRPr lang="en-US" altLang="zh-CN" dirty="0"/>
          </a:p>
          <a:p>
            <a:r>
              <a:rPr lang="en-US" altLang="zh-CN" dirty="0"/>
              <a:t>    s=a*b;	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天安门广场面积：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&lt;&lt;s&lt;&lt;"</a:t>
            </a:r>
            <a:r>
              <a:rPr lang="zh-CN" altLang="en-US" dirty="0"/>
              <a:t>平方米</a:t>
            </a:r>
            <a:r>
              <a:rPr lang="en-US" altLang="zh-CN" dirty="0"/>
              <a:t>"; </a:t>
            </a:r>
            <a:endParaRPr lang="en-US" altLang="zh-CN" dirty="0"/>
          </a:p>
          <a:p>
            <a:r>
              <a:rPr lang="en-US" altLang="zh-CN" dirty="0"/>
              <a:t>    return 0;</a:t>
            </a:r>
            <a:endParaRPr lang="en-US" altLang="zh-CN" dirty="0"/>
          </a:p>
          <a:p>
            <a:r>
              <a:rPr lang="en-US" altLang="zh-CN" dirty="0"/>
              <a:t> } </a:t>
            </a:r>
            <a:endParaRPr lang="en-US" altLang="zh-CN" dirty="0"/>
          </a:p>
        </p:txBody>
      </p:sp>
      <p:sp>
        <p:nvSpPr>
          <p:cNvPr id="7" name="矩形: 圆角 4"/>
          <p:cNvSpPr>
            <a:spLocks noChangeArrowheads="1"/>
          </p:cNvSpPr>
          <p:nvPr/>
        </p:nvSpPr>
        <p:spPr bwMode="auto">
          <a:xfrm>
            <a:off x="4067944" y="844064"/>
            <a:ext cx="4392488" cy="10081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355600" algn="just"/>
            <a:r>
              <a:rPr lang="zh-CN" altLang="en-US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在程序运行期间，其值可以改变的量称为“变量”。例如本程序中的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均为变量。</a:t>
            </a:r>
            <a:endParaRPr 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7945" y="2067947"/>
            <a:ext cx="42484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变量使用规则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latin typeface="+mn-ea"/>
              </a:rPr>
              <a:t>变量必须先定义后使用。</a:t>
            </a:r>
            <a:endParaRPr lang="en-US" altLang="zh-CN" sz="16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latin typeface="+mn-ea"/>
              </a:rPr>
              <a:t>变量名只能有字母、数字和下划线组成，且第一个字符不能为数字。</a:t>
            </a:r>
            <a:endParaRPr lang="en-US" altLang="zh-CN" sz="16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latin typeface="+mn-ea"/>
              </a:rPr>
              <a:t>变量是一种标识符。</a:t>
            </a:r>
            <a:endParaRPr lang="en-US" altLang="zh-CN" sz="16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600" dirty="0">
                <a:latin typeface="+mn-ea"/>
              </a:rPr>
              <a:t>C++</a:t>
            </a:r>
            <a:r>
              <a:rPr lang="zh-CN" altLang="en-US" sz="1600" dirty="0">
                <a:latin typeface="+mn-ea"/>
              </a:rPr>
              <a:t>的标识符严格区分大小写。</a:t>
            </a:r>
            <a:endParaRPr lang="en-US" altLang="zh-CN" sz="16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latin typeface="+mn-ea"/>
              </a:rPr>
              <a:t>变量名一般用小写字母表示。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812" y="3611405"/>
            <a:ext cx="1005102" cy="1008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bldLvl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755576" y="1213396"/>
            <a:ext cx="1823309" cy="2677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err="1"/>
              <a:t>int</a:t>
            </a:r>
            <a:r>
              <a:rPr lang="en-US" altLang="zh-CN" sz="2800" dirty="0"/>
              <a:t>  </a:t>
            </a:r>
            <a:r>
              <a:rPr lang="en-US" altLang="zh-CN" sz="2800" dirty="0" err="1"/>
              <a:t>a,b,s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a=880;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b=500;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s=a*b; </a:t>
            </a:r>
            <a:endParaRPr lang="en-US" altLang="zh-CN" sz="2800" dirty="0"/>
          </a:p>
        </p:txBody>
      </p:sp>
      <p:sp>
        <p:nvSpPr>
          <p:cNvPr id="7" name="矩形: 圆角 4"/>
          <p:cNvSpPr>
            <a:spLocks noChangeArrowheads="1"/>
          </p:cNvSpPr>
          <p:nvPr/>
        </p:nvSpPr>
        <p:spPr bwMode="auto">
          <a:xfrm>
            <a:off x="3851921" y="1059582"/>
            <a:ext cx="2376264" cy="158417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/>
            <a:r>
              <a:rPr lang="zh-CN" altLang="en-US" sz="2400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变量的三要素</a:t>
            </a:r>
            <a:endParaRPr lang="en-US" altLang="zh-CN" sz="2400" kern="100" dirty="0">
              <a:solidFill>
                <a:srgbClr val="C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en-US" sz="20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变量名</a:t>
            </a:r>
            <a:endParaRPr lang="en-US" altLang="zh-CN" sz="2000" kern="1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en-US" sz="20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endParaRPr lang="en-US" altLang="zh-CN" sz="2000" kern="1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en-US" sz="2000" kern="100" dirty="0">
                <a:solidFill>
                  <a:srgbClr val="C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值</a:t>
            </a:r>
            <a:endParaRPr lang="zh-CN" sz="2000" kern="1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63888" y="3168110"/>
            <a:ext cx="3960440" cy="12926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”的含义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  <a:latin typeface="+mn-ea"/>
              </a:rPr>
              <a:t>给变量“赋值” </a:t>
            </a:r>
            <a:endParaRPr lang="en-US" altLang="zh-CN" dirty="0">
              <a:solidFill>
                <a:srgbClr val="C0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  <a:latin typeface="+mn-ea"/>
              </a:rPr>
              <a:t>不是数学中的“等号”</a:t>
            </a:r>
            <a:endParaRPr lang="en-US" altLang="zh-CN" dirty="0">
              <a:solidFill>
                <a:srgbClr val="C0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  <a:latin typeface="+mn-ea"/>
              </a:rPr>
              <a:t>把右边的值“赋给”左边的变量。</a:t>
            </a:r>
            <a:endParaRPr lang="en-US" altLang="zh-CN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6520815" y="1214120"/>
            <a:ext cx="1659890" cy="1666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755576" y="1213396"/>
            <a:ext cx="1823309" cy="33239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err="1"/>
              <a:t>int</a:t>
            </a:r>
            <a:r>
              <a:rPr lang="en-US" altLang="zh-CN" sz="2800" dirty="0"/>
              <a:t>  </a:t>
            </a:r>
            <a:r>
              <a:rPr lang="en-US" altLang="zh-CN" sz="2800" dirty="0" err="1"/>
              <a:t>a,b,s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a=880;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b=500;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s=a*b;	 </a:t>
            </a:r>
            <a:endParaRPr lang="en-US" altLang="zh-CN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427984" y="1331094"/>
          <a:ext cx="3888432" cy="6680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73556"/>
                <a:gridCol w="742668"/>
                <a:gridCol w="648072"/>
                <a:gridCol w="648072"/>
                <a:gridCol w="576064"/>
              </a:tblGrid>
              <a:tr h="15481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数学符号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÷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C++</a:t>
                      </a:r>
                      <a:r>
                        <a:rPr lang="zh-CN" altLang="en-US" b="1" dirty="0"/>
                        <a:t>运算符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*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/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923928" y="3010746"/>
          <a:ext cx="4417475" cy="12852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609163"/>
                <a:gridCol w="1440160"/>
                <a:gridCol w="13681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数学表达式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赋值表达式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赋值语句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dirty="0"/>
                        <a:t>a*b</a:t>
                      </a:r>
                      <a:endParaRPr lang="en-US" altLang="zh-CN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dirty="0"/>
                        <a:t>800*500</a:t>
                      </a:r>
                      <a:endParaRPr lang="en-US" altLang="zh-CN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dirty="0"/>
                        <a:t>(a+10)/2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dirty="0"/>
                        <a:t>a=880</a:t>
                      </a:r>
                      <a:endParaRPr lang="en-US" altLang="zh-CN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dirty="0"/>
                        <a:t>b=500+123</a:t>
                      </a:r>
                      <a:endParaRPr lang="en-US" altLang="zh-CN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dirty="0"/>
                        <a:t>s=a*b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dirty="0"/>
                        <a:t>a=880;</a:t>
                      </a:r>
                      <a:endParaRPr lang="en-US" altLang="zh-CN" sz="1800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dirty="0"/>
                        <a:t>b=500;</a:t>
                      </a:r>
                      <a:endParaRPr lang="en-US" altLang="zh-CN" sz="1800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dirty="0"/>
                        <a:t>s=a*b;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8750" y="1330960"/>
            <a:ext cx="1555115" cy="1561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矩形 3"/>
          <p:cNvSpPr/>
          <p:nvPr/>
        </p:nvSpPr>
        <p:spPr>
          <a:xfrm>
            <a:off x="5004048" y="1328199"/>
            <a:ext cx="3456384" cy="1631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000" dirty="0"/>
              <a:t>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&lt;&lt;"</a:t>
            </a:r>
            <a:r>
              <a:rPr lang="zh-CN" altLang="en-US" sz="2000" dirty="0"/>
              <a:t>天安门广场面积：</a:t>
            </a:r>
            <a:r>
              <a:rPr lang="en-US" altLang="zh-CN" sz="2000" dirty="0"/>
              <a:t>";</a:t>
            </a:r>
            <a:endParaRPr lang="en-US" altLang="zh-CN" sz="2000" dirty="0"/>
          </a:p>
          <a:p>
            <a:pPr>
              <a:lnSpc>
                <a:spcPct val="250000"/>
              </a:lnSpc>
            </a:pPr>
            <a:r>
              <a:rPr lang="en-US" altLang="zh-CN" sz="2000" dirty="0"/>
              <a:t>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&lt;&lt;s&lt;&lt;"</a:t>
            </a:r>
            <a:r>
              <a:rPr lang="zh-CN" altLang="en-US" sz="2000" dirty="0"/>
              <a:t>平方米</a:t>
            </a:r>
            <a:r>
              <a:rPr lang="en-US" altLang="zh-CN" sz="2000" dirty="0"/>
              <a:t>"; </a:t>
            </a:r>
            <a:endParaRPr lang="zh-CN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037739" y="2159097"/>
            <a:ext cx="2185214" cy="559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输出变量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endParaRPr lang="zh-CN" altLang="en-US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5736" y="3795886"/>
            <a:ext cx="3775393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程序运行结果：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天安门广场面积：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440000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平方米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862" y="3287891"/>
            <a:ext cx="1359476" cy="1359476"/>
          </a:xfrm>
          <a:prstGeom prst="rect">
            <a:avLst/>
          </a:prstGeom>
        </p:spPr>
      </p:pic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45" y="20891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107504" y="313167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35677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563888" y="923389"/>
            <a:ext cx="3816424" cy="8572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95536" y="1816428"/>
            <a:ext cx="7416800" cy="2959100"/>
          </a:xfrm>
          <a:prstGeom prst="rect">
            <a:avLst/>
          </a:prstGeom>
        </p:spPr>
        <p:txBody>
          <a:bodyPr>
            <a:noAutofit/>
          </a:bodyPr>
          <a:lstStyle/>
          <a:p>
            <a:pPr lvl="1"/>
            <a:r>
              <a:rPr lang="en-US" altLang="zh-CN" sz="2400" dirty="0"/>
              <a:t>include  </a:t>
            </a:r>
            <a:r>
              <a:rPr lang="zh-CN" altLang="en-US" sz="2400" dirty="0"/>
              <a:t>包含，包括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iostream</a:t>
            </a:r>
            <a:r>
              <a:rPr lang="en-US" altLang="zh-CN" sz="2400" dirty="0"/>
              <a:t>  </a:t>
            </a:r>
            <a:r>
              <a:rPr lang="zh-CN" altLang="en-US" sz="2400" dirty="0"/>
              <a:t>输入输出流</a:t>
            </a:r>
            <a:endParaRPr lang="en-US" altLang="zh-CN" sz="2400" dirty="0"/>
          </a:p>
          <a:p>
            <a:pPr lvl="1"/>
            <a:r>
              <a:rPr lang="en-US" altLang="zh-CN" sz="2400" dirty="0"/>
              <a:t>using  </a:t>
            </a:r>
            <a:r>
              <a:rPr lang="zh-CN" altLang="en-US" sz="2400" dirty="0"/>
              <a:t>使用</a:t>
            </a:r>
            <a:endParaRPr lang="en-US" altLang="zh-CN" sz="2400" dirty="0"/>
          </a:p>
          <a:p>
            <a:pPr lvl="1"/>
            <a:r>
              <a:rPr lang="en-US" altLang="zh-CN" sz="2400" dirty="0"/>
              <a:t>namespace  </a:t>
            </a:r>
            <a:r>
              <a:rPr lang="zh-CN" altLang="en-US" sz="2400" dirty="0"/>
              <a:t>命名空间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std</a:t>
            </a:r>
            <a:r>
              <a:rPr lang="en-US" altLang="zh-CN" sz="2400" dirty="0"/>
              <a:t>  standard</a:t>
            </a:r>
            <a:r>
              <a:rPr lang="zh-CN" altLang="en-US" sz="2400" dirty="0"/>
              <a:t>的缩写，标准的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cout</a:t>
            </a:r>
            <a:r>
              <a:rPr lang="en-US" altLang="zh-CN" sz="2400" dirty="0"/>
              <a:t>  </a:t>
            </a:r>
            <a:r>
              <a:rPr lang="zh-CN" altLang="en-US" sz="2400" dirty="0"/>
              <a:t>输出流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endl</a:t>
            </a:r>
            <a:r>
              <a:rPr lang="en-US" altLang="zh-CN" sz="2400" dirty="0"/>
              <a:t>  end line</a:t>
            </a:r>
            <a:r>
              <a:rPr lang="zh-CN" altLang="en-US" sz="2400" dirty="0"/>
              <a:t>的缩写，换行</a:t>
            </a:r>
            <a:endParaRPr lang="en-US" altLang="zh-CN" sz="2400" dirty="0"/>
          </a:p>
          <a:p>
            <a:pPr marL="457200" lvl="1" indent="0">
              <a:buNone/>
            </a:pP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0670" y="1566545"/>
            <a:ext cx="2729230" cy="30391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/>
          <p:cNvSpPr/>
          <p:nvPr/>
        </p:nvSpPr>
        <p:spPr>
          <a:xfrm>
            <a:off x="107504" y="35677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347864" y="570501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牛刀“大”试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108576" y="1327852"/>
            <a:ext cx="4935537" cy="3404643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输出</a:t>
            </a:r>
            <a:r>
              <a:rPr lang="en-US" altLang="zh-CN" sz="2000" dirty="0"/>
              <a:t>:____________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1203598"/>
            <a:ext cx="273630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下列（  ）是非法的标识符。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3y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b5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H_1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p7y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06536" y="1822046"/>
            <a:ext cx="21602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#include 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i,j,k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i=8;</a:t>
            </a:r>
            <a:endParaRPr lang="en-US" altLang="zh-CN" sz="1400" dirty="0"/>
          </a:p>
          <a:p>
            <a:r>
              <a:rPr lang="en-US" altLang="zh-CN" sz="1400" dirty="0"/>
              <a:t>    j=9;</a:t>
            </a:r>
            <a:endParaRPr lang="en-US" altLang="zh-CN" sz="1400" dirty="0"/>
          </a:p>
          <a:p>
            <a:r>
              <a:rPr lang="en-US" altLang="zh-CN" sz="1400" dirty="0"/>
              <a:t>    k=i*j;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&lt;&lt;i;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&lt;&lt;j&lt;&lt;k;</a:t>
            </a:r>
            <a:endParaRPr lang="en-US" altLang="zh-CN" sz="1400" dirty="0"/>
          </a:p>
          <a:p>
            <a:r>
              <a:rPr lang="en-US" altLang="zh-CN" sz="1400" dirty="0"/>
              <a:t>    return 0;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728487" y="2165623"/>
            <a:ext cx="1947969" cy="175432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  i            j           k</a:t>
            </a:r>
            <a:endParaRPr lang="en-US" altLang="zh-CN" dirty="0"/>
          </a:p>
          <a:p>
            <a:r>
              <a:rPr lang="en-US" altLang="zh-CN" dirty="0"/>
              <a:t>-------------------------</a:t>
            </a:r>
            <a:endParaRPr lang="en-US" altLang="zh-CN" dirty="0"/>
          </a:p>
          <a:p>
            <a:r>
              <a:rPr lang="en-US" altLang="zh-CN" dirty="0"/>
              <a:t>  8          9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33662" y="3976194"/>
            <a:ext cx="2518638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注：此类题目请将中间过程</a:t>
            </a:r>
            <a:endParaRPr lang="en-US" altLang="zh-CN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写在虚线框中，后不再说明。</a:t>
            </a:r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43854" y="3216207"/>
            <a:ext cx="1283027" cy="12830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9" grpId="0"/>
      <p:bldP spid="10" grpId="0" animBg="1"/>
      <p:bldP spid="11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59832" y="618177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牛刀“大”试</a:t>
            </a:r>
            <a:endParaRPr lang="zh-CN" altLang="en-US" dirty="0"/>
          </a:p>
        </p:txBody>
      </p:sp>
      <p:sp>
        <p:nvSpPr>
          <p:cNvPr id="6" name="内容占位符 2"/>
          <p:cNvSpPr txBox="1"/>
          <p:nvPr/>
        </p:nvSpPr>
        <p:spPr>
          <a:xfrm>
            <a:off x="395536" y="1203598"/>
            <a:ext cx="7488832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/>
              <a:t>3</a:t>
            </a:r>
            <a:r>
              <a:rPr lang="zh-CN" altLang="en-US" sz="2000" dirty="0"/>
              <a:t>、完善程序。</a:t>
            </a:r>
            <a:endParaRPr lang="en-US" altLang="zh-CN" sz="2000" dirty="0"/>
          </a:p>
          <a:p>
            <a:pPr marL="400050" lvl="1" indent="0">
              <a:buFont typeface="Arial" panose="020B0604020202020204" pitchFamily="34" charset="0"/>
              <a:buNone/>
            </a:pPr>
            <a:r>
              <a:rPr lang="zh-CN" altLang="en-US" sz="1600" dirty="0"/>
              <a:t>实验小学的操场，长</a:t>
            </a:r>
            <a:r>
              <a:rPr lang="en-US" altLang="zh-CN" sz="1600" dirty="0"/>
              <a:t>120</a:t>
            </a:r>
            <a:r>
              <a:rPr lang="zh-CN" altLang="en-US" sz="1600" dirty="0"/>
              <a:t>米，宽</a:t>
            </a:r>
            <a:r>
              <a:rPr lang="en-US" altLang="zh-CN" sz="1600" dirty="0"/>
              <a:t>80</a:t>
            </a:r>
            <a:r>
              <a:rPr lang="zh-CN" altLang="en-US" sz="1600" dirty="0"/>
              <a:t>米，求操场的周长是多少米？</a:t>
            </a:r>
            <a:endParaRPr lang="en-US" altLang="zh-CN" sz="1600" dirty="0"/>
          </a:p>
        </p:txBody>
      </p:sp>
      <p:sp>
        <p:nvSpPr>
          <p:cNvPr id="7" name="矩形 6"/>
          <p:cNvSpPr/>
          <p:nvPr/>
        </p:nvSpPr>
        <p:spPr>
          <a:xfrm>
            <a:off x="2051720" y="1923678"/>
            <a:ext cx="4572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a,b,c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a=120;</a:t>
            </a:r>
            <a:endParaRPr lang="en-US" altLang="zh-CN" sz="1600" dirty="0"/>
          </a:p>
          <a:p>
            <a:r>
              <a:rPr lang="en-US" altLang="zh-CN" sz="1600" dirty="0"/>
              <a:t>      b=80;</a:t>
            </a:r>
            <a:endParaRPr lang="en-US" altLang="zh-CN" sz="1600" dirty="0"/>
          </a:p>
          <a:p>
            <a:r>
              <a:rPr lang="en-US" altLang="zh-CN" sz="1600" dirty="0"/>
              <a:t>      c=_________________ 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&lt;&lt;c;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703" y="2500173"/>
            <a:ext cx="2180006" cy="2180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4"/>
          <p:cNvSpPr txBox="1"/>
          <p:nvPr/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7200">
                <a:solidFill>
                  <a:srgbClr val="00B0F0"/>
                </a:solidFill>
              </a:rPr>
              <a:t>下课啦！</a:t>
            </a:r>
            <a:endParaRPr lang="zh-CN" altLang="en-US" sz="7200" dirty="0">
              <a:solidFill>
                <a:srgbClr val="00B0F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739215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</Words>
  <Application>WPS 演示</Application>
  <PresentationFormat>全屏显示(16:9)</PresentationFormat>
  <Paragraphs>175</Paragraphs>
  <Slides>10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Wingdings 2</vt:lpstr>
      <vt:lpstr>微软雅黑</vt:lpstr>
      <vt:lpstr>楷体</vt:lpstr>
      <vt:lpstr>Times New Roman</vt:lpstr>
      <vt:lpstr>Calibri</vt:lpstr>
      <vt:lpstr>仿宋</vt:lpstr>
      <vt:lpstr>Arial Unicode MS</vt:lpstr>
      <vt:lpstr>Calibri Light</vt:lpstr>
      <vt:lpstr>HDOfficeLightV0</vt:lpstr>
      <vt:lpstr>PowerPoint 演示文稿</vt:lpstr>
      <vt:lpstr>变量、表达式和赋值语句</vt:lpstr>
      <vt:lpstr>PowerPoint 演示文稿</vt:lpstr>
      <vt:lpstr>PowerPoint 演示文稿</vt:lpstr>
      <vt:lpstr>PowerPoint 演示文稿</vt:lpstr>
      <vt:lpstr>PowerPoint 演示文稿</vt:lpstr>
      <vt:lpstr>编程小词典</vt:lpstr>
      <vt:lpstr>牛刀“大”试</vt:lpstr>
      <vt:lpstr>牛刀“大”试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64</cp:revision>
  <dcterms:created xsi:type="dcterms:W3CDTF">2018-07-03T13:24:00Z</dcterms:created>
  <dcterms:modified xsi:type="dcterms:W3CDTF">2021-04-12T07:19:16Z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