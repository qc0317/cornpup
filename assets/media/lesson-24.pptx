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9" r:id="rId3"/>
    <p:sldId id="269" r:id="rId4"/>
    <p:sldId id="296" r:id="rId5"/>
    <p:sldId id="297" r:id="rId6"/>
    <p:sldId id="298" r:id="rId7"/>
    <p:sldId id="267" r:id="rId8"/>
    <p:sldId id="280" r:id="rId9"/>
    <p:sldId id="301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2225"/>
            <a:ext cx="9144635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滴滴打车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(if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语句的应用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42392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滴滴打车</a:t>
            </a:r>
            <a:r>
              <a:rPr lang="en-US" altLang="zh-CN" sz="2400" dirty="0">
                <a:solidFill>
                  <a:srgbClr val="00B0F0"/>
                </a:solidFill>
              </a:rPr>
              <a:t>——if</a:t>
            </a:r>
            <a:r>
              <a:rPr lang="zh-CN" altLang="en-US" sz="2400" dirty="0">
                <a:solidFill>
                  <a:srgbClr val="00B0F0"/>
                </a:solidFill>
              </a:rPr>
              <a:t>语句的应用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6727" y="1455193"/>
            <a:ext cx="676339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打车计价方案为：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千米以内的起步价是</a:t>
            </a:r>
            <a:r>
              <a:rPr lang="en-US" altLang="zh-CN" dirty="0">
                <a:latin typeface="+mn-ea"/>
              </a:rPr>
              <a:t>6</a:t>
            </a:r>
            <a:r>
              <a:rPr lang="zh-CN" altLang="en-US" dirty="0">
                <a:latin typeface="+mn-ea"/>
              </a:rPr>
              <a:t>元；超过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千米之后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按</a:t>
            </a:r>
            <a:r>
              <a:rPr lang="en-US" altLang="zh-CN" dirty="0">
                <a:latin typeface="+mn-ea"/>
              </a:rPr>
              <a:t>1.8</a:t>
            </a:r>
            <a:r>
              <a:rPr lang="zh-CN" altLang="en-US" dirty="0">
                <a:latin typeface="+mn-ea"/>
              </a:rPr>
              <a:t>元</a:t>
            </a:r>
            <a:r>
              <a:rPr lang="en-US" altLang="zh-CN" dirty="0">
                <a:latin typeface="+mn-ea"/>
              </a:rPr>
              <a:t>/</a:t>
            </a:r>
            <a:r>
              <a:rPr lang="zh-CN" altLang="en-US" dirty="0">
                <a:latin typeface="+mn-ea"/>
              </a:rPr>
              <a:t>千米计价；超过</a:t>
            </a:r>
            <a:r>
              <a:rPr lang="en-US" altLang="zh-CN" dirty="0">
                <a:latin typeface="+mn-ea"/>
              </a:rPr>
              <a:t>10</a:t>
            </a:r>
            <a:r>
              <a:rPr lang="zh-CN" altLang="en-US" dirty="0">
                <a:latin typeface="+mn-ea"/>
              </a:rPr>
              <a:t>千米之后在</a:t>
            </a:r>
            <a:r>
              <a:rPr lang="en-US" altLang="zh-CN" dirty="0">
                <a:latin typeface="+mn-ea"/>
              </a:rPr>
              <a:t>1.8</a:t>
            </a:r>
            <a:r>
              <a:rPr lang="zh-CN" altLang="en-US" dirty="0">
                <a:latin typeface="+mn-ea"/>
              </a:rPr>
              <a:t>元的基础上加价</a:t>
            </a:r>
            <a:r>
              <a:rPr lang="en-US" altLang="zh-CN" dirty="0">
                <a:latin typeface="+mn-ea"/>
              </a:rPr>
              <a:t>50%</a:t>
            </a:r>
            <a:r>
              <a:rPr lang="zh-CN" altLang="en-US" dirty="0">
                <a:latin typeface="+mn-ea"/>
              </a:rPr>
              <a:t>；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停车等候则按时间计费，每</a:t>
            </a: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分钟加收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元（不满</a:t>
            </a: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分钟不计费）。</a:t>
            </a:r>
            <a:endParaRPr lang="zh-CN" altLang="en-US" dirty="0">
              <a:latin typeface="+mn-ea"/>
            </a:endParaRPr>
          </a:p>
        </p:txBody>
      </p:sp>
      <p:sp>
        <p:nvSpPr>
          <p:cNvPr id="6" name="矩形: 圆角 5"/>
          <p:cNvSpPr>
            <a:spLocks noChangeArrowheads="1"/>
          </p:cNvSpPr>
          <p:nvPr/>
        </p:nvSpPr>
        <p:spPr bwMode="auto">
          <a:xfrm>
            <a:off x="3131840" y="3147814"/>
            <a:ext cx="5112568" cy="123849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试编一程序，计算美美需要付</a:t>
            </a:r>
            <a:r>
              <a:rPr lang="zh-CN" altLang="zh-CN" sz="2800" kern="100" dirty="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打车费是多少元？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385" y="294132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90305" y="915566"/>
            <a:ext cx="6763390" cy="16893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打车计价方案为：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千米以内的起步价是</a:t>
            </a:r>
            <a:r>
              <a:rPr lang="en-US" altLang="zh-CN" dirty="0">
                <a:latin typeface="+mn-ea"/>
              </a:rPr>
              <a:t>6</a:t>
            </a:r>
            <a:r>
              <a:rPr lang="zh-CN" altLang="en-US" dirty="0">
                <a:latin typeface="+mn-ea"/>
              </a:rPr>
              <a:t>元；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超过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千米之后按</a:t>
            </a:r>
            <a:r>
              <a:rPr lang="en-US" altLang="zh-CN" dirty="0">
                <a:latin typeface="+mn-ea"/>
              </a:rPr>
              <a:t>1.8</a:t>
            </a:r>
            <a:r>
              <a:rPr lang="zh-CN" altLang="en-US" dirty="0">
                <a:latin typeface="+mn-ea"/>
              </a:rPr>
              <a:t>元</a:t>
            </a:r>
            <a:r>
              <a:rPr lang="en-US" altLang="zh-CN" dirty="0">
                <a:latin typeface="+mn-ea"/>
              </a:rPr>
              <a:t>/</a:t>
            </a:r>
            <a:r>
              <a:rPr lang="zh-CN" altLang="en-US" dirty="0">
                <a:latin typeface="+mn-ea"/>
              </a:rPr>
              <a:t>千米计价；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超过</a:t>
            </a:r>
            <a:r>
              <a:rPr lang="en-US" altLang="zh-CN" dirty="0">
                <a:latin typeface="+mn-ea"/>
              </a:rPr>
              <a:t>10</a:t>
            </a:r>
            <a:r>
              <a:rPr lang="zh-CN" altLang="en-US" dirty="0">
                <a:latin typeface="+mn-ea"/>
              </a:rPr>
              <a:t>千米之后在</a:t>
            </a:r>
            <a:r>
              <a:rPr lang="en-US" altLang="zh-CN" dirty="0">
                <a:latin typeface="+mn-ea"/>
              </a:rPr>
              <a:t>1.8</a:t>
            </a:r>
            <a:r>
              <a:rPr lang="zh-CN" altLang="en-US" dirty="0">
                <a:latin typeface="+mn-ea"/>
              </a:rPr>
              <a:t>元的基础上加价</a:t>
            </a:r>
            <a:r>
              <a:rPr lang="en-US" altLang="zh-CN" dirty="0">
                <a:latin typeface="+mn-ea"/>
              </a:rPr>
              <a:t>50%</a:t>
            </a:r>
            <a:r>
              <a:rPr lang="zh-CN" altLang="en-US" dirty="0">
                <a:latin typeface="+mn-ea"/>
              </a:rPr>
              <a:t>；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停车等候则按时间计费，每</a:t>
            </a: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分钟加收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元（不满</a:t>
            </a: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分钟不计费）。</a:t>
            </a:r>
            <a:endParaRPr lang="zh-CN" altLang="en-US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" y="2744282"/>
            <a:ext cx="7896225" cy="111147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clrChange>
              <a:clrFrom>
                <a:srgbClr val="F2F8F6"/>
              </a:clrFrom>
              <a:clrTo>
                <a:srgbClr val="F2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1568" y="4084424"/>
            <a:ext cx="1072349" cy="64526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clrChange>
              <a:clrFrom>
                <a:srgbClr val="F2F8F6"/>
              </a:clrFrom>
              <a:clrTo>
                <a:srgbClr val="F2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83917" y="4084424"/>
            <a:ext cx="1072349" cy="645266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>
            <a:clrChange>
              <a:clrFrom>
                <a:srgbClr val="F2F8F6"/>
              </a:clrFrom>
              <a:clrTo>
                <a:srgbClr val="F2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56266" y="4084424"/>
            <a:ext cx="1072349" cy="645266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clrChange>
              <a:clrFrom>
                <a:srgbClr val="F2F8F6"/>
              </a:clrFrom>
              <a:clrTo>
                <a:srgbClr val="F2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24731" y="4084424"/>
            <a:ext cx="1072349" cy="645266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2">
            <a:clrChange>
              <a:clrFrom>
                <a:srgbClr val="F2F8F6"/>
              </a:clrFrom>
              <a:clrTo>
                <a:srgbClr val="F2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77396" y="4084424"/>
            <a:ext cx="1072349" cy="645266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>
            <a:clrChange>
              <a:clrFrom>
                <a:srgbClr val="F2F8F6"/>
              </a:clrFrom>
              <a:clrTo>
                <a:srgbClr val="F2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26177" y="4084424"/>
            <a:ext cx="1072349" cy="645266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>
            <a:clrChange>
              <a:clrFrom>
                <a:srgbClr val="F2F8F6"/>
              </a:clrFrom>
              <a:clrTo>
                <a:srgbClr val="F2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99161" y="4082768"/>
            <a:ext cx="1072349" cy="645266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">
            <a:clrChange>
              <a:clrFrom>
                <a:srgbClr val="F2F8F6"/>
              </a:clrFrom>
              <a:clrTo>
                <a:srgbClr val="F2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66991" y="4082768"/>
            <a:ext cx="1072349" cy="6452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80" y="503626"/>
            <a:ext cx="4572586" cy="418520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788280"/>
            <a:ext cx="1751974" cy="18902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915566"/>
            <a:ext cx="2309060" cy="23852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611560" y="571117"/>
            <a:ext cx="516632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</a:t>
            </a:r>
            <a:endParaRPr lang="en-US" altLang="zh-CN" sz="1400" dirty="0"/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  <a:endParaRPr lang="en-US" altLang="zh-CN" sz="1400" dirty="0"/>
          </a:p>
          <a:p>
            <a:r>
              <a:rPr lang="en-US" altLang="zh-CN" sz="1400" dirty="0"/>
              <a:t>{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lucheng,shijian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float </a:t>
            </a:r>
            <a:r>
              <a:rPr lang="en-US" altLang="zh-CN" sz="1400" dirty="0" err="1"/>
              <a:t>feiyong</a:t>
            </a:r>
            <a:r>
              <a:rPr lang="en-US" altLang="zh-CN" sz="1400" dirty="0"/>
              <a:t>=0; 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</a:t>
            </a:r>
            <a:r>
              <a:rPr lang="en-US" altLang="zh-CN" sz="1400" dirty="0" err="1"/>
              <a:t>lucheng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if(</a:t>
            </a:r>
            <a:r>
              <a:rPr lang="en-US" altLang="zh-CN" sz="1400" dirty="0" err="1"/>
              <a:t>lucheng</a:t>
            </a:r>
            <a:r>
              <a:rPr lang="en-US" altLang="zh-CN" sz="1400" dirty="0"/>
              <a:t>&gt;10)</a:t>
            </a:r>
            <a:endParaRPr lang="en-US" altLang="zh-CN" sz="1400" dirty="0"/>
          </a:p>
          <a:p>
            <a:r>
              <a:rPr lang="en-US" altLang="zh-CN" sz="1400" dirty="0"/>
              <a:t>      </a:t>
            </a:r>
            <a:r>
              <a:rPr lang="en-US" altLang="zh-CN" sz="1400" dirty="0" err="1"/>
              <a:t>feiyong</a:t>
            </a:r>
            <a:r>
              <a:rPr lang="en-US" altLang="zh-CN" sz="1400" dirty="0"/>
              <a:t>=6+(10-2)*1.8+(lucheng-10)*1.8*1.5;</a:t>
            </a:r>
            <a:endParaRPr lang="en-US" altLang="zh-CN" sz="1400" dirty="0"/>
          </a:p>
          <a:p>
            <a:r>
              <a:rPr lang="en-US" altLang="zh-CN" sz="1400" dirty="0"/>
              <a:t>  else </a:t>
            </a:r>
            <a:endParaRPr lang="en-US" altLang="zh-CN" sz="1400" dirty="0"/>
          </a:p>
          <a:p>
            <a:r>
              <a:rPr lang="en-US" altLang="zh-CN" sz="1400" dirty="0"/>
              <a:t>    if(</a:t>
            </a:r>
            <a:r>
              <a:rPr lang="en-US" altLang="zh-CN" sz="1400" dirty="0" err="1"/>
              <a:t>lucheng</a:t>
            </a:r>
            <a:r>
              <a:rPr lang="en-US" altLang="zh-CN" sz="1400" dirty="0"/>
              <a:t>&gt;2) </a:t>
            </a:r>
            <a:endParaRPr lang="en-US" altLang="zh-CN" sz="1400" dirty="0"/>
          </a:p>
          <a:p>
            <a:r>
              <a:rPr lang="en-US" altLang="zh-CN" sz="1400" dirty="0"/>
              <a:t>        </a:t>
            </a:r>
            <a:r>
              <a:rPr lang="en-US" altLang="zh-CN" sz="1400" dirty="0" err="1"/>
              <a:t>feiyong</a:t>
            </a:r>
            <a:r>
              <a:rPr lang="en-US" altLang="zh-CN" sz="1400" dirty="0"/>
              <a:t>=6+(lucheng-2)*1.8;</a:t>
            </a:r>
            <a:endParaRPr lang="en-US" altLang="zh-CN" sz="1400" dirty="0"/>
          </a:p>
          <a:p>
            <a:r>
              <a:rPr lang="en-US" altLang="zh-CN" sz="1400" dirty="0"/>
              <a:t>    else</a:t>
            </a:r>
            <a:endParaRPr lang="en-US" altLang="zh-CN" sz="1400" dirty="0"/>
          </a:p>
          <a:p>
            <a:r>
              <a:rPr lang="en-US" altLang="zh-CN" sz="1400" dirty="0"/>
              <a:t>        </a:t>
            </a:r>
            <a:r>
              <a:rPr lang="en-US" altLang="zh-CN" sz="1400" dirty="0" err="1"/>
              <a:t>feiyong</a:t>
            </a:r>
            <a:r>
              <a:rPr lang="en-US" altLang="zh-CN" sz="1400" dirty="0"/>
              <a:t>=6;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</a:t>
            </a:r>
            <a:r>
              <a:rPr lang="en-US" altLang="zh-CN" sz="1400" dirty="0" err="1"/>
              <a:t>shijian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feiyong</a:t>
            </a:r>
            <a:r>
              <a:rPr lang="en-US" altLang="zh-CN" sz="1400" dirty="0"/>
              <a:t>+=(</a:t>
            </a:r>
            <a:r>
              <a:rPr lang="en-US" altLang="zh-CN" sz="1400" dirty="0" err="1"/>
              <a:t>shijian</a:t>
            </a:r>
            <a:r>
              <a:rPr lang="en-US" altLang="zh-CN" sz="1400" dirty="0"/>
              <a:t>/3)*1;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</a:t>
            </a:r>
            <a:r>
              <a:rPr lang="en-US" altLang="zh-CN" sz="1400" dirty="0" err="1"/>
              <a:t>feiyong</a:t>
            </a:r>
            <a:r>
              <a:rPr lang="en-US" altLang="zh-CN" sz="1400" dirty="0"/>
              <a:t>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  </a:t>
            </a:r>
            <a:endParaRPr lang="en-US" altLang="zh-CN" sz="1400" dirty="0"/>
          </a:p>
          <a:p>
            <a:r>
              <a:rPr lang="en-US" altLang="zh-CN" sz="1400" dirty="0"/>
              <a:t>  return 0;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en-US" altLang="zh-CN" sz="1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545" y="2137952"/>
            <a:ext cx="2467319" cy="25340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665" y="570340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8" y="1419622"/>
            <a:ext cx="27201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下列（  ）是字符型数据。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'3'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"good"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724069" y="870061"/>
            <a:ext cx="3928190" cy="4248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&gt;&gt;x;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if(x==10) x++;  else  x--;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if(x&gt;10) x++;  else  x--;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if(x&lt;10) x++;  else  x--;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if(x!=10) x++;  else  x--;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&lt;&lt;"x="&lt;&lt;x&lt;&lt;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x             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203057" y="4012416"/>
            <a:ext cx="27709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输入：  </a:t>
            </a:r>
            <a:r>
              <a:rPr lang="en-US" altLang="zh-CN" dirty="0"/>
              <a:t>10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771550"/>
            <a:ext cx="3672408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83568" y="1635646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购物不足</a:t>
            </a:r>
            <a:r>
              <a:rPr lang="en-US" altLang="zh-CN" sz="1800" b="0" dirty="0">
                <a:solidFill>
                  <a:prstClr val="black"/>
                </a:solidFill>
              </a:rPr>
              <a:t>50</a:t>
            </a:r>
            <a:r>
              <a:rPr lang="zh-CN" altLang="en-US" sz="1800" b="0" dirty="0">
                <a:solidFill>
                  <a:prstClr val="black"/>
                </a:solidFill>
              </a:rPr>
              <a:t>元的按原价付款，超过</a:t>
            </a:r>
            <a:r>
              <a:rPr lang="en-US" altLang="zh-CN" sz="1800" b="0" dirty="0">
                <a:solidFill>
                  <a:prstClr val="black"/>
                </a:solidFill>
              </a:rPr>
              <a:t>50</a:t>
            </a:r>
            <a:r>
              <a:rPr lang="zh-CN" altLang="en-US" sz="1800" b="0" dirty="0">
                <a:solidFill>
                  <a:prstClr val="black"/>
                </a:solidFill>
              </a:rPr>
              <a:t>元不足</a:t>
            </a:r>
            <a:r>
              <a:rPr lang="en-US" altLang="zh-CN" sz="1800" b="0" dirty="0">
                <a:solidFill>
                  <a:prstClr val="black"/>
                </a:solidFill>
              </a:rPr>
              <a:t>150</a:t>
            </a:r>
            <a:r>
              <a:rPr lang="zh-CN" altLang="en-US" sz="1800" b="0" dirty="0">
                <a:solidFill>
                  <a:prstClr val="black"/>
                </a:solidFill>
              </a:rPr>
              <a:t>元的，超过部分按</a:t>
            </a:r>
            <a:r>
              <a:rPr lang="en-US" altLang="zh-CN" sz="1800" b="0" dirty="0">
                <a:solidFill>
                  <a:prstClr val="black"/>
                </a:solidFill>
              </a:rPr>
              <a:t>9</a:t>
            </a:r>
            <a:r>
              <a:rPr lang="zh-CN" altLang="en-US" sz="1800" b="0" dirty="0">
                <a:solidFill>
                  <a:prstClr val="black"/>
                </a:solidFill>
              </a:rPr>
              <a:t>折付款，超过</a:t>
            </a:r>
            <a:r>
              <a:rPr lang="en-US" altLang="zh-CN" sz="1800" b="0" dirty="0">
                <a:solidFill>
                  <a:prstClr val="black"/>
                </a:solidFill>
              </a:rPr>
              <a:t>150</a:t>
            </a:r>
            <a:r>
              <a:rPr lang="zh-CN" altLang="en-US" sz="1800" b="0" dirty="0">
                <a:solidFill>
                  <a:prstClr val="black"/>
                </a:solidFill>
              </a:rPr>
              <a:t>元的，超出部分按</a:t>
            </a:r>
            <a:r>
              <a:rPr lang="en-US" altLang="zh-CN" sz="1800" b="0" dirty="0">
                <a:solidFill>
                  <a:prstClr val="black"/>
                </a:solidFill>
              </a:rPr>
              <a:t>8</a:t>
            </a:r>
            <a:r>
              <a:rPr lang="zh-CN" altLang="en-US" sz="1800" b="0" dirty="0">
                <a:solidFill>
                  <a:prstClr val="black"/>
                </a:solidFill>
              </a:rPr>
              <a:t>折付款。编写程序完成超市的自动计费的工作。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8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23928" y="1324962"/>
            <a:ext cx="4680520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cs typeface="Times New Roman" panose="02020603050405020304" pitchFamily="18" charset="0"/>
              </a:rPr>
              <a:t>iostream</a:t>
            </a:r>
            <a:r>
              <a:rPr lang="en-US" altLang="zh-CN" sz="1600" dirty="0">
                <a:cs typeface="Times New Roman" panose="02020603050405020304" pitchFamily="18" charset="0"/>
              </a:rPr>
              <a:t>&gt;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using namespace </a:t>
            </a:r>
            <a:r>
              <a:rPr lang="en-US" altLang="zh-CN" sz="1600" dirty="0" err="1">
                <a:cs typeface="Times New Roman" panose="02020603050405020304" pitchFamily="18" charset="0"/>
              </a:rPr>
              <a:t>std</a:t>
            </a:r>
            <a:r>
              <a:rPr lang="en-US" altLang="zh-CN" sz="1600" dirty="0">
                <a:cs typeface="Times New Roman" panose="02020603050405020304" pitchFamily="18" charset="0"/>
              </a:rPr>
              <a:t>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cs typeface="Times New Roman" panose="02020603050405020304" pitchFamily="18" charset="0"/>
              </a:rPr>
              <a:t> main()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{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float  </a:t>
            </a:r>
            <a:r>
              <a:rPr lang="en-US" altLang="zh-CN" sz="1600" dirty="0" err="1">
                <a:cs typeface="Times New Roman" panose="02020603050405020304" pitchFamily="18" charset="0"/>
              </a:rPr>
              <a:t>n,m</a:t>
            </a:r>
            <a:r>
              <a:rPr lang="en-US" altLang="zh-CN" sz="1600" dirty="0">
                <a:cs typeface="Times New Roman" panose="02020603050405020304" pitchFamily="18" charset="0"/>
              </a:rPr>
              <a:t>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cs typeface="Times New Roman" panose="02020603050405020304" pitchFamily="18" charset="0"/>
              </a:rPr>
              <a:t>&lt;&lt;“</a:t>
            </a:r>
            <a:r>
              <a:rPr lang="zh-CN" altLang="en-US" sz="1600" dirty="0">
                <a:cs typeface="Times New Roman" panose="02020603050405020304" pitchFamily="18" charset="0"/>
              </a:rPr>
              <a:t>请输入消费金额：</a:t>
            </a:r>
            <a:r>
              <a:rPr lang="en-US" altLang="zh-CN" sz="1600" dirty="0">
                <a:cs typeface="Times New Roman" panose="02020603050405020304" pitchFamily="18" charset="0"/>
              </a:rPr>
              <a:t>”;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_____________;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if(n&lt;50)  m=n;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else  if(n&lt;=150)  _______________;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         else ___________________ 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 </a:t>
            </a:r>
            <a:r>
              <a:rPr lang="en-US" altLang="zh-CN" sz="1600" dirty="0" err="1"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cs typeface="Times New Roman" panose="02020603050405020304" pitchFamily="18" charset="0"/>
              </a:rPr>
              <a:t>&lt;&lt;m;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return 0;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} 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1220</Words>
  <Application>WPS 演示</Application>
  <PresentationFormat>全屏显示(16:9)</PresentationFormat>
  <Paragraphs>93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滴滴打车——if语句的应用</vt:lpstr>
      <vt:lpstr>PowerPoint 演示文稿</vt:lpstr>
      <vt:lpstr>PowerPoint 演示文稿</vt:lpstr>
      <vt:lpstr>PowerPoint 演示文稿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100</cp:revision>
  <dcterms:created xsi:type="dcterms:W3CDTF">2018-07-03T13:24:00Z</dcterms:created>
  <dcterms:modified xsi:type="dcterms:W3CDTF">2021-04-13T03:19:38Z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