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269" r:id="rId4"/>
    <p:sldId id="294" r:id="rId5"/>
    <p:sldId id="288" r:id="rId6"/>
    <p:sldId id="289" r:id="rId7"/>
    <p:sldId id="290" r:id="rId8"/>
    <p:sldId id="267" r:id="rId9"/>
    <p:sldId id="280" r:id="rId10"/>
    <p:sldId id="293" r:id="rId1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75750" cy="51612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田忌赛马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个数排序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66960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田忌赛马</a:t>
            </a:r>
            <a:r>
              <a:rPr lang="en-US" altLang="zh-CN" sz="2400" dirty="0">
                <a:solidFill>
                  <a:srgbClr val="00B0F0"/>
                </a:solidFill>
              </a:rPr>
              <a:t>——3</a:t>
            </a:r>
            <a:r>
              <a:rPr lang="zh-CN" altLang="en-US" sz="2400" dirty="0">
                <a:solidFill>
                  <a:srgbClr val="00B0F0"/>
                </a:solidFill>
              </a:rPr>
              <a:t>个数排序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563638"/>
            <a:ext cx="4536504" cy="277932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807" y="1629067"/>
            <a:ext cx="3113724" cy="23648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32475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95205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田忌赛马</a:t>
            </a:r>
            <a:r>
              <a:rPr lang="en-US" altLang="zh-CN" sz="2400" dirty="0">
                <a:solidFill>
                  <a:srgbClr val="00B0F0"/>
                </a:solidFill>
              </a:rPr>
              <a:t>——3</a:t>
            </a:r>
            <a:r>
              <a:rPr lang="zh-CN" altLang="en-US" sz="2400" dirty="0">
                <a:solidFill>
                  <a:srgbClr val="00B0F0"/>
                </a:solidFill>
              </a:rPr>
              <a:t>个数排序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6" name="矩形: 圆角 4"/>
          <p:cNvSpPr>
            <a:spLocks noChangeArrowheads="1"/>
          </p:cNvSpPr>
          <p:nvPr/>
        </p:nvSpPr>
        <p:spPr bwMode="auto">
          <a:xfrm>
            <a:off x="3899277" y="1779662"/>
            <a:ext cx="4067656" cy="2520281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试编一程序，</a:t>
            </a:r>
            <a:r>
              <a:rPr lang="zh-CN" sz="2800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输入三个数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，表示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匹</a:t>
            </a:r>
            <a:r>
              <a:rPr lang="zh-CN" alt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马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跑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米的秒数，时间越小速度越快，请按秒数的</a:t>
            </a:r>
            <a:r>
              <a:rPr lang="zh-CN" sz="2800" kern="100" dirty="0">
                <a:solidFill>
                  <a:srgbClr val="C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由小到大顺序输出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3250" y="1979295"/>
            <a:ext cx="2112645" cy="2121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08905" y="3020695"/>
            <a:ext cx="3538220" cy="16186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559" y="1347614"/>
            <a:ext cx="5107488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先让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比较，若</a:t>
            </a:r>
            <a:r>
              <a:rPr lang="en-US" altLang="zh-CN" dirty="0"/>
              <a:t>b</a:t>
            </a:r>
            <a:r>
              <a:rPr lang="zh-CN" altLang="en-US" dirty="0"/>
              <a:t>较小，就交换它们的值；</a:t>
            </a:r>
            <a:endParaRPr lang="en-US" altLang="zh-CN" dirty="0"/>
          </a:p>
          <a:p>
            <a:r>
              <a:rPr lang="zh-CN" altLang="en-US" dirty="0"/>
              <a:t>然后再让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比较，若</a:t>
            </a:r>
            <a:r>
              <a:rPr lang="en-US" altLang="zh-CN" dirty="0"/>
              <a:t>c</a:t>
            </a:r>
            <a:r>
              <a:rPr lang="zh-CN" altLang="en-US" dirty="0"/>
              <a:t>较小，就交换它们的值。</a:t>
            </a:r>
            <a:endParaRPr lang="en-US" altLang="zh-CN" dirty="0"/>
          </a:p>
          <a:p>
            <a:r>
              <a:rPr lang="zh-CN" altLang="en-US" dirty="0"/>
              <a:t>经过两次比较，最小的数存储在</a:t>
            </a:r>
            <a:r>
              <a:rPr lang="en-US" altLang="zh-CN" dirty="0"/>
              <a:t>a</a:t>
            </a:r>
            <a:r>
              <a:rPr lang="zh-CN" altLang="en-US" dirty="0"/>
              <a:t>中。</a:t>
            </a:r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1559" y="2494225"/>
            <a:ext cx="4887877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接着让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c</a:t>
            </a:r>
            <a:r>
              <a:rPr lang="zh-CN" altLang="en-US" dirty="0"/>
              <a:t>比较，若</a:t>
            </a:r>
            <a:r>
              <a:rPr lang="en-US" altLang="zh-CN" dirty="0"/>
              <a:t>c</a:t>
            </a:r>
            <a:r>
              <a:rPr lang="zh-CN" altLang="en-US" dirty="0"/>
              <a:t>较小，就交换它们的值，</a:t>
            </a:r>
            <a:endParaRPr lang="en-US" altLang="zh-CN" dirty="0"/>
          </a:p>
          <a:p>
            <a:r>
              <a:rPr lang="zh-CN" altLang="en-US" dirty="0"/>
              <a:t>经过这次比较，</a:t>
            </a:r>
            <a:r>
              <a:rPr lang="en-US" altLang="zh-CN" dirty="0"/>
              <a:t>b</a:t>
            </a:r>
            <a:r>
              <a:rPr lang="zh-CN" altLang="en-US" dirty="0"/>
              <a:t>就存储了较小的值。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11559" y="3363838"/>
            <a:ext cx="3052439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剩下的</a:t>
            </a:r>
            <a:r>
              <a:rPr lang="en-US" altLang="zh-CN" dirty="0"/>
              <a:t>c</a:t>
            </a:r>
            <a:r>
              <a:rPr lang="zh-CN" altLang="en-US" dirty="0"/>
              <a:t>，就是最大的数了。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"/>
          <a:srcRect b="50917"/>
          <a:stretch>
            <a:fillRect/>
          </a:stretch>
        </p:blipFill>
        <p:spPr>
          <a:xfrm>
            <a:off x="2822042" y="801628"/>
            <a:ext cx="2371725" cy="353905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1"/>
          <a:srcRect t="45603"/>
          <a:stretch>
            <a:fillRect/>
          </a:stretch>
        </p:blipFill>
        <p:spPr>
          <a:xfrm>
            <a:off x="5619153" y="729873"/>
            <a:ext cx="2371725" cy="3922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39702"/>
            <a:ext cx="1751974" cy="18902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矩形 2"/>
          <p:cNvSpPr/>
          <p:nvPr/>
        </p:nvSpPr>
        <p:spPr>
          <a:xfrm>
            <a:off x="241176" y="1055415"/>
            <a:ext cx="244827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float </a:t>
            </a:r>
            <a:r>
              <a:rPr lang="en-US" altLang="zh-CN" sz="1600" dirty="0" err="1"/>
              <a:t>a,b,c,temp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en-US" altLang="zh-CN" sz="1600" dirty="0" err="1"/>
              <a:t>a,b,c</a:t>
            </a:r>
            <a:r>
              <a:rPr lang="en-US" altLang="zh-CN" sz="1600" dirty="0"/>
              <a:t>=";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cin</a:t>
            </a:r>
            <a:r>
              <a:rPr lang="en-US" altLang="zh-CN" sz="1600" dirty="0"/>
              <a:t>&gt;&gt;a&gt;&gt;b&gt;&gt;c;</a:t>
            </a:r>
            <a:endParaRPr lang="en-US" altLang="zh-CN" sz="1600" dirty="0"/>
          </a:p>
          <a:p>
            <a:r>
              <a:rPr lang="en-US" altLang="zh-CN" sz="1600" dirty="0"/>
              <a:t>    if(a&gt;b)</a:t>
            </a:r>
            <a:endParaRPr lang="en-US" altLang="zh-CN" sz="1600" dirty="0"/>
          </a:p>
          <a:p>
            <a:r>
              <a:rPr lang="en-US" altLang="zh-CN" sz="1600" dirty="0"/>
              <a:t>    {</a:t>
            </a:r>
            <a:endParaRPr lang="en-US" altLang="zh-CN" sz="1600" dirty="0"/>
          </a:p>
          <a:p>
            <a:r>
              <a:rPr lang="en-US" altLang="zh-CN" sz="1600" dirty="0"/>
              <a:t>        temp=a;        </a:t>
            </a:r>
            <a:endParaRPr lang="en-US" altLang="zh-CN" sz="1600" dirty="0"/>
          </a:p>
          <a:p>
            <a:r>
              <a:rPr lang="en-US" altLang="zh-CN" sz="1600" dirty="0"/>
              <a:t>        a=b;</a:t>
            </a:r>
            <a:endParaRPr lang="en-US" altLang="zh-CN" sz="1600" dirty="0"/>
          </a:p>
          <a:p>
            <a:r>
              <a:rPr lang="en-US" altLang="zh-CN" sz="1600" dirty="0"/>
              <a:t>        b=temp;</a:t>
            </a:r>
            <a:endParaRPr lang="en-US" altLang="zh-CN" sz="1600" dirty="0"/>
          </a:p>
          <a:p>
            <a:r>
              <a:rPr lang="en-US" altLang="zh-CN" sz="1600" dirty="0"/>
              <a:t>    }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endParaRPr lang="en-US" altLang="zh-CN" sz="1600" dirty="0"/>
          </a:p>
        </p:txBody>
      </p:sp>
      <p:sp>
        <p:nvSpPr>
          <p:cNvPr id="4" name="矩形 3"/>
          <p:cNvSpPr/>
          <p:nvPr/>
        </p:nvSpPr>
        <p:spPr>
          <a:xfrm>
            <a:off x="2642588" y="886137"/>
            <a:ext cx="316835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  if(a&gt;c)</a:t>
            </a:r>
            <a:endParaRPr lang="en-US" altLang="zh-CN" sz="1600" dirty="0"/>
          </a:p>
          <a:p>
            <a:r>
              <a:rPr lang="en-US" altLang="zh-CN" sz="1600" dirty="0"/>
              <a:t>  {</a:t>
            </a:r>
            <a:endParaRPr lang="en-US" altLang="zh-CN" sz="1600" dirty="0"/>
          </a:p>
          <a:p>
            <a:r>
              <a:rPr lang="en-US" altLang="zh-CN" sz="1600" dirty="0"/>
              <a:t>      temp=a;</a:t>
            </a:r>
            <a:endParaRPr lang="en-US" altLang="zh-CN" sz="1600" dirty="0"/>
          </a:p>
          <a:p>
            <a:r>
              <a:rPr lang="en-US" altLang="zh-CN" sz="1600" dirty="0"/>
              <a:t>      a=c;</a:t>
            </a:r>
            <a:endParaRPr lang="en-US" altLang="zh-CN" sz="1600" dirty="0"/>
          </a:p>
          <a:p>
            <a:r>
              <a:rPr lang="en-US" altLang="zh-CN" sz="1600" dirty="0"/>
              <a:t>     c=temp; </a:t>
            </a:r>
            <a:endParaRPr lang="en-US" altLang="zh-CN" sz="1600" dirty="0"/>
          </a:p>
          <a:p>
            <a:r>
              <a:rPr lang="en-US" altLang="zh-CN" sz="1600" dirty="0"/>
              <a:t>  }</a:t>
            </a:r>
            <a:endParaRPr lang="en-US" altLang="zh-CN" sz="1600" dirty="0"/>
          </a:p>
          <a:p>
            <a:r>
              <a:rPr lang="en-US" altLang="zh-CN" sz="1600" dirty="0"/>
              <a:t>  if(b&gt;c) </a:t>
            </a:r>
            <a:endParaRPr lang="en-US" altLang="zh-CN" sz="1600" dirty="0"/>
          </a:p>
          <a:p>
            <a:r>
              <a:rPr lang="en-US" altLang="zh-CN" sz="1600" dirty="0"/>
              <a:t>  {</a:t>
            </a:r>
            <a:endParaRPr lang="en-US" altLang="zh-CN" sz="1600" dirty="0"/>
          </a:p>
          <a:p>
            <a:r>
              <a:rPr lang="en-US" altLang="zh-CN" sz="1600" dirty="0"/>
              <a:t>      temp=b;</a:t>
            </a:r>
            <a:endParaRPr lang="en-US" altLang="zh-CN" sz="1600" dirty="0"/>
          </a:p>
          <a:p>
            <a:r>
              <a:rPr lang="en-US" altLang="zh-CN" sz="1600" dirty="0"/>
              <a:t>      b=c;</a:t>
            </a:r>
            <a:endParaRPr lang="en-US" altLang="zh-CN" sz="1600" dirty="0"/>
          </a:p>
          <a:p>
            <a:r>
              <a:rPr lang="en-US" altLang="zh-CN" sz="1600" dirty="0"/>
              <a:t>      c=temp; </a:t>
            </a:r>
            <a:endParaRPr lang="en-US" altLang="zh-CN" sz="1600" dirty="0"/>
          </a:p>
          <a:p>
            <a:r>
              <a:rPr lang="en-US" altLang="zh-CN" sz="1600" dirty="0"/>
              <a:t>  }</a:t>
            </a:r>
            <a:endParaRPr lang="en-US" altLang="zh-CN" sz="1600" dirty="0"/>
          </a:p>
          <a:p>
            <a:r>
              <a:rPr lang="en-US" altLang="zh-CN" sz="1600" dirty="0"/>
              <a:t>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&lt;&lt;a&lt;&lt;' '&lt;&lt;b&lt;&lt;' '&lt;&lt;c&lt;&lt;</a:t>
            </a:r>
            <a:r>
              <a:rPr lang="en-US" altLang="zh-CN" sz="1600" dirty="0" err="1"/>
              <a:t>endl</a:t>
            </a:r>
            <a:r>
              <a:rPr lang="en-US" altLang="zh-CN" sz="1600" dirty="0"/>
              <a:t>;	</a:t>
            </a:r>
            <a:endParaRPr lang="en-US" altLang="zh-CN" sz="1600" dirty="0"/>
          </a:p>
          <a:p>
            <a:r>
              <a:rPr lang="zh-CN" altLang="en-US" sz="1600" dirty="0"/>
              <a:t>  </a:t>
            </a:r>
            <a:r>
              <a:rPr lang="en-US" altLang="zh-CN" sz="1600" dirty="0"/>
              <a:t>return 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en-US" altLang="zh-C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5085774" y="1851670"/>
            <a:ext cx="2262158" cy="13388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学习完循环语句后，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可以扩展此算法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对多个数进行排序。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7584" y="3224650"/>
            <a:ext cx="1460000" cy="14643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665" y="555779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8" y="1419622"/>
            <a:ext cx="272013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在计算机工作过程中，若突然停电，（  ）中的信息不会丢失。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ROM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RAM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ROM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RAM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812162" y="555779"/>
            <a:ext cx="3928190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y=0;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&gt;&gt;x;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if(x&lt;0)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y=x;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else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{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y=x*x;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y+=(x+1)*(x+1);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zh-CN" sz="1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&lt;&lt;y;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return 0;</a:t>
            </a:r>
            <a:endParaRPr lang="en-US" altLang="zh-CN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x             y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203057" y="3940661"/>
            <a:ext cx="277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        输入：</a:t>
            </a:r>
            <a:r>
              <a:rPr lang="en-US" altLang="zh-CN" dirty="0"/>
              <a:t>3</a:t>
            </a:r>
            <a:endParaRPr lang="en-US" altLang="zh-CN" dirty="0"/>
          </a:p>
          <a:p>
            <a:r>
              <a:rPr lang="zh-CN" altLang="en-US" dirty="0"/>
              <a:t>         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811998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84843" y="1759124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输入</a:t>
            </a:r>
            <a:r>
              <a:rPr lang="en-US" altLang="zh-CN" sz="1800" b="0" dirty="0">
                <a:solidFill>
                  <a:prstClr val="black"/>
                </a:solidFill>
              </a:rPr>
              <a:t>4</a:t>
            </a:r>
            <a:r>
              <a:rPr lang="zh-CN" altLang="en-US" sz="1800" b="0" dirty="0">
                <a:solidFill>
                  <a:prstClr val="black"/>
                </a:solidFill>
              </a:rPr>
              <a:t>个字母，按照字典顺序输出它们。</a:t>
            </a:r>
            <a:endParaRPr lang="en-US" altLang="zh-CN" sz="1800" b="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8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3707904" y="915566"/>
            <a:ext cx="4680520" cy="34163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其实就是对</a:t>
            </a:r>
            <a:r>
              <a:rPr lang="en-US" altLang="zh-CN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个字母从小到大排序。</a:t>
            </a:r>
            <a:endParaRPr lang="en-US" altLang="zh-CN" sz="1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思路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让第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个字母，分别和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个相比较，若第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个较大，就交换位置。最小的放在了第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个位置。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让第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个字母，分别和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个相比较，若第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个较大，就交换位置。第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个字母也放在了正确的位置。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让第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个和第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个相比较，若第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个较大，就交换位置，第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个字母也放在了正确的位置。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个字母，自然也放在了正确的位置。</a:t>
            </a:r>
            <a:endParaRPr lang="zh-CN" altLang="en-US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</Words>
  <Application>WPS 演示</Application>
  <PresentationFormat>全屏显示(16:9)</PresentationFormat>
  <Paragraphs>112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田忌赛马——3个数排序</vt:lpstr>
      <vt:lpstr>田忌赛马——3个数排序</vt:lpstr>
      <vt:lpstr> </vt:lpstr>
      <vt:lpstr> </vt:lpstr>
      <vt:lpstr>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89</cp:revision>
  <dcterms:created xsi:type="dcterms:W3CDTF">2018-07-03T13:24:00Z</dcterms:created>
  <dcterms:modified xsi:type="dcterms:W3CDTF">2021-04-13T03:02:26Z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