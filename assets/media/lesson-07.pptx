
<file path=[Content_Types].xml><?xml version="1.0" encoding="utf-8"?>
<Types xmlns="http://schemas.openxmlformats.org/package/2006/content-types">
  <Default Extension="jpeg" ContentType="image/jpeg"/>
  <Default Extension="png" ContentType="image/pn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9" r:id="rId3"/>
    <p:sldId id="276" r:id="rId4"/>
    <p:sldId id="283" r:id="rId5"/>
    <p:sldId id="284" r:id="rId6"/>
    <p:sldId id="285" r:id="rId7"/>
    <p:sldId id="275" r:id="rId8"/>
    <p:sldId id="277" r:id="rId9"/>
    <p:sldId id="282" r:id="rId10"/>
    <p:sldId id="268" r:id="rId11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730" y="7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 b="1">
                <a:latin typeface="仿宋" panose="02010609060101010101" pitchFamily="49" charset="-122"/>
                <a:ea typeface="仿宋" panose="02010609060101010101" pitchFamily="49" charset="-122"/>
              </a:defRPr>
            </a:lvl1pPr>
            <a:lvl2pPr>
              <a:defRPr sz="2000" b="1">
                <a:latin typeface="仿宋" panose="02010609060101010101" pitchFamily="49" charset="-122"/>
                <a:ea typeface="仿宋" panose="02010609060101010101" pitchFamily="49" charset="-122"/>
              </a:defRPr>
            </a:lvl2pPr>
            <a:lvl3pPr>
              <a:defRPr sz="1800" b="1">
                <a:latin typeface="仿宋" panose="02010609060101010101" pitchFamily="49" charset="-122"/>
                <a:ea typeface="仿宋" panose="02010609060101010101" pitchFamily="49" charset="-122"/>
              </a:defRPr>
            </a:lvl3pPr>
            <a:lvl4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4pPr>
            <a:lvl5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2" Type="http://schemas.openxmlformats.org/officeDocument/2006/relationships/image" Target="../media/image6.GIF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456" y="771550"/>
            <a:ext cx="5688632" cy="2016973"/>
          </a:xfrm>
          <a:prstGeom prst="rect">
            <a:avLst/>
          </a:prstGeom>
        </p:spPr>
      </p:pic>
      <p:sp>
        <p:nvSpPr>
          <p:cNvPr id="7" name="object 6"/>
          <p:cNvSpPr/>
          <p:nvPr/>
        </p:nvSpPr>
        <p:spPr>
          <a:xfrm>
            <a:off x="755576" y="2139702"/>
            <a:ext cx="7992888" cy="22322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文本框 1"/>
          <p:cNvSpPr txBox="1"/>
          <p:nvPr/>
        </p:nvSpPr>
        <p:spPr>
          <a:xfrm>
            <a:off x="1454912" y="2355726"/>
            <a:ext cx="63367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课时</a:t>
            </a:r>
            <a:endParaRPr lang="zh-CN" altLang="en-US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547664" y="3255826"/>
            <a:ext cx="63367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细胞分裂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复合运算符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2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1560" y="483518"/>
            <a:ext cx="8229600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细胞分裂 </a:t>
            </a:r>
            <a:r>
              <a:rPr lang="en-US" altLang="zh-CN" sz="2400" dirty="0">
                <a:solidFill>
                  <a:srgbClr val="00B0F0"/>
                </a:solidFill>
              </a:rPr>
              <a:t>——</a:t>
            </a:r>
            <a:r>
              <a:rPr lang="zh-CN" altLang="en-US" sz="2400" dirty="0">
                <a:solidFill>
                  <a:srgbClr val="00B0F0"/>
                </a:solidFill>
              </a:rPr>
              <a:t>复合运算符</a:t>
            </a:r>
            <a:endParaRPr lang="zh-CN" altLang="en-US" sz="2400" dirty="0">
              <a:solidFill>
                <a:srgbClr val="00B0F0"/>
              </a:solidFill>
            </a:endParaRPr>
          </a:p>
        </p:txBody>
      </p:sp>
      <p:sp>
        <p:nvSpPr>
          <p:cNvPr id="8" name="矩形: 圆角 4"/>
          <p:cNvSpPr>
            <a:spLocks noChangeArrowheads="1"/>
          </p:cNvSpPr>
          <p:nvPr/>
        </p:nvSpPr>
        <p:spPr bwMode="auto">
          <a:xfrm>
            <a:off x="1903537" y="1923678"/>
            <a:ext cx="3244527" cy="178900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9525">
            <a:solidFill>
              <a:srgbClr val="000000"/>
            </a:solidFill>
            <a:rou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indent="756285" algn="just">
              <a:spcAft>
                <a:spcPts val="0"/>
              </a:spcAft>
            </a:pPr>
            <a:r>
              <a:rPr lang="en-US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个细胞，第</a:t>
            </a:r>
            <a:r>
              <a:rPr lang="en-US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次分裂成</a:t>
            </a:r>
            <a:r>
              <a:rPr lang="en-US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个，第</a:t>
            </a:r>
            <a:r>
              <a:rPr lang="en-US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次</a:t>
            </a:r>
            <a:r>
              <a:rPr lang="en-US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个分裂成</a:t>
            </a:r>
            <a:r>
              <a:rPr lang="en-US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4</a:t>
            </a:r>
            <a:r>
              <a:rPr 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个，……，请你编一程序，算一下第</a:t>
            </a:r>
            <a:r>
              <a:rPr lang="en-US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5</a:t>
            </a:r>
            <a:r>
              <a:rPr 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次分裂成几个？</a:t>
            </a:r>
            <a:endParaRPr lang="zh-CN" sz="200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612563" y="1694909"/>
            <a:ext cx="2840192" cy="2017769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48229" y="1727898"/>
            <a:ext cx="2768860" cy="1994629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9794" y="3590286"/>
            <a:ext cx="1100979" cy="11009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图片 2" descr="图片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" y="2484120"/>
            <a:ext cx="1660108" cy="1666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矩形 2"/>
          <p:cNvSpPr/>
          <p:nvPr/>
        </p:nvSpPr>
        <p:spPr>
          <a:xfrm>
            <a:off x="4283968" y="964834"/>
            <a:ext cx="2358008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altLang="zh-CN" dirty="0"/>
              <a:t>#include&lt;iostream&gt;</a:t>
            </a:r>
            <a:endParaRPr lang="pt-BR" altLang="zh-CN" dirty="0"/>
          </a:p>
          <a:p>
            <a:r>
              <a:rPr lang="pt-BR" altLang="zh-CN" dirty="0"/>
              <a:t>using namespace std;</a:t>
            </a:r>
            <a:endParaRPr lang="pt-BR" altLang="zh-CN" dirty="0"/>
          </a:p>
          <a:p>
            <a:r>
              <a:rPr lang="pt-BR" altLang="zh-CN" dirty="0"/>
              <a:t>int main()</a:t>
            </a:r>
            <a:endParaRPr lang="pt-BR" altLang="zh-CN" dirty="0"/>
          </a:p>
          <a:p>
            <a:r>
              <a:rPr lang="pt-BR" altLang="zh-CN" dirty="0"/>
              <a:t>{</a:t>
            </a:r>
            <a:endParaRPr lang="pt-BR" altLang="zh-CN" dirty="0"/>
          </a:p>
          <a:p>
            <a:r>
              <a:rPr lang="pt-BR" altLang="zh-CN" dirty="0"/>
              <a:t>    int  n=1;</a:t>
            </a:r>
            <a:endParaRPr lang="pt-BR" altLang="zh-CN" dirty="0"/>
          </a:p>
          <a:p>
            <a:r>
              <a:rPr lang="pt-BR" altLang="zh-CN" dirty="0"/>
              <a:t>    n=n*2;</a:t>
            </a:r>
            <a:endParaRPr lang="pt-BR" altLang="zh-CN" dirty="0"/>
          </a:p>
          <a:p>
            <a:r>
              <a:rPr lang="pt-BR" altLang="zh-CN" dirty="0"/>
              <a:t>    n=n*2;</a:t>
            </a:r>
            <a:endParaRPr lang="pt-BR" altLang="zh-CN" dirty="0"/>
          </a:p>
          <a:p>
            <a:r>
              <a:rPr lang="pt-BR" altLang="zh-CN" dirty="0"/>
              <a:t>    n*=2;</a:t>
            </a:r>
            <a:endParaRPr lang="pt-BR" altLang="zh-CN" dirty="0"/>
          </a:p>
          <a:p>
            <a:r>
              <a:rPr lang="pt-BR" altLang="zh-CN" dirty="0"/>
              <a:t>    n*=2;</a:t>
            </a:r>
            <a:endParaRPr lang="pt-BR" altLang="zh-CN" dirty="0"/>
          </a:p>
          <a:p>
            <a:r>
              <a:rPr lang="pt-BR" altLang="zh-CN" dirty="0"/>
              <a:t>    n*=2;</a:t>
            </a:r>
            <a:endParaRPr lang="pt-BR" altLang="zh-CN" dirty="0"/>
          </a:p>
          <a:p>
            <a:r>
              <a:rPr lang="pt-BR" altLang="zh-CN" dirty="0"/>
              <a:t>    cout&lt;&lt;n&lt;&lt;endl;</a:t>
            </a:r>
            <a:endParaRPr lang="pt-BR" altLang="zh-CN" dirty="0"/>
          </a:p>
          <a:p>
            <a:r>
              <a:rPr lang="pt-BR" altLang="zh-CN" dirty="0"/>
              <a:t>    return 0;</a:t>
            </a:r>
            <a:endParaRPr lang="pt-BR" altLang="zh-CN" dirty="0"/>
          </a:p>
          <a:p>
            <a:r>
              <a:rPr lang="pt-BR" altLang="zh-CN" dirty="0"/>
              <a:t>}</a:t>
            </a:r>
            <a:endParaRPr lang="pt-BR" altLang="zh-CN" dirty="0"/>
          </a:p>
        </p:txBody>
      </p:sp>
      <p:sp>
        <p:nvSpPr>
          <p:cNvPr id="11" name="矩形 10"/>
          <p:cNvSpPr/>
          <p:nvPr/>
        </p:nvSpPr>
        <p:spPr>
          <a:xfrm>
            <a:off x="1930173" y="1507290"/>
            <a:ext cx="1804333" cy="26084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altLang="zh-CN" sz="2800" dirty="0">
                <a:latin typeface="Consolas" panose="020B0609020204030204" pitchFamily="49" charset="0"/>
                <a:ea typeface="楷体" panose="02010609060101010101" pitchFamily="49" charset="-122"/>
                <a:cs typeface="Calibri" panose="020F0502020204030204" pitchFamily="34" charset="0"/>
              </a:rPr>
              <a:t>int n=1;</a:t>
            </a:r>
            <a:endParaRPr lang="pt-BR" altLang="zh-CN" sz="2800" dirty="0">
              <a:latin typeface="Consolas" panose="020B0609020204030204" pitchFamily="49" charset="0"/>
              <a:ea typeface="楷体" panose="02010609060101010101" pitchFamily="49" charset="-122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altLang="zh-CN" sz="2800" dirty="0">
                <a:latin typeface="Consolas" panose="020B0609020204030204" pitchFamily="49" charset="0"/>
                <a:ea typeface="楷体" panose="02010609060101010101" pitchFamily="49" charset="-122"/>
                <a:cs typeface="Calibri" panose="020F0502020204030204" pitchFamily="34" charset="0"/>
              </a:rPr>
              <a:t>n=n*2;</a:t>
            </a:r>
            <a:endParaRPr lang="pt-BR" altLang="zh-CN" sz="2800" dirty="0">
              <a:latin typeface="Consolas" panose="020B0609020204030204" pitchFamily="49" charset="0"/>
              <a:ea typeface="楷体" panose="02010609060101010101" pitchFamily="49" charset="-122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altLang="zh-CN" sz="2800" dirty="0">
                <a:latin typeface="Consolas" panose="020B0609020204030204" pitchFamily="49" charset="0"/>
                <a:ea typeface="楷体" panose="02010609060101010101" pitchFamily="49" charset="-122"/>
                <a:cs typeface="Calibri" panose="020F0502020204030204" pitchFamily="34" charset="0"/>
              </a:rPr>
              <a:t>n=n*2;</a:t>
            </a:r>
            <a:endParaRPr lang="pt-BR" altLang="zh-CN" sz="2800" dirty="0">
              <a:latin typeface="Consolas" panose="020B0609020204030204" pitchFamily="49" charset="0"/>
              <a:ea typeface="楷体" panose="02010609060101010101" pitchFamily="49" charset="-122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endParaRPr lang="nn-NO" altLang="zh-CN" sz="2800" dirty="0">
              <a:latin typeface="Consolas" panose="020B0609020204030204" pitchFamily="49" charset="0"/>
              <a:ea typeface="楷体" panose="02010609060101010101" pitchFamily="49" charset="-122"/>
              <a:cs typeface="Calibri" panose="020F050202020403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0198" y="3076312"/>
            <a:ext cx="1601543" cy="1611809"/>
          </a:xfrm>
          <a:prstGeom prst="rect">
            <a:avLst/>
          </a:prstGeom>
        </p:spPr>
      </p:pic>
      <p:pic>
        <p:nvPicPr>
          <p:cNvPr id="2" name="图片 1" descr="图片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490" y="2737485"/>
            <a:ext cx="1661160" cy="16675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矩形 2"/>
          <p:cNvSpPr/>
          <p:nvPr/>
        </p:nvSpPr>
        <p:spPr>
          <a:xfrm>
            <a:off x="3963443" y="964834"/>
            <a:ext cx="2358008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altLang="zh-CN" dirty="0"/>
              <a:t>#include&lt;iostream&gt;</a:t>
            </a:r>
            <a:endParaRPr lang="pt-BR" altLang="zh-CN" dirty="0"/>
          </a:p>
          <a:p>
            <a:r>
              <a:rPr lang="pt-BR" altLang="zh-CN" dirty="0"/>
              <a:t>using namespace std;</a:t>
            </a:r>
            <a:endParaRPr lang="pt-BR" altLang="zh-CN" dirty="0"/>
          </a:p>
          <a:p>
            <a:r>
              <a:rPr lang="pt-BR" altLang="zh-CN" dirty="0"/>
              <a:t>int main()</a:t>
            </a:r>
            <a:endParaRPr lang="pt-BR" altLang="zh-CN" dirty="0"/>
          </a:p>
          <a:p>
            <a:r>
              <a:rPr lang="pt-BR" altLang="zh-CN" dirty="0"/>
              <a:t>{</a:t>
            </a:r>
            <a:endParaRPr lang="pt-BR" altLang="zh-CN" dirty="0"/>
          </a:p>
          <a:p>
            <a:r>
              <a:rPr lang="pt-BR" altLang="zh-CN" dirty="0"/>
              <a:t>    int  n=1;</a:t>
            </a:r>
            <a:endParaRPr lang="pt-BR" altLang="zh-CN" dirty="0"/>
          </a:p>
          <a:p>
            <a:r>
              <a:rPr lang="pt-BR" altLang="zh-CN" dirty="0"/>
              <a:t>    n=n*2;</a:t>
            </a:r>
            <a:endParaRPr lang="pt-BR" altLang="zh-CN" dirty="0"/>
          </a:p>
          <a:p>
            <a:r>
              <a:rPr lang="pt-BR" altLang="zh-CN" dirty="0"/>
              <a:t>    n=n*2;</a:t>
            </a:r>
            <a:endParaRPr lang="pt-BR" altLang="zh-CN" dirty="0"/>
          </a:p>
          <a:p>
            <a:r>
              <a:rPr lang="pt-BR" altLang="zh-CN" dirty="0"/>
              <a:t>    n*=2;</a:t>
            </a:r>
            <a:endParaRPr lang="pt-BR" altLang="zh-CN" dirty="0"/>
          </a:p>
          <a:p>
            <a:r>
              <a:rPr lang="pt-BR" altLang="zh-CN" dirty="0"/>
              <a:t>    n*=2;</a:t>
            </a:r>
            <a:endParaRPr lang="pt-BR" altLang="zh-CN" dirty="0"/>
          </a:p>
          <a:p>
            <a:r>
              <a:rPr lang="pt-BR" altLang="zh-CN" dirty="0"/>
              <a:t>    n*=2;</a:t>
            </a:r>
            <a:endParaRPr lang="pt-BR" altLang="zh-CN" dirty="0"/>
          </a:p>
          <a:p>
            <a:r>
              <a:rPr lang="pt-BR" altLang="zh-CN" dirty="0"/>
              <a:t>    cout&lt;&lt;n&lt;&lt;endl;</a:t>
            </a:r>
            <a:endParaRPr lang="pt-BR" altLang="zh-CN" dirty="0"/>
          </a:p>
          <a:p>
            <a:r>
              <a:rPr lang="pt-BR" altLang="zh-CN" dirty="0"/>
              <a:t>    return 0;</a:t>
            </a:r>
            <a:endParaRPr lang="pt-BR" altLang="zh-CN" dirty="0"/>
          </a:p>
          <a:p>
            <a:r>
              <a:rPr lang="pt-BR" altLang="zh-CN" dirty="0"/>
              <a:t>}</a:t>
            </a:r>
            <a:endParaRPr lang="pt-BR" altLang="zh-CN" dirty="0"/>
          </a:p>
        </p:txBody>
      </p:sp>
      <p:sp>
        <p:nvSpPr>
          <p:cNvPr id="6" name="矩形 5"/>
          <p:cNvSpPr/>
          <p:nvPr/>
        </p:nvSpPr>
        <p:spPr>
          <a:xfrm>
            <a:off x="2267744" y="2840824"/>
            <a:ext cx="111921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600" dirty="0"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</a:rPr>
              <a:t>n</a:t>
            </a:r>
            <a:r>
              <a:rPr lang="en-US" altLang="zh-CN" sz="3600" dirty="0">
                <a:solidFill>
                  <a:srgbClr val="FF0000"/>
                </a:solidFill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</a:rPr>
              <a:t>*=</a:t>
            </a:r>
            <a:r>
              <a:rPr lang="en-US" altLang="zh-CN" sz="3600" dirty="0"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</a:rPr>
              <a:t>2</a:t>
            </a:r>
            <a:endParaRPr lang="zh-CN" altLang="en-US" sz="3600" dirty="0"/>
          </a:p>
        </p:txBody>
      </p:sp>
      <p:sp>
        <p:nvSpPr>
          <p:cNvPr id="8" name="矩形 7"/>
          <p:cNvSpPr/>
          <p:nvPr/>
        </p:nvSpPr>
        <p:spPr>
          <a:xfrm>
            <a:off x="2200285" y="1923678"/>
            <a:ext cx="148470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600" dirty="0"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</a:rPr>
              <a:t>n=n*2;</a:t>
            </a:r>
            <a:endParaRPr lang="en-US" altLang="zh-CN" sz="3600" dirty="0">
              <a:latin typeface="Calibri" panose="020F0502020204030204" pitchFamily="34" charset="0"/>
              <a:ea typeface="楷体" panose="02010609060101010101" pitchFamily="49" charset="-122"/>
              <a:cs typeface="Calibri" panose="020F0502020204030204" pitchFamily="34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336" y="3580368"/>
            <a:ext cx="1087388" cy="1087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图片 1" descr="图片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" y="2569845"/>
            <a:ext cx="1660079" cy="1666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1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932040" y="1105456"/>
            <a:ext cx="3300904" cy="175432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dirty="0">
                <a:latin typeface="+mn-ea"/>
              </a:rPr>
              <a:t>复合运算符： </a:t>
            </a:r>
            <a:r>
              <a:rPr lang="en-US" altLang="zh-CN" dirty="0">
                <a:latin typeface="+mn-ea"/>
              </a:rPr>
              <a:t>+=</a:t>
            </a:r>
            <a:r>
              <a:rPr lang="zh-CN" altLang="en-US" dirty="0">
                <a:latin typeface="+mn-ea"/>
              </a:rPr>
              <a:t>、</a:t>
            </a:r>
            <a:r>
              <a:rPr lang="en-US" altLang="zh-CN" dirty="0">
                <a:latin typeface="+mn-ea"/>
              </a:rPr>
              <a:t>-=</a:t>
            </a:r>
            <a:r>
              <a:rPr lang="zh-CN" altLang="en-US" dirty="0">
                <a:latin typeface="+mn-ea"/>
              </a:rPr>
              <a:t>、*</a:t>
            </a:r>
            <a:r>
              <a:rPr lang="en-US" altLang="zh-CN" dirty="0">
                <a:latin typeface="+mn-ea"/>
              </a:rPr>
              <a:t>=</a:t>
            </a:r>
            <a:r>
              <a:rPr lang="zh-CN" altLang="en-US" dirty="0">
                <a:latin typeface="+mn-ea"/>
              </a:rPr>
              <a:t>、</a:t>
            </a:r>
            <a:r>
              <a:rPr lang="en-US" altLang="zh-CN" dirty="0">
                <a:latin typeface="+mn-ea"/>
              </a:rPr>
              <a:t>/=</a:t>
            </a:r>
            <a:endParaRPr lang="en-US" altLang="zh-CN" dirty="0">
              <a:latin typeface="+mn-ea"/>
            </a:endParaRPr>
          </a:p>
          <a:p>
            <a:endParaRPr lang="en-US" altLang="zh-CN" dirty="0">
              <a:latin typeface="+mn-ea"/>
            </a:endParaRPr>
          </a:p>
          <a:p>
            <a:r>
              <a:rPr lang="en-US" altLang="zh-CN" dirty="0">
                <a:latin typeface="+mn-ea"/>
              </a:rPr>
              <a:t>s+=i     </a:t>
            </a:r>
            <a:r>
              <a:rPr lang="zh-CN" altLang="en-US" dirty="0">
                <a:latin typeface="+mn-ea"/>
              </a:rPr>
              <a:t>等同于  </a:t>
            </a:r>
            <a:r>
              <a:rPr lang="en-US" altLang="zh-CN" dirty="0">
                <a:latin typeface="+mn-ea"/>
              </a:rPr>
              <a:t>s=</a:t>
            </a:r>
            <a:r>
              <a:rPr lang="en-US" altLang="zh-CN" dirty="0" err="1">
                <a:latin typeface="+mn-ea"/>
              </a:rPr>
              <a:t>s+i</a:t>
            </a:r>
            <a:endParaRPr lang="en-US" altLang="zh-CN" dirty="0">
              <a:latin typeface="+mn-ea"/>
            </a:endParaRPr>
          </a:p>
          <a:p>
            <a:r>
              <a:rPr lang="en-US" altLang="zh-CN" dirty="0">
                <a:latin typeface="+mn-ea"/>
              </a:rPr>
              <a:t>s-=i     </a:t>
            </a:r>
            <a:r>
              <a:rPr lang="zh-CN" altLang="en-US" dirty="0">
                <a:latin typeface="+mn-ea"/>
              </a:rPr>
              <a:t>等同于  </a:t>
            </a:r>
            <a:r>
              <a:rPr lang="en-US" altLang="zh-CN" dirty="0">
                <a:latin typeface="+mn-ea"/>
              </a:rPr>
              <a:t>s=s-i</a:t>
            </a:r>
            <a:endParaRPr lang="en-US" altLang="zh-CN" dirty="0">
              <a:latin typeface="+mn-ea"/>
            </a:endParaRPr>
          </a:p>
          <a:p>
            <a:r>
              <a:rPr lang="en-US" altLang="zh-CN" dirty="0">
                <a:latin typeface="+mn-ea"/>
              </a:rPr>
              <a:t>s*=i     </a:t>
            </a:r>
            <a:r>
              <a:rPr lang="zh-CN" altLang="en-US" dirty="0">
                <a:latin typeface="+mn-ea"/>
              </a:rPr>
              <a:t>等同于  </a:t>
            </a:r>
            <a:r>
              <a:rPr lang="en-US" altLang="zh-CN" dirty="0">
                <a:latin typeface="+mn-ea"/>
              </a:rPr>
              <a:t>s=s*i</a:t>
            </a:r>
            <a:endParaRPr lang="en-US" altLang="zh-CN" dirty="0">
              <a:latin typeface="+mn-ea"/>
            </a:endParaRPr>
          </a:p>
          <a:p>
            <a:r>
              <a:rPr lang="en-US" altLang="zh-CN" dirty="0">
                <a:latin typeface="+mn-ea"/>
              </a:rPr>
              <a:t>s/=i     </a:t>
            </a:r>
            <a:r>
              <a:rPr lang="zh-CN" altLang="en-US" dirty="0">
                <a:latin typeface="+mn-ea"/>
              </a:rPr>
              <a:t>等同于  </a:t>
            </a:r>
            <a:r>
              <a:rPr lang="en-US" altLang="zh-CN" dirty="0">
                <a:latin typeface="+mn-ea"/>
              </a:rPr>
              <a:t>s=s/i</a:t>
            </a:r>
            <a:endParaRPr lang="en-US" altLang="zh-CN" dirty="0">
              <a:latin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55410" y="1243662"/>
            <a:ext cx="3867683" cy="3416320"/>
            <a:chOff x="355410" y="1243662"/>
            <a:chExt cx="3867683" cy="3416320"/>
          </a:xfrm>
        </p:grpSpPr>
        <p:sp>
          <p:nvSpPr>
            <p:cNvPr id="4" name="矩形 3"/>
            <p:cNvSpPr/>
            <p:nvPr/>
          </p:nvSpPr>
          <p:spPr>
            <a:xfrm>
              <a:off x="355410" y="2067694"/>
              <a:ext cx="2200365" cy="258532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pt-BR" altLang="zh-CN" dirty="0"/>
                <a:t>   int  n=1;       ..........</a:t>
              </a:r>
              <a:endParaRPr lang="pt-BR" altLang="zh-CN" dirty="0"/>
            </a:p>
            <a:p>
              <a:pPr>
                <a:lnSpc>
                  <a:spcPct val="150000"/>
                </a:lnSpc>
              </a:pPr>
              <a:r>
                <a:rPr lang="pt-BR" altLang="zh-CN" dirty="0"/>
                <a:t>    n=n*2;        ..........</a:t>
              </a:r>
              <a:endParaRPr lang="pt-BR" altLang="zh-CN" dirty="0"/>
            </a:p>
            <a:p>
              <a:pPr>
                <a:lnSpc>
                  <a:spcPct val="150000"/>
                </a:lnSpc>
              </a:pPr>
              <a:r>
                <a:rPr lang="pt-BR" altLang="zh-CN" dirty="0"/>
                <a:t>    n=n*2;	       ..........</a:t>
              </a:r>
              <a:endParaRPr lang="pt-BR" altLang="zh-CN" dirty="0"/>
            </a:p>
            <a:p>
              <a:pPr>
                <a:lnSpc>
                  <a:spcPct val="150000"/>
                </a:lnSpc>
              </a:pPr>
              <a:r>
                <a:rPr lang="pt-BR" altLang="zh-CN" dirty="0"/>
                <a:t>    n*=2;          ..........</a:t>
              </a:r>
              <a:endParaRPr lang="pt-BR" altLang="zh-CN" dirty="0"/>
            </a:p>
            <a:p>
              <a:pPr>
                <a:lnSpc>
                  <a:spcPct val="150000"/>
                </a:lnSpc>
              </a:pPr>
              <a:r>
                <a:rPr lang="pt-BR" altLang="zh-CN" dirty="0"/>
                <a:t>    n*=2;          ..........</a:t>
              </a:r>
              <a:endParaRPr lang="pt-BR" altLang="zh-CN" dirty="0"/>
            </a:p>
            <a:p>
              <a:pPr>
                <a:lnSpc>
                  <a:spcPct val="150000"/>
                </a:lnSpc>
              </a:pPr>
              <a:r>
                <a:rPr lang="pt-BR" altLang="zh-CN" dirty="0"/>
                <a:t>    n*=2;          ..........</a:t>
              </a:r>
              <a:endParaRPr lang="zh-CN" altLang="en-US" dirty="0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2627784" y="1243662"/>
              <a:ext cx="1595309" cy="34163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dirty="0"/>
                <a:t>n     =   n  *  2</a:t>
              </a:r>
              <a:endParaRPr lang="en-US" altLang="zh-CN" dirty="0"/>
            </a:p>
            <a:p>
              <a:pPr>
                <a:lnSpc>
                  <a:spcPct val="150000"/>
                </a:lnSpc>
              </a:pPr>
              <a:r>
                <a:rPr lang="en-US" altLang="zh-CN" dirty="0"/>
                <a:t>--------------------</a:t>
              </a:r>
              <a:endParaRPr lang="en-US" altLang="zh-CN" dirty="0"/>
            </a:p>
            <a:p>
              <a:pPr>
                <a:lnSpc>
                  <a:spcPct val="150000"/>
                </a:lnSpc>
              </a:pPr>
              <a:r>
                <a:rPr lang="en-US" altLang="zh-CN" dirty="0"/>
                <a:t>             1</a:t>
              </a:r>
              <a:endParaRPr lang="en-US" altLang="zh-CN" dirty="0"/>
            </a:p>
            <a:p>
              <a:pPr>
                <a:lnSpc>
                  <a:spcPct val="150000"/>
                </a:lnSpc>
              </a:pPr>
              <a:r>
                <a:rPr lang="en-US" altLang="zh-CN" dirty="0"/>
                <a:t>n  </a:t>
              </a:r>
              <a:r>
                <a:rPr lang="en-US" altLang="zh-CN" dirty="0">
                  <a:sym typeface="Wingdings" panose="05000000000000000000" pitchFamily="2" charset="2"/>
                </a:rPr>
                <a:t>    </a:t>
              </a:r>
              <a:r>
                <a:rPr lang="en-US" altLang="zh-CN" u="sng" dirty="0">
                  <a:solidFill>
                    <a:srgbClr val="C00000"/>
                  </a:solidFill>
                  <a:sym typeface="Wingdings" panose="05000000000000000000" pitchFamily="2" charset="2"/>
                </a:rPr>
                <a:t>1</a:t>
              </a:r>
              <a:r>
                <a:rPr lang="en-US" altLang="zh-CN" dirty="0">
                  <a:sym typeface="Wingdings" panose="05000000000000000000" pitchFamily="2" charset="2"/>
                </a:rPr>
                <a:t>  *  2</a:t>
              </a:r>
              <a:endParaRPr lang="en-US" altLang="zh-CN" dirty="0">
                <a:sym typeface="Wingdings" panose="05000000000000000000" pitchFamily="2" charset="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dirty="0"/>
                <a:t>n  </a:t>
              </a:r>
              <a:r>
                <a:rPr lang="en-US" altLang="zh-CN" dirty="0">
                  <a:sym typeface="Wingdings" panose="05000000000000000000" pitchFamily="2" charset="2"/>
                </a:rPr>
                <a:t>    </a:t>
              </a:r>
              <a:r>
                <a:rPr lang="en-US" altLang="zh-CN" u="sng" dirty="0">
                  <a:solidFill>
                    <a:srgbClr val="C00000"/>
                  </a:solidFill>
                  <a:sym typeface="Wingdings" panose="05000000000000000000" pitchFamily="2" charset="2"/>
                </a:rPr>
                <a:t>2</a:t>
              </a:r>
              <a:r>
                <a:rPr lang="en-US" altLang="zh-CN" dirty="0">
                  <a:sym typeface="Wingdings" panose="05000000000000000000" pitchFamily="2" charset="2"/>
                </a:rPr>
                <a:t>  *  2</a:t>
              </a:r>
              <a:endParaRPr lang="en-US" altLang="zh-CN" dirty="0">
                <a:sym typeface="Wingdings" panose="05000000000000000000" pitchFamily="2" charset="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dirty="0"/>
                <a:t>n  </a:t>
              </a:r>
              <a:r>
                <a:rPr lang="en-US" altLang="zh-CN" dirty="0">
                  <a:sym typeface="Wingdings" panose="05000000000000000000" pitchFamily="2" charset="2"/>
                </a:rPr>
                <a:t>    </a:t>
              </a:r>
              <a:r>
                <a:rPr lang="en-US" altLang="zh-CN" u="sng" dirty="0">
                  <a:solidFill>
                    <a:srgbClr val="C00000"/>
                  </a:solidFill>
                  <a:sym typeface="Wingdings" panose="05000000000000000000" pitchFamily="2" charset="2"/>
                </a:rPr>
                <a:t>4</a:t>
              </a:r>
              <a:r>
                <a:rPr lang="en-US" altLang="zh-CN" dirty="0">
                  <a:sym typeface="Wingdings" panose="05000000000000000000" pitchFamily="2" charset="2"/>
                </a:rPr>
                <a:t>  *  2</a:t>
              </a:r>
              <a:endParaRPr lang="en-US" altLang="zh-CN" dirty="0">
                <a:sym typeface="Wingdings" panose="05000000000000000000" pitchFamily="2" charset="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dirty="0"/>
                <a:t>n  </a:t>
              </a:r>
              <a:r>
                <a:rPr lang="en-US" altLang="zh-CN" dirty="0">
                  <a:sym typeface="Wingdings" panose="05000000000000000000" pitchFamily="2" charset="2"/>
                </a:rPr>
                <a:t>    </a:t>
              </a:r>
              <a:r>
                <a:rPr lang="en-US" altLang="zh-CN" u="sng" dirty="0">
                  <a:solidFill>
                    <a:srgbClr val="C00000"/>
                  </a:solidFill>
                  <a:sym typeface="Wingdings" panose="05000000000000000000" pitchFamily="2" charset="2"/>
                </a:rPr>
                <a:t>8</a:t>
              </a:r>
              <a:r>
                <a:rPr lang="en-US" altLang="zh-CN" dirty="0">
                  <a:sym typeface="Wingdings" panose="05000000000000000000" pitchFamily="2" charset="2"/>
                </a:rPr>
                <a:t>  *  2</a:t>
              </a:r>
              <a:endParaRPr lang="en-US" altLang="zh-CN" dirty="0">
                <a:sym typeface="Wingdings" panose="05000000000000000000" pitchFamily="2" charset="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dirty="0"/>
                <a:t>n  </a:t>
              </a:r>
              <a:r>
                <a:rPr lang="en-US" altLang="zh-CN" dirty="0">
                  <a:sym typeface="Wingdings" panose="05000000000000000000" pitchFamily="2" charset="2"/>
                </a:rPr>
                <a:t>  </a:t>
              </a:r>
              <a:r>
                <a:rPr lang="en-US" altLang="zh-CN" u="sng" dirty="0">
                  <a:solidFill>
                    <a:srgbClr val="C00000"/>
                  </a:solidFill>
                  <a:sym typeface="Wingdings" panose="05000000000000000000" pitchFamily="2" charset="2"/>
                </a:rPr>
                <a:t>16</a:t>
              </a:r>
              <a:r>
                <a:rPr lang="en-US" altLang="zh-CN" dirty="0">
                  <a:sym typeface="Wingdings" panose="05000000000000000000" pitchFamily="2" charset="2"/>
                </a:rPr>
                <a:t>  *  2</a:t>
              </a:r>
              <a:endParaRPr lang="zh-CN" altLang="en-US" dirty="0"/>
            </a:p>
          </p:txBody>
        </p:sp>
      </p:grpSp>
      <p:pic>
        <p:nvPicPr>
          <p:cNvPr id="2" name="图片 1" descr="图片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6424295" y="3044825"/>
            <a:ext cx="1660206" cy="1666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5168" y="630006"/>
            <a:ext cx="8229600" cy="857250"/>
          </a:xfrm>
        </p:spPr>
        <p:txBody>
          <a:bodyPr>
            <a:normAutofit/>
          </a:bodyPr>
          <a:lstStyle/>
          <a:p>
            <a:r>
              <a:rPr lang="zh-CN" altLang="en-US" dirty="0">
                <a:solidFill>
                  <a:srgbClr val="00B0F0"/>
                </a:solidFill>
              </a:rPr>
              <a:t>编程小词典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1568" y="1540726"/>
            <a:ext cx="7416824" cy="2958976"/>
          </a:xfrm>
        </p:spPr>
        <p:txBody>
          <a:bodyPr>
            <a:noAutofit/>
          </a:bodyPr>
          <a:lstStyle/>
          <a:p>
            <a:pPr lvl="1"/>
            <a:r>
              <a:rPr lang="en-US" altLang="zh-CN" sz="2400" dirty="0"/>
              <a:t>include  </a:t>
            </a:r>
            <a:r>
              <a:rPr lang="zh-CN" altLang="en-US" sz="2400" dirty="0"/>
              <a:t>包含，包括</a:t>
            </a:r>
            <a:endParaRPr lang="en-US" altLang="zh-CN" sz="2400" dirty="0"/>
          </a:p>
          <a:p>
            <a:pPr lvl="1"/>
            <a:r>
              <a:rPr lang="en-US" altLang="zh-CN" sz="2400" dirty="0" err="1"/>
              <a:t>iostream</a:t>
            </a:r>
            <a:r>
              <a:rPr lang="en-US" altLang="zh-CN" sz="2400" dirty="0"/>
              <a:t>  </a:t>
            </a:r>
            <a:r>
              <a:rPr lang="zh-CN" altLang="en-US" sz="2400" dirty="0"/>
              <a:t>输入输出流</a:t>
            </a:r>
            <a:endParaRPr lang="en-US" altLang="zh-CN" sz="2400" dirty="0"/>
          </a:p>
          <a:p>
            <a:pPr lvl="1"/>
            <a:r>
              <a:rPr lang="en-US" altLang="zh-CN" sz="2400" dirty="0"/>
              <a:t>using  </a:t>
            </a:r>
            <a:r>
              <a:rPr lang="zh-CN" altLang="en-US" sz="2400" dirty="0"/>
              <a:t>使用</a:t>
            </a:r>
            <a:endParaRPr lang="en-US" altLang="zh-CN" sz="2400" dirty="0"/>
          </a:p>
          <a:p>
            <a:pPr lvl="1"/>
            <a:r>
              <a:rPr lang="en-US" altLang="zh-CN" sz="2400" dirty="0"/>
              <a:t>namespace  </a:t>
            </a:r>
            <a:r>
              <a:rPr lang="zh-CN" altLang="en-US" sz="2400" dirty="0"/>
              <a:t>命名空间</a:t>
            </a:r>
            <a:endParaRPr lang="en-US" altLang="zh-CN" sz="2400" dirty="0"/>
          </a:p>
          <a:p>
            <a:pPr lvl="1"/>
            <a:r>
              <a:rPr lang="en-US" altLang="zh-CN" sz="2400" dirty="0" err="1"/>
              <a:t>std</a:t>
            </a:r>
            <a:r>
              <a:rPr lang="en-US" altLang="zh-CN" sz="2400" dirty="0"/>
              <a:t>  standard</a:t>
            </a:r>
            <a:r>
              <a:rPr lang="zh-CN" altLang="en-US" sz="2400" dirty="0"/>
              <a:t>的缩写，标准的</a:t>
            </a:r>
            <a:endParaRPr lang="en-US" altLang="zh-CN" sz="2400" dirty="0"/>
          </a:p>
          <a:p>
            <a:pPr lvl="1"/>
            <a:r>
              <a:rPr lang="en-US" altLang="zh-CN" sz="2400" dirty="0" err="1"/>
              <a:t>cout</a:t>
            </a:r>
            <a:r>
              <a:rPr lang="en-US" altLang="zh-CN" sz="2400" dirty="0"/>
              <a:t>  </a:t>
            </a:r>
            <a:r>
              <a:rPr lang="zh-CN" altLang="en-US" sz="2400" dirty="0"/>
              <a:t>输出流</a:t>
            </a:r>
            <a:endParaRPr lang="en-US" altLang="zh-CN" sz="2400" dirty="0"/>
          </a:p>
          <a:p>
            <a:pPr lvl="1"/>
            <a:r>
              <a:rPr lang="en-US" altLang="zh-CN" sz="2400" dirty="0" err="1"/>
              <a:t>endl</a:t>
            </a:r>
            <a:r>
              <a:rPr lang="en-US" altLang="zh-CN" sz="2400" dirty="0"/>
              <a:t>  end line</a:t>
            </a:r>
            <a:r>
              <a:rPr lang="zh-CN" altLang="en-US" sz="2400" dirty="0"/>
              <a:t>的缩写，换行</a:t>
            </a:r>
            <a:endParaRPr lang="en-US" altLang="zh-CN" sz="2400" dirty="0"/>
          </a:p>
          <a:p>
            <a:pPr marL="457200" lvl="1" indent="0">
              <a:buNone/>
            </a:pPr>
            <a:endParaRPr lang="zh-CN" altLang="en-US" sz="1600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8915" y="3031937"/>
            <a:ext cx="1493649" cy="1591194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5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278148" y="705659"/>
            <a:ext cx="4176464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牛刀“小”试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386457" y="705263"/>
            <a:ext cx="4936302" cy="2736304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altLang="zh-CN" sz="2000" dirty="0"/>
              <a:t>2</a:t>
            </a:r>
            <a:r>
              <a:rPr lang="zh-CN" altLang="en-US" sz="2000" dirty="0"/>
              <a:t>、阅读程序写结果。</a:t>
            </a: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                   输出</a:t>
            </a:r>
            <a:r>
              <a:rPr lang="en-US" altLang="zh-CN" sz="2000" dirty="0"/>
              <a:t>:____________</a:t>
            </a:r>
            <a:endParaRPr lang="en-US" altLang="zh-CN" sz="2000" dirty="0"/>
          </a:p>
        </p:txBody>
      </p:sp>
      <p:sp>
        <p:nvSpPr>
          <p:cNvPr id="4" name="TextBox 3"/>
          <p:cNvSpPr txBox="1"/>
          <p:nvPr/>
        </p:nvSpPr>
        <p:spPr>
          <a:xfrm>
            <a:off x="513940" y="1419622"/>
            <a:ext cx="2592288" cy="27238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b="1" dirty="0">
                <a:latin typeface="仿宋" panose="02010609060101010101" pitchFamily="49" charset="-122"/>
                <a:ea typeface="仿宋" panose="02010609060101010101" pitchFamily="49" charset="-122"/>
              </a:rPr>
              <a:t>、选择题</a:t>
            </a:r>
            <a:endParaRPr lang="en-US" altLang="zh-CN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b="1" dirty="0">
                <a:latin typeface="仿宋" panose="02010609060101010101" pitchFamily="49" charset="-122"/>
                <a:ea typeface="仿宋" panose="02010609060101010101" pitchFamily="49" charset="-122"/>
              </a:rPr>
              <a:t>下列计算机的设备中，属于存储设备的是（）</a:t>
            </a: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。</a:t>
            </a:r>
            <a:endParaRPr lang="en-US" altLang="zh-CN" sz="16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键盘</a:t>
            </a:r>
            <a:endParaRPr lang="en-US" altLang="zh-CN" sz="16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en-US" altLang="zh-CN" sz="1600" dirty="0">
                <a:latin typeface="仿宋" panose="02010609060101010101" pitchFamily="49" charset="-122"/>
                <a:ea typeface="仿宋" panose="02010609060101010101" pitchFamily="49" charset="-122"/>
              </a:rPr>
              <a:t>RAM</a:t>
            </a:r>
            <a:endParaRPr lang="en-US" altLang="zh-CN" sz="16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显示器</a:t>
            </a:r>
            <a:endParaRPr lang="en-US" altLang="zh-CN" sz="16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en-US" altLang="zh-CN" sz="1600" dirty="0">
                <a:latin typeface="仿宋" panose="02010609060101010101" pitchFamily="49" charset="-122"/>
                <a:ea typeface="仿宋" panose="02010609060101010101" pitchFamily="49" charset="-122"/>
              </a:rPr>
              <a:t>CPU</a:t>
            </a:r>
            <a:endParaRPr lang="zh-CN" altLang="en-US" sz="16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657726" y="1686254"/>
            <a:ext cx="1800200" cy="147732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      i          sum</a:t>
            </a:r>
            <a:endParaRPr lang="en-US" altLang="zh-CN" dirty="0"/>
          </a:p>
          <a:p>
            <a:r>
              <a:rPr lang="en-US" altLang="zh-CN" dirty="0"/>
              <a:t>----------------------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3302307" y="999210"/>
            <a:ext cx="4845236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/>
              <a:t>#include &lt;</a:t>
            </a:r>
            <a:r>
              <a:rPr lang="en-US" altLang="zh-CN" sz="1600" dirty="0" err="1"/>
              <a:t>iostream</a:t>
            </a:r>
            <a:r>
              <a:rPr lang="en-US" altLang="zh-CN" sz="1600" dirty="0"/>
              <a:t>&gt;</a:t>
            </a:r>
            <a:endParaRPr lang="en-US" altLang="zh-CN" sz="1600" dirty="0"/>
          </a:p>
          <a:p>
            <a:r>
              <a:rPr lang="en-US" altLang="zh-CN" sz="1600" dirty="0"/>
              <a:t>using namespace </a:t>
            </a:r>
            <a:r>
              <a:rPr lang="en-US" altLang="zh-CN" sz="1600" dirty="0" err="1"/>
              <a:t>std</a:t>
            </a:r>
            <a:r>
              <a:rPr lang="en-US" altLang="zh-CN" sz="1600" dirty="0"/>
              <a:t>;</a:t>
            </a:r>
            <a:endParaRPr lang="en-US" altLang="zh-CN" sz="1600" dirty="0"/>
          </a:p>
          <a:p>
            <a:r>
              <a:rPr lang="en-US" altLang="zh-CN" sz="1600" dirty="0" err="1"/>
              <a:t>int</a:t>
            </a:r>
            <a:r>
              <a:rPr lang="en-US" altLang="zh-CN" sz="1600" dirty="0"/>
              <a:t> main()</a:t>
            </a:r>
            <a:endParaRPr lang="en-US" altLang="zh-CN" sz="1600" dirty="0"/>
          </a:p>
          <a:p>
            <a:r>
              <a:rPr lang="en-US" altLang="zh-CN" sz="1600" dirty="0"/>
              <a:t>{</a:t>
            </a:r>
            <a:endParaRPr lang="en-US" altLang="zh-CN" sz="1600" dirty="0"/>
          </a:p>
          <a:p>
            <a:r>
              <a:rPr lang="en-US" altLang="zh-CN" sz="1600" dirty="0"/>
              <a:t>      </a:t>
            </a:r>
            <a:r>
              <a:rPr lang="en-US" altLang="zh-CN" sz="1600" dirty="0" err="1"/>
              <a:t>int</a:t>
            </a:r>
            <a:r>
              <a:rPr lang="en-US" altLang="zh-CN" sz="1600" dirty="0"/>
              <a:t>  i=1,sum=0;</a:t>
            </a:r>
            <a:endParaRPr lang="en-US" altLang="zh-CN" sz="1600" dirty="0"/>
          </a:p>
          <a:p>
            <a:r>
              <a:rPr lang="en-US" altLang="zh-CN" sz="1600" dirty="0"/>
              <a:t>      sum+=i;</a:t>
            </a:r>
            <a:endParaRPr lang="en-US" altLang="zh-CN" sz="1600" dirty="0"/>
          </a:p>
          <a:p>
            <a:r>
              <a:rPr lang="en-US" altLang="zh-CN" sz="1600" dirty="0"/>
              <a:t>      i*=2;</a:t>
            </a:r>
            <a:endParaRPr lang="en-US" altLang="zh-CN" sz="1600" dirty="0"/>
          </a:p>
          <a:p>
            <a:r>
              <a:rPr lang="en-US" altLang="zh-CN" sz="1600" dirty="0"/>
              <a:t>      sum+=i;</a:t>
            </a:r>
            <a:endParaRPr lang="en-US" altLang="zh-CN" sz="1600" dirty="0"/>
          </a:p>
          <a:p>
            <a:r>
              <a:rPr lang="en-US" altLang="zh-CN" sz="1600" dirty="0"/>
              <a:t>      i*=2;</a:t>
            </a:r>
            <a:endParaRPr lang="en-US" altLang="zh-CN" sz="1600" dirty="0"/>
          </a:p>
          <a:p>
            <a:r>
              <a:rPr lang="en-US" altLang="zh-CN" sz="1600" dirty="0"/>
              <a:t>      sum+=i;</a:t>
            </a:r>
            <a:endParaRPr lang="en-US" altLang="zh-CN" sz="1600" dirty="0"/>
          </a:p>
          <a:p>
            <a:r>
              <a:rPr lang="en-US" altLang="zh-CN" sz="1600" dirty="0"/>
              <a:t>      i*=2;</a:t>
            </a:r>
            <a:endParaRPr lang="en-US" altLang="zh-CN" sz="1600" dirty="0"/>
          </a:p>
          <a:p>
            <a:r>
              <a:rPr lang="en-US" altLang="zh-CN" sz="1600" dirty="0"/>
              <a:t>      sum+=i;</a:t>
            </a:r>
            <a:endParaRPr lang="en-US" altLang="zh-CN" sz="1600" dirty="0"/>
          </a:p>
          <a:p>
            <a:r>
              <a:rPr lang="en-US" altLang="zh-CN" sz="1600" dirty="0"/>
              <a:t>      </a:t>
            </a:r>
            <a:r>
              <a:rPr lang="en-US" altLang="zh-CN" sz="1600" dirty="0" err="1"/>
              <a:t>cout</a:t>
            </a:r>
            <a:r>
              <a:rPr lang="en-US" altLang="zh-CN" sz="1600" dirty="0"/>
              <a:t>&lt;&lt;"i="&lt;&lt;i&lt;&lt;","&lt;&lt;"sum="&lt;&lt;sum&lt;&lt;</a:t>
            </a:r>
            <a:r>
              <a:rPr lang="en-US" altLang="zh-CN" sz="1600" dirty="0" err="1"/>
              <a:t>endl</a:t>
            </a:r>
            <a:r>
              <a:rPr lang="en-US" altLang="zh-CN" sz="1600" dirty="0"/>
              <a:t>;</a:t>
            </a:r>
            <a:endParaRPr lang="en-US" altLang="zh-CN" sz="1600" dirty="0"/>
          </a:p>
          <a:p>
            <a:r>
              <a:rPr lang="en-US" altLang="zh-CN" sz="1600" dirty="0"/>
              <a:t>      return 0;</a:t>
            </a:r>
            <a:endParaRPr lang="en-US" altLang="zh-CN" sz="1600" dirty="0"/>
          </a:p>
          <a:p>
            <a:r>
              <a:rPr lang="en-US" altLang="zh-CN" sz="1600" dirty="0"/>
              <a:t>}</a:t>
            </a:r>
            <a:endParaRPr lang="zh-CN" altLang="en-US" sz="16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3913" y="3312026"/>
            <a:ext cx="1161898" cy="12963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3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4" grpId="0"/>
      <p:bldP spid="10" grpId="0" animBg="1"/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10804" y="273732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618284"/>
            <a:ext cx="8229600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牛刀“小”试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6" name="内容占位符 2"/>
          <p:cNvSpPr txBox="1"/>
          <p:nvPr/>
        </p:nvSpPr>
        <p:spPr>
          <a:xfrm>
            <a:off x="467544" y="1282878"/>
            <a:ext cx="2952328" cy="33843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en-US" altLang="zh-CN" sz="1800" dirty="0"/>
              <a:t>3</a:t>
            </a:r>
            <a:r>
              <a:rPr lang="zh-CN" altLang="en-US" sz="1800" dirty="0"/>
              <a:t>、完善程序。</a:t>
            </a:r>
            <a:endParaRPr lang="en-US" altLang="zh-CN" sz="1800" dirty="0"/>
          </a:p>
          <a:p>
            <a:pPr marL="400050" lvl="1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zh-CN" altLang="en-US" sz="1600" dirty="0"/>
              <a:t>明明买来</a:t>
            </a:r>
            <a:r>
              <a:rPr lang="en-US" altLang="zh-CN" sz="1600" dirty="0"/>
              <a:t>30</a:t>
            </a:r>
            <a:r>
              <a:rPr lang="zh-CN" altLang="en-US" sz="1600" dirty="0"/>
              <a:t>根骨头，第一天吃掉一半后又吃了一根，第二天将剩下的骨头吃了一半后又吃了一根，第三天任然如此。问第三天吃完后还剩下多少根骨头？</a:t>
            </a:r>
            <a:endParaRPr lang="en-US" altLang="zh-CN" sz="1600" dirty="0"/>
          </a:p>
        </p:txBody>
      </p:sp>
      <p:sp>
        <p:nvSpPr>
          <p:cNvPr id="7" name="矩形 6"/>
          <p:cNvSpPr/>
          <p:nvPr/>
        </p:nvSpPr>
        <p:spPr>
          <a:xfrm>
            <a:off x="4067944" y="1498902"/>
            <a:ext cx="2952328" cy="280076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600" dirty="0"/>
              <a:t>#include &lt;</a:t>
            </a:r>
            <a:r>
              <a:rPr lang="en-US" altLang="zh-CN" sz="1600" dirty="0" err="1"/>
              <a:t>iostream</a:t>
            </a:r>
            <a:r>
              <a:rPr lang="en-US" altLang="zh-CN" sz="1600" dirty="0"/>
              <a:t>&gt;</a:t>
            </a:r>
            <a:endParaRPr lang="en-US" altLang="zh-CN" sz="1600" dirty="0"/>
          </a:p>
          <a:p>
            <a:r>
              <a:rPr lang="en-US" altLang="zh-CN" sz="1600" dirty="0"/>
              <a:t>using namespace </a:t>
            </a:r>
            <a:r>
              <a:rPr lang="en-US" altLang="zh-CN" sz="1600" dirty="0" err="1"/>
              <a:t>std</a:t>
            </a:r>
            <a:r>
              <a:rPr lang="en-US" altLang="zh-CN" sz="1600" dirty="0"/>
              <a:t>;</a:t>
            </a:r>
            <a:endParaRPr lang="en-US" altLang="zh-CN" sz="1600" dirty="0"/>
          </a:p>
          <a:p>
            <a:r>
              <a:rPr lang="en-US" altLang="zh-CN" sz="1600" dirty="0" err="1"/>
              <a:t>int</a:t>
            </a:r>
            <a:r>
              <a:rPr lang="en-US" altLang="zh-CN" sz="1600" dirty="0"/>
              <a:t> main()</a:t>
            </a:r>
            <a:endParaRPr lang="en-US" altLang="zh-CN" sz="1600" dirty="0"/>
          </a:p>
          <a:p>
            <a:r>
              <a:rPr lang="en-US" altLang="zh-CN" sz="1600" dirty="0"/>
              <a:t>{</a:t>
            </a:r>
            <a:endParaRPr lang="en-US" altLang="zh-CN" sz="1600" dirty="0"/>
          </a:p>
          <a:p>
            <a:r>
              <a:rPr lang="en-US" altLang="zh-CN" sz="1600" dirty="0"/>
              <a:t>      </a:t>
            </a:r>
            <a:r>
              <a:rPr lang="en-US" altLang="zh-CN" sz="1600" dirty="0" err="1"/>
              <a:t>int</a:t>
            </a:r>
            <a:r>
              <a:rPr lang="en-US" altLang="zh-CN" sz="1600" dirty="0"/>
              <a:t>  __________;</a:t>
            </a:r>
            <a:endParaRPr lang="en-US" altLang="zh-CN" sz="1600" dirty="0"/>
          </a:p>
          <a:p>
            <a:r>
              <a:rPr lang="en-US" altLang="zh-CN" sz="1600" dirty="0"/>
              <a:t>      n=n/2-1;</a:t>
            </a:r>
            <a:endParaRPr lang="en-US" altLang="zh-CN" sz="1600" dirty="0"/>
          </a:p>
          <a:p>
            <a:r>
              <a:rPr lang="en-US" altLang="zh-CN" sz="1600" dirty="0"/>
              <a:t>      n=n/2-1;</a:t>
            </a:r>
            <a:endParaRPr lang="en-US" altLang="zh-CN" sz="1600" dirty="0"/>
          </a:p>
          <a:p>
            <a:r>
              <a:rPr lang="en-US" altLang="zh-CN" sz="1600" dirty="0"/>
              <a:t>      _______________;</a:t>
            </a:r>
            <a:endParaRPr lang="en-US" altLang="zh-CN" sz="1600" dirty="0"/>
          </a:p>
          <a:p>
            <a:r>
              <a:rPr lang="en-US" altLang="zh-CN" sz="1600" dirty="0"/>
              <a:t>      </a:t>
            </a:r>
            <a:r>
              <a:rPr lang="en-US" altLang="zh-CN" sz="1600" dirty="0" err="1"/>
              <a:t>cout</a:t>
            </a:r>
            <a:r>
              <a:rPr lang="en-US" altLang="zh-CN" sz="1600" dirty="0"/>
              <a:t>&lt;&lt;n&lt;&lt;</a:t>
            </a:r>
            <a:r>
              <a:rPr lang="en-US" altLang="zh-CN" sz="1600" dirty="0" err="1"/>
              <a:t>endl</a:t>
            </a:r>
            <a:r>
              <a:rPr lang="en-US" altLang="zh-CN" sz="1600" dirty="0"/>
              <a:t>;</a:t>
            </a:r>
            <a:endParaRPr lang="en-US" altLang="zh-CN" sz="1600" dirty="0"/>
          </a:p>
          <a:p>
            <a:r>
              <a:rPr lang="en-US" altLang="zh-CN" sz="1600" dirty="0"/>
              <a:t>      return 0;</a:t>
            </a:r>
            <a:endParaRPr lang="en-US" altLang="zh-CN" sz="1600" dirty="0"/>
          </a:p>
          <a:p>
            <a:r>
              <a:rPr lang="en-US" altLang="zh-CN" sz="1600" dirty="0"/>
              <a:t>}</a:t>
            </a:r>
            <a:endParaRPr lang="zh-CN" altLang="en-US" sz="16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9446" y="3535495"/>
            <a:ext cx="1068710" cy="10687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0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/>
          <p:cNvSpPr/>
          <p:nvPr/>
        </p:nvSpPr>
        <p:spPr>
          <a:xfrm>
            <a:off x="4067943" y="313756"/>
            <a:ext cx="4012253" cy="2458678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4"/>
          <p:cNvSpPr txBox="1">
            <a:spLocks noGrp="1"/>
          </p:cNvSpPr>
          <p:nvPr>
            <p:ph type="title"/>
          </p:nvPr>
        </p:nvSpPr>
        <p:spPr>
          <a:xfrm>
            <a:off x="4283968" y="915566"/>
            <a:ext cx="4012253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dirty="0" err="1">
                <a:solidFill>
                  <a:srgbClr val="00B0F0"/>
                </a:solidFill>
              </a:rPr>
              <a:t>下课</a:t>
            </a:r>
            <a:r>
              <a:rPr lang="zh-CN" altLang="en-US" sz="7200" dirty="0">
                <a:solidFill>
                  <a:srgbClr val="00B0F0"/>
                </a:solidFill>
              </a:rPr>
              <a:t>啦</a:t>
            </a:r>
            <a:r>
              <a:rPr sz="7200" dirty="0">
                <a:solidFill>
                  <a:srgbClr val="00B0F0"/>
                </a:solidFill>
              </a:rPr>
              <a:t>！</a:t>
            </a:r>
            <a:endParaRPr sz="7200" dirty="0">
              <a:solidFill>
                <a:srgbClr val="00B0F0"/>
              </a:solidFill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524" y="1744580"/>
            <a:ext cx="3697191" cy="340428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1472</Words>
  <Application>WPS 演示</Application>
  <PresentationFormat>全屏显示(16:9)</PresentationFormat>
  <Paragraphs>141</Paragraphs>
  <Slides>9</Slides>
  <Notes>0</Notes>
  <HiddenSlides>1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1" baseType="lpstr">
      <vt:lpstr>Arial</vt:lpstr>
      <vt:lpstr>宋体</vt:lpstr>
      <vt:lpstr>Wingdings</vt:lpstr>
      <vt:lpstr>黑体</vt:lpstr>
      <vt:lpstr>仿宋</vt:lpstr>
      <vt:lpstr>微软雅黑</vt:lpstr>
      <vt:lpstr>楷体</vt:lpstr>
      <vt:lpstr>Times New Roman</vt:lpstr>
      <vt:lpstr>Consolas</vt:lpstr>
      <vt:lpstr>Calibri</vt:lpstr>
      <vt:lpstr>Arial Unicode MS</vt:lpstr>
      <vt:lpstr>Office 主题</vt:lpstr>
      <vt:lpstr>PowerPoint 演示文稿</vt:lpstr>
      <vt:lpstr>细胞分裂 ——复合运算符</vt:lpstr>
      <vt:lpstr>PowerPoint 演示文稿</vt:lpstr>
      <vt:lpstr>PowerPoint 演示文稿</vt:lpstr>
      <vt:lpstr>PowerPoint 演示文稿</vt:lpstr>
      <vt:lpstr>编程小词典</vt:lpstr>
      <vt:lpstr>牛刀“小”试</vt:lpstr>
      <vt:lpstr>牛刀“小”试</vt:lpstr>
      <vt:lpstr>下课啦！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叮咚</cp:lastModifiedBy>
  <cp:revision>70</cp:revision>
  <dcterms:created xsi:type="dcterms:W3CDTF">2018-07-03T13:24:00Z</dcterms:created>
  <dcterms:modified xsi:type="dcterms:W3CDTF">2021-04-12T07:06:01Z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2052-11.1.0.10314</vt:lpwstr>
  </property>
</Properties>
</file>