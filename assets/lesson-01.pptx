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9" r:id="rId3"/>
    <p:sldId id="258" r:id="rId4"/>
    <p:sldId id="259" r:id="rId5"/>
    <p:sldId id="260" r:id="rId6"/>
    <p:sldId id="261" r:id="rId7"/>
    <p:sldId id="262" r:id="rId8"/>
    <p:sldId id="264" r:id="rId10"/>
    <p:sldId id="263" r:id="rId11"/>
    <p:sldId id="265" r:id="rId12"/>
    <p:sldId id="266" r:id="rId13"/>
    <p:sldId id="267" r:id="rId14"/>
    <p:sldId id="268" r:id="rId15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4FC7E-420C-43A7-94CD-CF15615A96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774A60-5E12-4723-A9CF-7FD08BEFCCE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774A60-5E12-4723-A9CF-7FD08BEFCCE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27940"/>
            <a:ext cx="9144635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tags" Target="../tags/tag2.xml"/><Relationship Id="rId2" Type="http://schemas.openxmlformats.org/officeDocument/2006/relationships/image" Target="../media/image12.jpeg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让我们愉快的开始吧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Rectangle 16"/>
          <p:cNvSpPr>
            <a:spLocks noChangeArrowheads="1"/>
          </p:cNvSpPr>
          <p:nvPr/>
        </p:nvSpPr>
        <p:spPr bwMode="auto">
          <a:xfrm>
            <a:off x="1259632" y="1635646"/>
            <a:ext cx="488222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为什么要学</a:t>
            </a:r>
            <a:r>
              <a:rPr lang="zh-CN" altLang="en-US" sz="9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</a:t>
            </a:r>
            <a:r>
              <a:rPr lang="en-US" altLang="zh-CN" sz="8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?</a:t>
            </a:r>
            <a:endParaRPr lang="zh-CN" altLang="en-US" sz="9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object 3"/>
          <p:cNvSpPr/>
          <p:nvPr/>
        </p:nvSpPr>
        <p:spPr>
          <a:xfrm>
            <a:off x="107504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7246507" y="3006245"/>
            <a:ext cx="168592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2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308634" y="1088686"/>
            <a:ext cx="3886131" cy="5847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每个人都应该学习编程，因为它叫你如何思考。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68240" y="2295108"/>
            <a:ext cx="4557242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1"/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不要只是追求新的游戏，自己做一个；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不要只是下载最新的应用程序，试着设计它；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/>
            <a:r>
              <a:rPr lang="zh-CN" altLang="zh-CN" sz="1600" dirty="0">
                <a:latin typeface="仿宋" panose="02010609060101010101" pitchFamily="49" charset="-122"/>
                <a:ea typeface="仿宋" panose="02010609060101010101" pitchFamily="49" charset="-122"/>
              </a:rPr>
              <a:t>不要只是玩手机，去编写它的代码。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9054" y="762070"/>
            <a:ext cx="1410100" cy="162276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65" y="1390679"/>
            <a:ext cx="2339752" cy="172088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TextBox 8"/>
          <p:cNvSpPr txBox="1"/>
          <p:nvPr/>
        </p:nvSpPr>
        <p:spPr>
          <a:xfrm>
            <a:off x="1531587" y="3820281"/>
            <a:ext cx="5493812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学习编程可以锻炼你的思维，帮助你更好地思考，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创建一种我认为在各个领域都非常好用的思维方式。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8991" y="2963562"/>
            <a:ext cx="1637928" cy="16379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9552" y="797331"/>
            <a:ext cx="7293496" cy="1217290"/>
          </a:xfrm>
        </p:spPr>
        <p:txBody>
          <a:bodyPr>
            <a:normAutofit fontScale="90000"/>
          </a:bodyPr>
          <a:lstStyle/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当你学会编程，</a:t>
            </a:r>
            <a:br>
              <a:rPr lang="en-US" altLang="zh-CN" b="1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</a:br>
            <a:r>
              <a:rPr lang="zh-CN" altLang="en-US" b="1" dirty="0">
                <a:solidFill>
                  <a:srgbClr val="00B0F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你会开始思考世界上的一切过程。</a:t>
            </a:r>
            <a:endParaRPr lang="zh-CN" altLang="en-US" b="1" dirty="0">
              <a:solidFill>
                <a:srgbClr val="00B0F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-324544" y="2166824"/>
            <a:ext cx="7128792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sz="3200" dirty="0">
                <a:solidFill>
                  <a:srgbClr val="00B0F0"/>
                </a:solidFill>
              </a:rPr>
              <a:t>学会用计算机思维解决问题！</a:t>
            </a:r>
            <a:endParaRPr lang="zh-CN" altLang="en-US" sz="3200" dirty="0">
              <a:solidFill>
                <a:srgbClr val="00B0F0"/>
              </a:solidFill>
            </a:endParaRPr>
          </a:p>
        </p:txBody>
      </p:sp>
      <p:sp>
        <p:nvSpPr>
          <p:cNvPr id="8" name="内容占位符 3"/>
          <p:cNvSpPr txBox="1"/>
          <p:nvPr/>
        </p:nvSpPr>
        <p:spPr>
          <a:xfrm>
            <a:off x="2627784" y="3425576"/>
            <a:ext cx="7128792" cy="8640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zh-CN" altLang="en-US" sz="3200" dirty="0">
                <a:solidFill>
                  <a:srgbClr val="00B0F0"/>
                </a:solidFill>
              </a:rPr>
              <a:t>学习</a:t>
            </a:r>
            <a:r>
              <a:rPr lang="en-US" altLang="zh-CN" sz="3200" dirty="0">
                <a:solidFill>
                  <a:srgbClr val="00B0F0"/>
                </a:solidFill>
              </a:rPr>
              <a:t>C++</a:t>
            </a:r>
            <a:r>
              <a:rPr lang="zh-CN" altLang="en-US" sz="3200" dirty="0">
                <a:solidFill>
                  <a:srgbClr val="00B0F0"/>
                </a:solidFill>
              </a:rPr>
              <a:t>语言有什么用？</a:t>
            </a:r>
            <a:endParaRPr lang="zh-CN" altLang="en-US" sz="3200" dirty="0">
              <a:solidFill>
                <a:srgbClr val="00B0F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2808248"/>
            <a:ext cx="1763266" cy="17632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611560" y="980646"/>
            <a:ext cx="8320872" cy="352839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>
                <a:solidFill>
                  <a:srgbClr val="00B0F0"/>
                </a:solidFill>
              </a:rPr>
              <a:t>NOI</a:t>
            </a:r>
            <a:r>
              <a:rPr lang="zh-CN" altLang="en-US" sz="3200" dirty="0">
                <a:solidFill>
                  <a:srgbClr val="00B0F0"/>
                </a:solidFill>
              </a:rPr>
              <a:t>：全国青少年信息学奥林匹克竞赛</a:t>
            </a:r>
            <a:endParaRPr lang="en-US" altLang="zh-CN" sz="3200" dirty="0">
              <a:solidFill>
                <a:srgbClr val="00B0F0"/>
              </a:solidFill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zh-CN" sz="3200" dirty="0">
                <a:solidFill>
                  <a:srgbClr val="00B0F0"/>
                </a:solidFill>
              </a:rPr>
              <a:t>NOIP</a:t>
            </a:r>
            <a:r>
              <a:rPr lang="zh-CN" altLang="en-US" sz="3200" dirty="0">
                <a:solidFill>
                  <a:srgbClr val="00B0F0"/>
                </a:solidFill>
              </a:rPr>
              <a:t>：全国青少年信息学奥林匹克联赛</a:t>
            </a:r>
            <a:endParaRPr lang="zh-CN" altLang="en-US" sz="3200" dirty="0">
              <a:solidFill>
                <a:srgbClr val="00B0F0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269" y="2946038"/>
            <a:ext cx="1738511" cy="17170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518" y="469979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</a:rPr>
              <a:t>你不是一个人在战斗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23728" y="1176303"/>
            <a:ext cx="6264696" cy="132207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可可老师</a:t>
            </a:r>
            <a:endParaRPr lang="en-US" altLang="zh-CN" sz="16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实验小学的信息老师，幽默，充满智慧，上课生动有趣，深受孩子们喜爱。精通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C++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Python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Java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Pascal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C#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en-US" altLang="zh-CN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Scratch</a:t>
            </a:r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等多种计算机语言，擅长枚举、回溯、递归、分治、搜索、动态规划等多种算法。</a:t>
            </a:r>
            <a:endParaRPr lang="en-US" altLang="zh-CN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675508" y="2748865"/>
            <a:ext cx="3488780" cy="8299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/>
            <a:r>
              <a:rPr lang="zh-CN" sz="16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美美</a:t>
            </a:r>
            <a:endParaRPr lang="zh-CN" sz="16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r"/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实验小学五年级学生，可爱的美少女，乐于助人，特别擅长递归算法。</a:t>
            </a:r>
            <a:endParaRPr lang="zh-CN" altLang="en-US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 descr="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5150" y="1176020"/>
            <a:ext cx="1437126" cy="1440000"/>
          </a:xfrm>
          <a:prstGeom prst="rect">
            <a:avLst/>
          </a:prstGeom>
        </p:spPr>
      </p:pic>
      <p:pic>
        <p:nvPicPr>
          <p:cNvPr id="8" name="图片 7" descr="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clrChange>
              <a:clrFrom>
                <a:srgbClr val="F6F6F6">
                  <a:alpha val="100000"/>
                </a:srgbClr>
              </a:clrFrom>
              <a:clrTo>
                <a:srgbClr val="F6F6F6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5150" y="3323590"/>
            <a:ext cx="1440000" cy="1440000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2123440" y="3776345"/>
            <a:ext cx="3178175" cy="8299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p>
            <a:pPr algn="l"/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明明</a:t>
            </a:r>
            <a:endParaRPr lang="zh-CN" altLang="en-US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l"/>
            <a:r>
              <a:rPr lang="zh-CN" altLang="en-US" sz="16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实验小学四年级学生，阳光少年，带动脑筋，特别擅长枚举算法。</a:t>
            </a:r>
            <a:endParaRPr lang="zh-CN" altLang="en-US" sz="16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3" name="图片 12" descr="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560" y="2616200"/>
            <a:ext cx="1018388" cy="144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ldLvl="0" animBg="1"/>
      <p:bldP spid="6" grpId="0" bldLvl="0" animBg="1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518" y="748839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参考学习教材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4098" name="Picture 2" descr="C:\Users\Administrator\Desktop\TB1vjX7kCYH8KJjSspdXXcRgVXa_!!0-item_pic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93" y="1772816"/>
            <a:ext cx="2928799" cy="2928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206492" y="1642751"/>
            <a:ext cx="353173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本课程选用的教材：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小学生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C++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趣味编程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》(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上下册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清华大学出版社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注：教材需自购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8934" y="2352827"/>
            <a:ext cx="1745131" cy="163844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837490" y="3993453"/>
            <a:ext cx="2094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找老师帮你买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也是可以的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/>
          <p:cNvSpPr/>
          <p:nvPr/>
        </p:nvSpPr>
        <p:spPr>
          <a:xfrm>
            <a:off x="35749" y="313167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79259" y="35677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518" y="490082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奖励制度</a:t>
            </a:r>
            <a:r>
              <a:rPr lang="en-US" altLang="zh-CN" dirty="0">
                <a:solidFill>
                  <a:srgbClr val="00B0F0"/>
                </a:solidFill>
              </a:rPr>
              <a:t>—</a:t>
            </a:r>
            <a:r>
              <a:rPr lang="zh-CN" altLang="en-US" dirty="0">
                <a:solidFill>
                  <a:srgbClr val="00B0F0"/>
                </a:solidFill>
              </a:rPr>
              <a:t>艾普币</a:t>
            </a:r>
            <a:endParaRPr lang="zh-CN" altLang="en-US" dirty="0">
              <a:solidFill>
                <a:srgbClr val="00B0F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3516" y="1083836"/>
            <a:ext cx="2424073" cy="35444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924" y="1430335"/>
            <a:ext cx="4738614" cy="18724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7725" y="3397829"/>
            <a:ext cx="1349006" cy="1116183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5436096" y="3867893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我想要</a:t>
            </a:r>
            <a:endParaRPr lang="en-US" altLang="zh-CN" b="1" dirty="0"/>
          </a:p>
          <a:p>
            <a:r>
              <a:rPr lang="zh-CN" altLang="en-US" b="1" dirty="0"/>
              <a:t>一个艾普币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88" y="699542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工欲善其事，必先利其器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3388" y="1628330"/>
            <a:ext cx="8229600" cy="339447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err="1"/>
              <a:t>Dev</a:t>
            </a:r>
            <a:r>
              <a:rPr lang="en-US" altLang="zh-CN" dirty="0"/>
              <a:t>-C++</a:t>
            </a:r>
            <a:r>
              <a:rPr lang="zh-CN" altLang="en-US" dirty="0"/>
              <a:t>：是我们编写、编译和运行</a:t>
            </a:r>
            <a:r>
              <a:rPr lang="en-US" altLang="zh-CN" dirty="0"/>
              <a:t>C++</a:t>
            </a:r>
            <a:r>
              <a:rPr lang="zh-CN" altLang="en-US" dirty="0"/>
              <a:t>程序的软件，也叫作集成开发环境</a:t>
            </a:r>
            <a:r>
              <a:rPr lang="en-US" altLang="zh-CN" dirty="0"/>
              <a:t>(IDE)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 err="1"/>
              <a:t>Dev</a:t>
            </a:r>
            <a:r>
              <a:rPr lang="en-US" altLang="zh-CN" dirty="0"/>
              <a:t>-C++</a:t>
            </a:r>
            <a:r>
              <a:rPr lang="zh-CN" altLang="en-US" dirty="0"/>
              <a:t>：是</a:t>
            </a:r>
            <a:r>
              <a:rPr lang="en-US" altLang="zh-CN" dirty="0"/>
              <a:t>NOIP</a:t>
            </a:r>
            <a:r>
              <a:rPr lang="zh-CN" altLang="en-US" dirty="0"/>
              <a:t>竞赛规定使用的开发环境。</a:t>
            </a:r>
            <a:endParaRPr lang="en-US" altLang="zh-CN" dirty="0"/>
          </a:p>
          <a:p>
            <a:pPr marL="0" indent="0">
              <a:lnSpc>
                <a:spcPct val="150000"/>
              </a:lnSpc>
              <a:buNone/>
            </a:pP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52" y="3452862"/>
            <a:ext cx="1148568" cy="11941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5168" y="600186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工欲善其事，必先利其器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37518"/>
            <a:ext cx="8229600" cy="339447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下载</a:t>
            </a:r>
            <a:r>
              <a:rPr lang="en-US" altLang="zh-CN" sz="2000" dirty="0" err="1">
                <a:solidFill>
                  <a:srgbClr val="C00000"/>
                </a:solidFill>
              </a:rPr>
              <a:t>Dev</a:t>
            </a:r>
            <a:r>
              <a:rPr lang="en-US" altLang="zh-CN" sz="2000" dirty="0">
                <a:solidFill>
                  <a:srgbClr val="C00000"/>
                </a:solidFill>
              </a:rPr>
              <a:t>-C++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上网搜索“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Dev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-C++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”，下载最新版本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Dev-Cpp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5.11 TDM-GCC 4.9.2 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购课后联系老师，发送下载链接。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C00000"/>
                </a:solidFill>
              </a:rPr>
              <a:t>安装</a:t>
            </a:r>
            <a:r>
              <a:rPr lang="en-US" altLang="zh-CN" sz="2000" dirty="0" err="1">
                <a:solidFill>
                  <a:srgbClr val="C00000"/>
                </a:solidFill>
              </a:rPr>
              <a:t>Dev</a:t>
            </a:r>
            <a:r>
              <a:rPr lang="en-US" altLang="zh-CN" sz="2000" dirty="0">
                <a:solidFill>
                  <a:srgbClr val="C00000"/>
                </a:solidFill>
              </a:rPr>
              <a:t>-C++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找到下载的安装文件，双击这个文件，按照默认选项安装就可以了。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安装成功后，桌面上出现</a:t>
            </a:r>
            <a:r>
              <a:rPr lang="en-US" altLang="zh-CN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Dev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-C++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的图标。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795886"/>
            <a:ext cx="723900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627534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牛刀“大”试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19672" y="1995686"/>
            <a:ext cx="5544616" cy="648072"/>
          </a:xfrm>
        </p:spPr>
        <p:txBody>
          <a:bodyPr/>
          <a:lstStyle/>
          <a:p>
            <a:r>
              <a:rPr lang="zh-CN" altLang="en-US" dirty="0"/>
              <a:t>下载并安装</a:t>
            </a:r>
            <a:r>
              <a:rPr lang="en-US" altLang="zh-CN" dirty="0" err="1"/>
              <a:t>Dev</a:t>
            </a:r>
            <a:r>
              <a:rPr lang="en-US" altLang="zh-CN" dirty="0"/>
              <a:t>-C++</a:t>
            </a:r>
            <a:r>
              <a:rPr lang="zh-CN" altLang="en-US" dirty="0"/>
              <a:t>到自己的电脑上。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843808" y="4130370"/>
            <a:ext cx="3558988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注：可以寻求家长或老师的帮助</a:t>
            </a:r>
            <a:endParaRPr lang="zh-CN" altLang="en-US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829" y="2776112"/>
            <a:ext cx="1759566" cy="17595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267.7165222167969,&quot;width&quot;:2263.1901550292969}"/>
</p:tagLst>
</file>

<file path=ppt/tags/tag2.xml><?xml version="1.0" encoding="utf-8"?>
<p:tagLst xmlns:p="http://schemas.openxmlformats.org/presentationml/2006/main">
  <p:tag name="KSO_WM_UNIT_PLACING_PICTURE_USER_VIEWPORT" val="{&quot;height&quot;:10000,&quot;width&quot;:1000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WPS 演示</Application>
  <PresentationFormat>全屏显示(16:9)</PresentationFormat>
  <Paragraphs>74</Paragraphs>
  <Slides>12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华文中宋</vt:lpstr>
      <vt:lpstr>Calibri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当你学会编程， 你会开始思考世界上的一切过程。</vt:lpstr>
      <vt:lpstr>PowerPoint 演示文稿</vt:lpstr>
      <vt:lpstr>你不是一个人在战斗</vt:lpstr>
      <vt:lpstr>参考学习教材</vt:lpstr>
      <vt:lpstr>奖励制度—艾普币</vt:lpstr>
      <vt:lpstr>工欲善其事，必先利其器</vt:lpstr>
      <vt:lpstr>工欲善其事，必先利其器</vt:lpstr>
      <vt:lpstr>牛刀“大”试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108</cp:revision>
  <dcterms:created xsi:type="dcterms:W3CDTF">2018-07-03T13:24:00Z</dcterms:created>
  <dcterms:modified xsi:type="dcterms:W3CDTF">2021-04-12T07:13:56Z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